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694" r:id="rId3"/>
    <p:sldId id="692" r:id="rId4"/>
    <p:sldId id="668" r:id="rId5"/>
    <p:sldId id="672" r:id="rId6"/>
    <p:sldId id="673" r:id="rId7"/>
    <p:sldId id="674" r:id="rId8"/>
    <p:sldId id="675" r:id="rId9"/>
    <p:sldId id="676" r:id="rId10"/>
    <p:sldId id="677" r:id="rId11"/>
    <p:sldId id="678" r:id="rId12"/>
    <p:sldId id="679" r:id="rId13"/>
    <p:sldId id="680" r:id="rId14"/>
    <p:sldId id="681" r:id="rId15"/>
    <p:sldId id="682" r:id="rId16"/>
    <p:sldId id="685" r:id="rId17"/>
    <p:sldId id="686" r:id="rId18"/>
    <p:sldId id="687" r:id="rId19"/>
    <p:sldId id="688" r:id="rId20"/>
    <p:sldId id="690" r:id="rId21"/>
    <p:sldId id="691" r:id="rId22"/>
    <p:sldId id="69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6" autoAdjust="0"/>
    <p:restoredTop sz="94641" autoAdjust="0"/>
  </p:normalViewPr>
  <p:slideViewPr>
    <p:cSldViewPr snapToGrid="0">
      <p:cViewPr varScale="1">
        <p:scale>
          <a:sx n="77" d="100"/>
          <a:sy n="77" d="100"/>
        </p:scale>
        <p:origin x="302" y="62"/>
      </p:cViewPr>
      <p:guideLst>
        <p:guide orient="horz" pos="8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C0CE3-64C2-8BE4-F529-68FA24F1C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A8F09-2173-DB5B-9AC9-88D1BC830C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AAA3C-0D47-4815-B047-FF090E9739A4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3F634-5CA8-9230-69BA-CEEDCEF82E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E76C5-64AA-C05F-D72A-6D5DB21302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DB3F2-10F9-4E3C-8D35-B39AAD116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0045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21722-3FAF-42AD-B449-C84EF407100E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D5608-69BC-4A3A-A24C-10871E1E1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7882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FFED-36D7-43B2-F888-9EABB5DED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6D8D7-69F6-2189-E687-C59CE438F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9F7BE-2E75-77AB-D65F-4950040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2CA84-D347-4BAF-97F3-11DEC6C01C52}" type="datetime1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F6083-A183-26B6-370D-B11C32BA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29B87-89A4-BEC0-CA38-DEB8CC6BA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113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1E1E-F06E-A7AA-BCFA-D7A1235A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5E01B-9010-4A28-75BF-BEBC017D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2D907-7E0F-78EE-C3BB-1112EB6C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A3A9-4A49-413A-A80D-084EB205B96C}" type="datetime1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83002-D866-0E39-AE6D-5E2F88D0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0640E-A427-61CF-ACC6-0F966EE4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10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03C0-997D-2811-523A-68EA8BA9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FE6D8-AD5C-85DE-6EF3-4908CCEA3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35809-DD79-9B47-25BA-93E963DE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9D9E-0D13-4E16-BD68-1DBB35BA5E88}" type="datetime1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8DD06-AA4D-9ED2-2DA4-5CCFEF57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44DC2-2DC6-8103-9593-03AC7922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24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64AF0-F1DA-E600-1F3D-5CAE8D538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F6802-7FA9-40C6-A738-3C4A09E3B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AD067-9DD0-3B89-CF9C-32D1092C3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AF70E-CF9B-67E5-D5F1-E3EACAA35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18679-1E3D-49AE-AFB6-AE56D52B92D8}" type="datetime1">
              <a:rPr lang="en-IN" smtClean="0"/>
              <a:t>15-11-2024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787F8-A13B-62EB-F956-0127918C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D254B-F6B3-81D0-8E47-43D336C5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49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6BB3-C3CD-9344-D40C-91D1B13B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D280C-7763-6258-8323-496778AEB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B3309-2F1B-ADDA-34E8-AD2D30CD7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36486-85AA-3681-084C-692C3F4F0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9680C-E779-17D2-60FF-29FB6DB4F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F234B5-31F1-46AE-18C1-2EB08614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FC5D-BD83-495D-A262-D365429151FD}" type="datetime1">
              <a:rPr lang="en-IN" smtClean="0"/>
              <a:t>15-11-2024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CED9A-5A97-F55C-5156-86BEAB6D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1C6B2-A937-B892-F407-63F6CBAB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51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1EE3D-95BE-BDE2-4375-E9FCE599B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E05EBC-3FCC-87FC-B49C-8C359718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4A5-D437-4D36-B258-FEC4582DD98B}" type="datetime1">
              <a:rPr lang="en-IN" smtClean="0"/>
              <a:t>15-11-2024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E593F-302D-D4FD-1007-44558FC0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86216-5107-88DF-5C7A-6A76D82B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C7759D-C61F-7990-D517-A4BDF285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7B17-AEE6-4A7D-9A3D-A09392F485D4}" type="datetime1">
              <a:rPr lang="en-IN" smtClean="0"/>
              <a:t>15-11-2024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9D4AA-7EBA-3832-421F-5A147424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C5293-7D86-D7BC-DE0A-4659F262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02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3D98-6C16-E9BA-5E19-301BC189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30364-5E1A-9B39-3069-77829F533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86B81-E291-141C-6521-82FEF6002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884E5-59A8-DE53-75D9-42322A55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6D81C-2B35-4C28-923D-F05C6688615C}" type="datetime1">
              <a:rPr lang="en-IN" smtClean="0"/>
              <a:t>15-11-2024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6CBD6-6A54-A9AB-F164-2F173D90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35D2E-548B-32B6-EBD8-6B7D85DA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73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0479-EA5C-320D-F829-764A2E2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D4E253-F503-BF9E-F205-FFED791D7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D9114-88BC-744F-6A24-4C939C6A9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78E0A-F634-D52C-AE73-64020501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9A61-A63B-4143-92AB-879CC31FC8ED}" type="datetime1">
              <a:rPr lang="en-IN" smtClean="0"/>
              <a:t>15-11-2024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88671-8B07-4CD1-F42A-E3CAEEBE3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BE829-1E77-F739-86C5-ACFF9EBA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1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84DF-F862-841D-A52F-72AEA894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76B6B-FBE1-895C-91B0-67BE8BAA4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79D52-B4A2-46EE-7E70-2677FF4C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1202-0DBA-4B4C-908F-06724AE6692E}" type="datetime1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E4A1A-140E-794E-99F6-D87E02B19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68B75-8717-D169-3BC4-30ADA82B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22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C44AC-DE64-58B8-4BB4-30BCA67B3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C749C-F4EF-4973-8E51-41A59D162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6724-209B-7DF2-92FB-1A941B29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9B281-E007-44FF-97DA-DE060F3B3F9F}" type="datetime1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7517B-C853-8AA5-026D-3FE58496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3087A-B328-CC17-20DF-D52B33FD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80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428427-087B-192A-4412-417CF470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65A91-73F4-933C-A11B-2933EE5E2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9BD1B-1900-D153-8D49-C53D79ACF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33891-03AF-4560-8B10-77BCB7FDFEA3}" type="datetime1">
              <a:rPr lang="en-IN" smtClean="0"/>
              <a:t>15-11-2024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0E8CE-D1E7-414D-849C-5281FE841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80EF1-60FF-CCFB-9CC4-C7F81BED5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47CA1-BCEC-4DD4-9B23-E2AE1AEA2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33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IN" sz="5200">
                <a:solidFill>
                  <a:schemeClr val="tx2"/>
                </a:solidFill>
              </a:rPr>
              <a:t>MISRA C -2012</a:t>
            </a:r>
            <a:endParaRPr lang="en-IN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F5FAF-ED27-3EA8-9DBE-1A550957A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IN" sz="1500" dirty="0">
                <a:solidFill>
                  <a:schemeClr val="tx2"/>
                </a:solidFill>
              </a:rPr>
              <a:t>Prepared by –Chiranjit Adhikary</a:t>
            </a:r>
          </a:p>
          <a:p>
            <a:r>
              <a:rPr lang="en-IN" sz="1500" dirty="0">
                <a:solidFill>
                  <a:schemeClr val="tx2"/>
                </a:solidFill>
              </a:rPr>
              <a:t>Software Design Engineer  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DD979-E106-FED1-90BD-A467B519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44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DD979-E106-FED1-90BD-A467B519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CCF21B-594D-27CE-50DB-E524D7F9C638}"/>
              </a:ext>
            </a:extLst>
          </p:cNvPr>
          <p:cNvSpPr txBox="1"/>
          <p:nvPr/>
        </p:nvSpPr>
        <p:spPr>
          <a:xfrm>
            <a:off x="4106918" y="2420088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Session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A8A6A6-E4B6-53B3-0667-78A3F4B49719}"/>
              </a:ext>
            </a:extLst>
          </p:cNvPr>
          <p:cNvSpPr txBox="1"/>
          <p:nvPr/>
        </p:nvSpPr>
        <p:spPr>
          <a:xfrm>
            <a:off x="5127295" y="3429000"/>
            <a:ext cx="2179528" cy="3606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Rules( 39-53)</a:t>
            </a:r>
          </a:p>
        </p:txBody>
      </p:sp>
    </p:spTree>
    <p:extLst>
      <p:ext uri="{BB962C8B-B14F-4D97-AF65-F5344CB8AC3E}">
        <p14:creationId xmlns:p14="http://schemas.microsoft.com/office/powerpoint/2010/main" val="164131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Misra2012:Rule-8.9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955" y="1292036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object should be defined at block scope if its identifier only appears in a single function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72" y="1653417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System   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833227" y="2662839"/>
            <a:ext cx="97294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compliant example,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declared at block scope because it is a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counter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There is no need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other functions in the same file to use the same object for any other purpose.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void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int32_t </a:t>
            </a:r>
            <a:r>
              <a:rPr lang="en-IN" sz="1800" b="0" i="0" u="none" strike="noStrike" baseline="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/>
            <a:r>
              <a:rPr lang="nn-NO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 i = 0; i &lt; N; ++i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34496" y="1964028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an object at block scope reduces the possibility that the object might be accessed inadvertently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makes clear the intention that it should not be accessed elsewhere</a:t>
            </a:r>
            <a:r>
              <a:rPr lang="en-US" sz="1800" b="0" i="0" u="none" strike="noStrike" baseline="0" dirty="0">
                <a:latin typeface="OpenSans-Light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308679" y="2697357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0F19C-0847-2797-E9DE-0C49F4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97C7FF-8A6C-AF08-B7F9-E6762A866DF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132986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Misra2012:Rule-8.10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05273" y="1292036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inline function shall be declared with the static storage class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300981" y="1666647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46833" y="2407579"/>
            <a:ext cx="97294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File: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math_utils.h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#ifndef MATH_UTILS_H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MATH_UTILS_H</a:t>
            </a: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inline int add(int a, int b) {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b;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#endif // MATH_UTILS_H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21341" y="2013525"/>
            <a:ext cx="10584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Rule 8.10 states that an inline function should be declared with the static storage class.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6219" y="237932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DB84C-EC66-91E0-3FF7-08E88B811587}"/>
              </a:ext>
            </a:extLst>
          </p:cNvPr>
          <p:cNvSpPr txBox="1"/>
          <p:nvPr/>
        </p:nvSpPr>
        <p:spPr>
          <a:xfrm>
            <a:off x="661106" y="5184948"/>
            <a:ext cx="11555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Inline Function are those function </a:t>
            </a:r>
            <a:r>
              <a:rPr lang="en-US" b="1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whose definitions are small and be substituted at the place where its function call is</a:t>
            </a:r>
            <a:r>
              <a:rPr lang="en-US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happened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278BD-29E5-AB8E-BBC7-D3E8F4E9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59E6B-AEFB-8171-6C9B-173011E17465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  <p:pic>
        <p:nvPicPr>
          <p:cNvPr id="13" name="Picture 3" descr="storage classes in c">
            <a:extLst>
              <a:ext uri="{FF2B5EF4-FFF2-40B4-BE49-F238E27FC236}">
                <a16:creationId xmlns:a16="http://schemas.microsoft.com/office/drawing/2014/main" id="{7243C0FC-1CB0-7A8B-150D-9666A4D64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299" y="2523872"/>
            <a:ext cx="4195640" cy="237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1091F8F-0930-F22F-39DD-486A045EB806}"/>
              </a:ext>
            </a:extLst>
          </p:cNvPr>
          <p:cNvSpPr txBox="1"/>
          <p:nvPr/>
        </p:nvSpPr>
        <p:spPr>
          <a:xfrm>
            <a:off x="660495" y="5763426"/>
            <a:ext cx="10968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1" u="none" strike="noStrike" baseline="0" dirty="0">
                <a:latin typeface="OpenSansLight-Italic"/>
              </a:rPr>
              <a:t>Note: </a:t>
            </a:r>
            <a:r>
              <a:rPr lang="en-US" sz="1800" b="0" i="0" u="none" strike="noStrike" baseline="0" dirty="0">
                <a:latin typeface="OpenSans-Light"/>
              </a:rPr>
              <a:t>an </a:t>
            </a:r>
            <a:r>
              <a:rPr lang="en-US" sz="1800" b="0" i="1" u="none" strike="noStrike" baseline="0" dirty="0">
                <a:latin typeface="OpenSansLight-Italic"/>
              </a:rPr>
              <a:t>inline function </a:t>
            </a:r>
            <a:r>
              <a:rPr lang="en-US" sz="1800" b="0" i="0" u="none" strike="noStrike" baseline="0" dirty="0">
                <a:latin typeface="OpenSans-Light"/>
              </a:rPr>
              <a:t>can be made available to several translation units by placing its definition in a</a:t>
            </a:r>
          </a:p>
          <a:p>
            <a:pPr algn="l"/>
            <a:r>
              <a:rPr lang="en-IN" sz="1800" b="0" i="1" u="none" strike="noStrike" baseline="0" dirty="0">
                <a:latin typeface="OpenSansLight-Italic"/>
              </a:rPr>
              <a:t>header file</a:t>
            </a:r>
            <a:r>
              <a:rPr lang="en-IN" sz="1800" b="0" i="0" u="none" strike="noStrike" baseline="0" dirty="0">
                <a:latin typeface="OpenSans-Light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217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Misra2012:Rule-8.11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186" y="1295817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array with external linkage is declared, its size should be explicitly specified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300925" y="168613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647940" y="2750538"/>
            <a:ext cx="72169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 int32_t array1[ 10 ]; /* Compliant */</a:t>
            </a:r>
          </a:p>
          <a:p>
            <a:pPr algn="l"/>
            <a:r>
              <a:rPr lang="fr-FR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int32_t array2[ ]; /* Non-compliant */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49847" y="2034328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Although it is possible to declare an array with incomplete type and access its elements, it is safer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to do so when the size of the array may be explicitly determined.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8870" y="2779179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313CE2-23BE-774C-AD90-BB19BBD7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583AC-5584-0570-9504-53D966A4F211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984473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Misra2012:Rule-8.12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5433" y="1281903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an enumerator list, the value of an implicitly-specified enumeration constant shall be unique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5154" y="163474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517843" y="2419142"/>
            <a:ext cx="97294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</a:t>
            </a:r>
            <a:endParaRPr lang="en-US" sz="18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Color {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RED = 0,    // Value: 0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GREEN = 1,  // Value: 1</a:t>
            </a:r>
          </a:p>
          <a:p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BLUE = 1,   // Value: 2(Violation: Not unique)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YELLOW = 3  // Value: 3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Compliant */</a:t>
            </a:r>
          </a:p>
          <a:p>
            <a:pPr algn="l"/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Color {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RED = 0,    // Value: 0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GREEN = 1,  // Value: 1</a:t>
            </a:r>
          </a:p>
          <a:p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BLUE = 2,   // Value: 2 (Distinct from GREEN)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YELLOW = 3  // Value: 3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algn="l"/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92279" y="1930906"/>
            <a:ext cx="10584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An explicitly-specified enumeration constant has the value of the associated constant expression.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6080" y="2419142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E0A84-36BA-8CD3-7025-81E645CB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DED52-0A07-C0EA-3CE3-E0843C0E2222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396277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Misra2012:Rule-8.13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270" y="1284838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pointer should point to a const-qualified type whenever possible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498" y="1635502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Advisory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System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500987" y="2414158"/>
            <a:ext cx="77553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following non-compliant example, p is not used to modify an object but the type to which it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is not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-qualified.</a:t>
            </a:r>
          </a:p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f ( uint16_t *p )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*p;</a:t>
            </a: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would be compliant if the function were defined with:</a:t>
            </a:r>
          </a:p>
          <a:p>
            <a:pPr algn="l"/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f (</a:t>
            </a:r>
            <a:r>
              <a:rPr lang="fr-FR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b="0" i="0" u="none" strike="noStrike" baseline="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fr-FR" sz="1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*p )</a:t>
            </a:r>
            <a:endParaRPr lang="en-US" sz="18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55099" y="1983654"/>
            <a:ext cx="10584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This rule encourages best practice by ensuring that pointers are always  use</a:t>
            </a:r>
            <a:r>
              <a:rPr lang="en-US" sz="1800" b="0" i="1" u="none" strike="noStrike" baseline="0" dirty="0">
                <a:latin typeface="OpenSansLight-Italic"/>
              </a:rPr>
              <a:t> const</a:t>
            </a:r>
            <a:r>
              <a:rPr lang="en-US" sz="1800" b="0" i="0" u="none" strike="noStrike" baseline="0" dirty="0">
                <a:latin typeface="OpenSans-Light"/>
              </a:rPr>
              <a:t>-qualified type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791" y="2400409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157C2-BB8B-F9EB-C890-902AA08F28D1}"/>
              </a:ext>
            </a:extLst>
          </p:cNvPr>
          <p:cNvSpPr txBox="1"/>
          <p:nvPr/>
        </p:nvSpPr>
        <p:spPr>
          <a:xfrm>
            <a:off x="1239810" y="5405828"/>
            <a:ext cx="95973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const-qualified pointers helps improve code safety, maintainability, </a:t>
            </a:r>
          </a:p>
          <a:p>
            <a:r>
              <a:rPr lang="en-US" dirty="0"/>
              <a:t>and readability by enforcing intended behavior and preventing accidental modifications of data.</a:t>
            </a:r>
          </a:p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20146-AC30-5F8F-6D4C-3ADC7769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15898-4D18-25CC-C976-709F29F50B0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128722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Misra2012:Rule-8.13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31049-3D17-EDF0-C73F-154C87D003F8}"/>
              </a:ext>
            </a:extLst>
          </p:cNvPr>
          <p:cNvSpPr txBox="1"/>
          <p:nvPr/>
        </p:nvSpPr>
        <p:spPr>
          <a:xfrm>
            <a:off x="2693224" y="1523924"/>
            <a:ext cx="90655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int main() {</a:t>
            </a:r>
          </a:p>
          <a:p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int number = 10; // Declare a </a:t>
            </a:r>
            <a:r>
              <a:rPr lang="en-IN" dirty="0" err="1"/>
              <a:t>const</a:t>
            </a:r>
            <a:r>
              <a:rPr lang="en-IN" dirty="0"/>
              <a:t>-qualified variable</a:t>
            </a:r>
          </a:p>
          <a:p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int *</a:t>
            </a:r>
            <a:r>
              <a:rPr lang="en-IN" dirty="0" err="1"/>
              <a:t>ptr</a:t>
            </a:r>
            <a:r>
              <a:rPr lang="en-IN" dirty="0"/>
              <a:t> = &amp;number; // Declare a </a:t>
            </a:r>
            <a:r>
              <a:rPr lang="en-IN" dirty="0" err="1"/>
              <a:t>const</a:t>
            </a:r>
            <a:r>
              <a:rPr lang="en-IN" dirty="0"/>
              <a:t>-qualified pointer</a:t>
            </a:r>
          </a:p>
          <a:p>
            <a:endParaRPr lang="en-IN" dirty="0"/>
          </a:p>
          <a:p>
            <a:r>
              <a:rPr lang="en-IN" dirty="0"/>
              <a:t>    // Attempting to modify the data pointed to by the pointer will result in a compilation error</a:t>
            </a:r>
          </a:p>
          <a:p>
            <a:r>
              <a:rPr lang="en-IN" dirty="0"/>
              <a:t>    // *</a:t>
            </a:r>
            <a:r>
              <a:rPr lang="en-IN" dirty="0" err="1"/>
              <a:t>ptr</a:t>
            </a:r>
            <a:r>
              <a:rPr lang="en-IN" dirty="0"/>
              <a:t> = 20; // This line will result in a compilation error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("Value of number: %d\n", *</a:t>
            </a:r>
            <a:r>
              <a:rPr lang="en-IN" dirty="0" err="1"/>
              <a:t>ptr</a:t>
            </a:r>
            <a:r>
              <a:rPr lang="en-IN" dirty="0"/>
              <a:t>); // Output: Value of number: 10</a:t>
            </a:r>
          </a:p>
          <a:p>
            <a:endParaRPr lang="en-IN" dirty="0"/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34378-4B97-33D8-0F97-91C3EED35A43}"/>
              </a:ext>
            </a:extLst>
          </p:cNvPr>
          <p:cNvSpPr txBox="1"/>
          <p:nvPr/>
        </p:nvSpPr>
        <p:spPr>
          <a:xfrm>
            <a:off x="1293180" y="1488402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2CAEF-8622-C30C-21DE-9C015515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0BC23-AAE3-5FD0-A989-D09C7764D188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100316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Misra2012:Rule-8.14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7" y="1282752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restrict type qualifier shall not be used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665982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40534" y="2714213"/>
            <a:ext cx="97895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example is non-compliant because a function has been defined using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add_arrays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n, int *restrict a, int *restrict b, int *restrict result) {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(int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result[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a[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b[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Aliasing occurs when two or more pointers refer to the same memory location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a[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result[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// Potential aliasing issue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undefined behavior, as modifying ‘a’ would also affect result,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to unexpected behavior or crashes.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5002" y="1942888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There is a significant risk that a compiler will generate code that does not behave as expected if </a:t>
            </a:r>
            <a:r>
              <a:rPr lang="en-US" sz="1800" b="0" i="1" u="none" strike="noStrike" baseline="0" dirty="0">
                <a:latin typeface="OpenSansLight-Italic"/>
              </a:rPr>
              <a:t>restrict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is used incorrectly.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2691689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157C2-BB8B-F9EB-C890-902AA08F28D1}"/>
              </a:ext>
            </a:extLst>
          </p:cNvPr>
          <p:cNvSpPr txBox="1"/>
          <p:nvPr/>
        </p:nvSpPr>
        <p:spPr>
          <a:xfrm>
            <a:off x="1313239" y="5445589"/>
            <a:ext cx="908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When you use </a:t>
            </a:r>
            <a:r>
              <a:rPr lang="en-US" dirty="0">
                <a:highlight>
                  <a:srgbClr val="FFFF00"/>
                </a:highlight>
              </a:rPr>
              <a:t>restrict</a:t>
            </a:r>
            <a:r>
              <a:rPr lang="en-US" dirty="0"/>
              <a:t>, you're essentially telling the compiler that the pointer is "restricted"</a:t>
            </a:r>
          </a:p>
          <a:p>
            <a:r>
              <a:rPr lang="en-US" dirty="0"/>
              <a:t> and that it doesn't alias with any other pointer in the same scope.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CBAE8-DD2D-1410-CF3E-428D3E959DF3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2540052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Misra2012:Rule-9.1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7" y="1282752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an object with automatic storage duration shall not be read before it has been set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665982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Mandatory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dirty="0">
                <a:latin typeface="OpenSans-Light"/>
              </a:rPr>
              <a:t>Und</a:t>
            </a:r>
            <a:r>
              <a:rPr lang="en-IN" sz="1800" b="0" i="0" u="none" strike="noStrike" baseline="0" dirty="0">
                <a:latin typeface="OpenSans-Light"/>
              </a:rPr>
              <a:t>ecidable, </a:t>
            </a:r>
            <a:r>
              <a:rPr lang="en-IN" dirty="0">
                <a:latin typeface="OpenSans-Light"/>
              </a:rPr>
              <a:t>System      </a:t>
            </a:r>
            <a:r>
              <a:rPr lang="en-IN" sz="1800" b="0" i="0" u="none" strike="noStrike" baseline="0" dirty="0">
                <a:latin typeface="OpenSans-Light"/>
              </a:rPr>
              <a:t>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40534" y="2901027"/>
            <a:ext cx="978956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f (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bool_t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b, uint16_t *p )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b )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 = 3U;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g ( void )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u;      //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uint16_t u = 0U; // Initialize u to a known value</a:t>
            </a:r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( false, &amp;u );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u == 3U )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u has not been assigned a value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5002" y="1942888"/>
            <a:ext cx="105846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According to The Standard, objects with static storage duration are automatically initialized to zero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unless initialized explicitly. Objects with automatic storage duration are not automatically initialized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and can therefore have indeterminate values.</a:t>
            </a:r>
            <a:r>
              <a:rPr lang="en-IN" sz="1800" b="0" i="0" u="none" strike="noStrike" baseline="0" dirty="0">
                <a:latin typeface="OpenSans-Light"/>
              </a:rPr>
              <a:t>.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282934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D7BDD-AA7D-EF9E-4D1F-D3404BB02111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5882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Misra2012:Rule-9.2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7" y="1282752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initializer for an aggregate or union shall be enclosed in braces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665982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</a:t>
            </a:r>
            <a:r>
              <a:rPr lang="en-IN" dirty="0">
                <a:latin typeface="OpenSans-Light"/>
              </a:rPr>
              <a:t>      </a:t>
            </a:r>
            <a:r>
              <a:rPr lang="en-IN" sz="1800" b="0" i="0" u="none" strike="noStrike" baseline="0" dirty="0">
                <a:latin typeface="OpenSans-Light"/>
              </a:rPr>
              <a:t>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40534" y="2901027"/>
            <a:ext cx="97895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int16_t y[ 3 ][ 2 ] = { 1, 2, 0, 0, 5, 6 }; /* Non-compliant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int16_t y[ 3 ][ 2 ] = { { 1, 2 }, { 0 }, { 5, 6 } }; /* Compliant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int16_t y[ 3 ][ 2 ] = { { 1, 2 }, { 0, 0 }, { 5, 6 } }; /* Compliant */</a:t>
            </a:r>
            <a:b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s1 {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[ 8 ]; /* Compliant -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initialized implicitly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s[ 3 ] = {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5u, { 'a', 'b', 'c', 'd', 'e', '\0', '\0', '\0' } },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2u, { 0 } },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.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0u }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 /* Compliant - s[ ] fully initialized */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5002" y="1942888"/>
            <a:ext cx="105846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Using braces to indicate initialization of sub objects improves the clarity of code and forces programmers</a:t>
            </a:r>
          </a:p>
          <a:p>
            <a:pPr algn="l"/>
            <a:r>
              <a:rPr lang="en-US" sz="1800" b="0" i="0" u="none" strike="noStrike" baseline="0" dirty="0">
                <a:latin typeface="OpenSans-Light"/>
              </a:rPr>
              <a:t>to consider the initialization of elements in complex data structures such as multi-dimensional arrays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or arrays of structures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282934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0B0C63-2BB6-BC7D-C91C-8D6E879FD04F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1447689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Misra2012:Rule-9.3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7" y="1282752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shall not be partially initialized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665982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40534" y="2901027"/>
            <a:ext cx="97895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Compliant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  x[ 3 ] = { 0, 1, 2 };</a:t>
            </a:r>
          </a:p>
          <a:p>
            <a:pPr algn="l"/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y[ 2 ] is implicitly initialized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int32_t  y[ 3 ] = { 0, 1 };</a:t>
            </a:r>
          </a:p>
          <a:p>
            <a:pPr algn="l"/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t[ 0 ] and t[ 3 ] are implicitly initialized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float32_t  t[ 4 ] = { [ 1 ] = 1.0f, 2.0f };</a:t>
            </a:r>
          </a:p>
          <a:p>
            <a:pPr algn="l"/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Compliant - designated initializers for sparse matrix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float32_t  z[ 50 ] = { [ 1 ] = 1.0f, [ 25 ] = 2.0f 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5002" y="1942888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Providing an explicit initialization for each element of an array makes it clear that every element has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been considered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282934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73838-FD41-D121-5219-FA34CB62F491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163421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Misra2012:Rule-9.4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7" y="1282752"/>
            <a:ext cx="10263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element of an object shall not be initialized more than once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665982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Mandatory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70781" y="2929954"/>
            <a:ext cx="97895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designated initializer element values overwrite earlier ones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Non-compliant - a3 is -5, -4, -2, 0, -1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int16_t a3[ 5 ] = { [ 0 ] = -5, [ 1 ] = -4, [ 2 ] = -3,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[ 2 ] = -2, [ 4 ] = -1 };</a:t>
            </a:r>
          </a:p>
          <a:p>
            <a:pPr algn="l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Similar behavior using designated initializers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Compliant - a2 is -5, -4, -3, -2, -1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int16_t a2[ 5 ] = { [ 0 ] = -5, [ 1 ] = -4, [ 2 ] = -3,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[ 3 ] = -2, [ 4 ] = -1 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5002" y="1942888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To allow sparse arrays and structures, it is acceptable to only initialize those which are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necessary to the application.</a:t>
            </a:r>
            <a:endParaRPr lang="en-US" sz="1800" b="0" i="0" u="none" strike="noStrike" baseline="0" dirty="0">
              <a:latin typeface="OpenSans-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282934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D197B-C2A7-5039-F879-5849050EE2F1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2998085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Misra2012:Rule-9.5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7" y="1282752"/>
            <a:ext cx="10508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designated initializers are used to initialize an array object the size of the array shall be specified explicitly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8429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Mandatory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Applies to </a:t>
            </a:r>
            <a:r>
              <a:rPr lang="en-IN" sz="1800" b="0" i="0" u="none" strike="noStrike" baseline="0" dirty="0">
                <a:latin typeface="OpenSans"/>
              </a:rPr>
              <a:t>-</a:t>
            </a:r>
            <a:r>
              <a:rPr lang="en-IN" sz="1800" b="0" i="0" u="none" strike="noStrike" baseline="0" dirty="0">
                <a:latin typeface="OpenSans-Light"/>
              </a:rPr>
              <a:t> C99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10503" y="2897592"/>
            <a:ext cx="97895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Non-compliant - probably unintentional to have a single element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a1[ ] = { [ 0 ] = 1 };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Compliant */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a2[ 10 ] = { [ 0 ] = 1 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57552" y="2269614"/>
            <a:ext cx="10584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To make the intent clear, the array size shall be declared explicitly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2829341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6A3DE-612D-14E1-65E2-0EC89BCD311A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355493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7" y="1282752"/>
            <a:ext cx="10508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Operands shall not be of an inappropriate essential type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842961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Mandatory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15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64E572-E091-57D2-004B-75A6FA2EDD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2622699" y="2212061"/>
            <a:ext cx="6607113" cy="283488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5821092-2C20-A5BB-613E-8D75FB4E2C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710"/>
          <a:stretch/>
        </p:blipFill>
        <p:spPr>
          <a:xfrm>
            <a:off x="2641860" y="5060863"/>
            <a:ext cx="6591871" cy="12567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F20F57-D32F-1C44-4A63-C16333E22397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2793433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144299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16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B052-CF47-3AE4-18C0-0794652128CB}"/>
              </a:ext>
            </a:extLst>
          </p:cNvPr>
          <p:cNvSpPr txBox="1"/>
          <p:nvPr/>
        </p:nvSpPr>
        <p:spPr>
          <a:xfrm>
            <a:off x="2927885" y="1442995"/>
            <a:ext cx="8570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use of an expression of essentially floating type for these operands is a constraint violation.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343233-2405-48DF-829D-B984BCAE6CCB}"/>
              </a:ext>
            </a:extLst>
          </p:cNvPr>
          <p:cNvSpPr txBox="1"/>
          <p:nvPr/>
        </p:nvSpPr>
        <p:spPr>
          <a:xfrm>
            <a:off x="2907793" y="2093678"/>
            <a:ext cx="7081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b="0" i="0" u="none" strike="noStrike" baseline="0" dirty="0">
                <a:latin typeface="CourierNewPSMT"/>
              </a:rPr>
              <a:t>f32a &amp; 2U /* </a:t>
            </a:r>
            <a:r>
              <a:rPr lang="fr-FR" sz="1800" b="0" i="0" u="none" strike="noStrike" baseline="0" dirty="0" err="1">
                <a:latin typeface="CourierNewPSMT"/>
              </a:rPr>
              <a:t>Rationale</a:t>
            </a:r>
            <a:r>
              <a:rPr lang="fr-FR" sz="1800" b="0" i="0" u="none" strike="noStrike" baseline="0" dirty="0">
                <a:latin typeface="CourierNewPSMT"/>
              </a:rPr>
              <a:t> 1 - </a:t>
            </a:r>
            <a:r>
              <a:rPr lang="fr-FR" sz="1800" b="0" i="0" u="none" strike="noStrike" baseline="0" dirty="0" err="1">
                <a:latin typeface="CourierNewPSMT"/>
              </a:rPr>
              <a:t>constraint</a:t>
            </a:r>
            <a:r>
              <a:rPr lang="fr-FR" sz="1800" b="0" i="0" u="none" strike="noStrike" baseline="0" dirty="0">
                <a:latin typeface="CourierNewPSMT"/>
              </a:rPr>
              <a:t> violation */</a:t>
            </a:r>
          </a:p>
          <a:p>
            <a:pPr algn="l"/>
            <a:r>
              <a:rPr lang="fr-FR" sz="1800" b="0" i="0" u="none" strike="noStrike" baseline="0" dirty="0">
                <a:latin typeface="CourierNewPSMT"/>
              </a:rPr>
              <a:t>f32a &lt;&lt; 2 /* </a:t>
            </a:r>
            <a:r>
              <a:rPr lang="fr-FR" sz="1800" b="0" i="0" u="none" strike="noStrike" baseline="0" dirty="0" err="1">
                <a:latin typeface="CourierNewPSMT"/>
              </a:rPr>
              <a:t>Rationale</a:t>
            </a:r>
            <a:r>
              <a:rPr lang="fr-FR" sz="1800" b="0" i="0" u="none" strike="noStrike" baseline="0" dirty="0">
                <a:latin typeface="CourierNewPSMT"/>
              </a:rPr>
              <a:t> 1 - </a:t>
            </a:r>
            <a:r>
              <a:rPr lang="fr-FR" sz="1800" b="0" i="0" u="none" strike="noStrike" baseline="0" dirty="0" err="1">
                <a:latin typeface="CourierNewPSMT"/>
              </a:rPr>
              <a:t>constraint</a:t>
            </a:r>
            <a:r>
              <a:rPr lang="fr-FR" sz="1800" b="0" i="0" u="none" strike="noStrike" baseline="0" dirty="0">
                <a:latin typeface="CourierNewPSMT"/>
              </a:rPr>
              <a:t> violation */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0C2631-C533-84DD-7596-0EFAE50B66D2}"/>
              </a:ext>
            </a:extLst>
          </p:cNvPr>
          <p:cNvSpPr txBox="1"/>
          <p:nvPr/>
        </p:nvSpPr>
        <p:spPr>
          <a:xfrm>
            <a:off x="2927884" y="2827844"/>
            <a:ext cx="8731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2.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expression of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 Boolean type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always be used where an operand is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as a Boolean value.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2A1D5D-2613-96DC-504B-46B1273177C6}"/>
              </a:ext>
            </a:extLst>
          </p:cNvPr>
          <p:cNvSpPr txBox="1"/>
          <p:nvPr/>
        </p:nvSpPr>
        <p:spPr>
          <a:xfrm>
            <a:off x="2927884" y="3446827"/>
            <a:ext cx="9755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CourierNewPSMT"/>
              </a:rPr>
              <a:t>cha &amp;&amp; </a:t>
            </a:r>
            <a:r>
              <a:rPr lang="en-US" sz="1600" b="0" i="0" u="none" strike="noStrike" baseline="0" dirty="0" err="1">
                <a:latin typeface="CourierNewPSMT"/>
              </a:rPr>
              <a:t>bla</a:t>
            </a:r>
            <a:r>
              <a:rPr lang="en-US" sz="1600" b="0" i="0" u="none" strike="noStrike" baseline="0" dirty="0">
                <a:latin typeface="CourierNewPSMT"/>
              </a:rPr>
              <a:t> /* Rationale 2 - char type used as a Boolean value */</a:t>
            </a:r>
          </a:p>
          <a:p>
            <a:pPr algn="l"/>
            <a:r>
              <a:rPr lang="en-US" sz="1600" b="0" i="0" u="none" strike="noStrike" baseline="0" dirty="0">
                <a:latin typeface="CourierNewPSMT"/>
              </a:rPr>
              <a:t>s8a &amp;&amp; </a:t>
            </a:r>
            <a:r>
              <a:rPr lang="en-US" sz="1600" b="0" i="0" u="none" strike="noStrike" baseline="0" dirty="0" err="1">
                <a:latin typeface="CourierNewPSMT"/>
              </a:rPr>
              <a:t>bla</a:t>
            </a:r>
            <a:r>
              <a:rPr lang="en-US" sz="1600" b="0" i="0" u="none" strike="noStrike" baseline="0" dirty="0">
                <a:latin typeface="CourierNewPSMT"/>
              </a:rPr>
              <a:t> /* Rationale 2 - signed type used as a Boolean value */</a:t>
            </a:r>
          </a:p>
          <a:p>
            <a:pPr algn="l"/>
            <a:r>
              <a:rPr lang="en-US" sz="1600" dirty="0">
                <a:latin typeface="CourierNewPSMT"/>
              </a:rPr>
              <a:t>f</a:t>
            </a:r>
            <a:r>
              <a:rPr lang="en-US" sz="1600" b="0" i="0" u="none" strike="noStrike" baseline="0" dirty="0">
                <a:latin typeface="CourierNewPSMT"/>
              </a:rPr>
              <a:t>32a &amp;&amp; </a:t>
            </a:r>
            <a:r>
              <a:rPr lang="en-US" sz="1600" b="0" i="0" u="none" strike="noStrike" baseline="0" dirty="0" err="1">
                <a:latin typeface="CourierNewPSMT"/>
              </a:rPr>
              <a:t>bla</a:t>
            </a:r>
            <a:r>
              <a:rPr lang="en-US" sz="1600" b="0" i="0" u="none" strike="noStrike" baseline="0" dirty="0">
                <a:latin typeface="CourierNewPSMT"/>
              </a:rPr>
              <a:t> /* Rationale 2 - floating type used as a Boolean value */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7F1725-0498-EEA3-8406-27905C091BDF}"/>
              </a:ext>
            </a:extLst>
          </p:cNvPr>
          <p:cNvSpPr txBox="1"/>
          <p:nvPr/>
        </p:nvSpPr>
        <p:spPr>
          <a:xfrm>
            <a:off x="2927884" y="4309899"/>
            <a:ext cx="9065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3. An operand of essentially Boolean type should not be used where an operand is </a:t>
            </a:r>
            <a:r>
              <a:rPr lang="en-IN" dirty="0" err="1"/>
              <a:t>interpretedas</a:t>
            </a:r>
            <a:r>
              <a:rPr lang="en-IN" dirty="0"/>
              <a:t> a numeric value.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FEFA18-88FA-6E13-39FD-15960CD6BE7F}"/>
              </a:ext>
            </a:extLst>
          </p:cNvPr>
          <p:cNvSpPr txBox="1"/>
          <p:nvPr/>
        </p:nvSpPr>
        <p:spPr>
          <a:xfrm>
            <a:off x="2927274" y="4962754"/>
            <a:ext cx="8954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 err="1">
                <a:latin typeface="CourierNewPSMT"/>
              </a:rPr>
              <a:t>bla</a:t>
            </a:r>
            <a:r>
              <a:rPr lang="en-US" sz="1800" b="0" i="0" u="none" strike="noStrike" baseline="0" dirty="0">
                <a:latin typeface="CourierNewPSMT"/>
              </a:rPr>
              <a:t> * </a:t>
            </a:r>
            <a:r>
              <a:rPr lang="en-US" sz="1800" b="0" i="0" u="none" strike="noStrike" baseline="0" dirty="0" err="1">
                <a:latin typeface="CourierNewPSMT"/>
              </a:rPr>
              <a:t>blb</a:t>
            </a:r>
            <a:r>
              <a:rPr lang="en-US" sz="1800" b="0" i="0" u="none" strike="noStrike" baseline="0" dirty="0">
                <a:latin typeface="CourierNewPSMT"/>
              </a:rPr>
              <a:t> /* Rationale 3 - Boolean used as a numeric value */</a:t>
            </a:r>
          </a:p>
          <a:p>
            <a:pPr algn="l"/>
            <a:r>
              <a:rPr lang="en-US" sz="1800" b="0" i="0" u="none" strike="noStrike" baseline="0" dirty="0" err="1">
                <a:latin typeface="CourierNewPSMT"/>
              </a:rPr>
              <a:t>bla</a:t>
            </a:r>
            <a:r>
              <a:rPr lang="en-US" sz="1800" b="0" i="0" u="none" strike="noStrike" baseline="0" dirty="0">
                <a:latin typeface="CourierNewPSMT"/>
              </a:rPr>
              <a:t> &gt; </a:t>
            </a:r>
            <a:r>
              <a:rPr lang="en-US" sz="1800" b="0" i="0" u="none" strike="noStrike" baseline="0" dirty="0" err="1">
                <a:latin typeface="CourierNewPSMT"/>
              </a:rPr>
              <a:t>blb</a:t>
            </a:r>
            <a:r>
              <a:rPr lang="en-US" sz="1800" b="0" i="0" u="none" strike="noStrike" baseline="0" dirty="0">
                <a:latin typeface="CourierNewPSMT"/>
              </a:rPr>
              <a:t> /* Rationale 3 - Boolean used as a numeric value */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B91ED1-9BAC-912C-DB0C-9B0C10D15256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15990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144299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17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B052-CF47-3AE4-18C0-0794652128CB}"/>
              </a:ext>
            </a:extLst>
          </p:cNvPr>
          <p:cNvSpPr txBox="1"/>
          <p:nvPr/>
        </p:nvSpPr>
        <p:spPr>
          <a:xfrm>
            <a:off x="2918512" y="1528553"/>
            <a:ext cx="9634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4. An operand of essentially character type should not be used where an operand is </a:t>
            </a:r>
          </a:p>
          <a:p>
            <a:r>
              <a:rPr lang="en-IN" dirty="0"/>
              <a:t>Interpreted as a numeric value. The numeric values of character data are implementation-defined.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343233-2405-48DF-829D-B984BCAE6CCB}"/>
              </a:ext>
            </a:extLst>
          </p:cNvPr>
          <p:cNvSpPr txBox="1"/>
          <p:nvPr/>
        </p:nvSpPr>
        <p:spPr>
          <a:xfrm>
            <a:off x="2927274" y="2390246"/>
            <a:ext cx="93280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ourierNewPSMT"/>
              </a:rPr>
              <a:t>cha &amp; </a:t>
            </a:r>
            <a:r>
              <a:rPr lang="en-US" sz="1800" b="0" i="0" u="none" strike="noStrike" baseline="0" dirty="0" err="1">
                <a:latin typeface="CourierNewPSMT"/>
              </a:rPr>
              <a:t>chb</a:t>
            </a:r>
            <a:r>
              <a:rPr lang="en-US" sz="1800" b="0" i="0" u="none" strike="noStrike" baseline="0" dirty="0">
                <a:latin typeface="CourierNewPSMT"/>
              </a:rPr>
              <a:t> /* Rationale 4 - char type used as a numeric value */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cha &lt;&lt; 1 /* Rationale 4 - char type used as a numeric value */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0C2631-C533-84DD-7596-0EFAE50B66D2}"/>
              </a:ext>
            </a:extLst>
          </p:cNvPr>
          <p:cNvSpPr txBox="1"/>
          <p:nvPr/>
        </p:nvSpPr>
        <p:spPr>
          <a:xfrm>
            <a:off x="2918512" y="3138473"/>
            <a:ext cx="84496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An operand of essentially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should not be used in an arithmetic operation because 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uses an implementation-defined integer type. An operation involving an Enum object may therefore yield a result with an unexpected type. Note that an enumeration Constant from an anonymous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essentially a signed type.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E1EA9-0A74-E7CE-BF25-37E3EF83B910}"/>
              </a:ext>
            </a:extLst>
          </p:cNvPr>
          <p:cNvSpPr txBox="1"/>
          <p:nvPr/>
        </p:nvSpPr>
        <p:spPr>
          <a:xfrm>
            <a:off x="2927274" y="4378079"/>
            <a:ext cx="94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 err="1">
                <a:latin typeface="CourierNewPSMT"/>
              </a:rPr>
              <a:t>ena</a:t>
            </a:r>
            <a:r>
              <a:rPr lang="en-US" sz="1800" b="0" i="0" u="none" strike="noStrike" baseline="0" dirty="0">
                <a:latin typeface="CourierNewPSMT"/>
              </a:rPr>
              <a:t>-- /* Rationale 5 - </a:t>
            </a:r>
            <a:r>
              <a:rPr lang="en-US" sz="1800" b="0" i="0" u="none" strike="noStrike" baseline="0" dirty="0" err="1">
                <a:latin typeface="CourierNewPSMT"/>
              </a:rPr>
              <a:t>enum</a:t>
            </a:r>
            <a:r>
              <a:rPr lang="en-US" sz="1800" b="0" i="0" u="none" strike="noStrike" baseline="0" dirty="0">
                <a:latin typeface="CourierNewPSMT"/>
              </a:rPr>
              <a:t> type used in arithmetic operation */</a:t>
            </a:r>
          </a:p>
          <a:p>
            <a:pPr algn="l"/>
            <a:r>
              <a:rPr lang="en-US" sz="1800" b="0" i="0" u="none" strike="noStrike" baseline="0" dirty="0" err="1">
                <a:latin typeface="CourierNewPSMT"/>
              </a:rPr>
              <a:t>ena</a:t>
            </a:r>
            <a:r>
              <a:rPr lang="en-US" sz="1800" b="0" i="0" u="none" strike="noStrike" baseline="0" dirty="0">
                <a:latin typeface="CourierNewPSMT"/>
              </a:rPr>
              <a:t> * a1 /* Rationale 5 - </a:t>
            </a:r>
            <a:r>
              <a:rPr lang="en-US" sz="1800" b="0" i="0" u="none" strike="noStrike" baseline="0" dirty="0" err="1">
                <a:latin typeface="CourierNewPSMT"/>
              </a:rPr>
              <a:t>enum</a:t>
            </a:r>
            <a:r>
              <a:rPr lang="en-US" sz="1800" b="0" i="0" u="none" strike="noStrike" baseline="0" dirty="0">
                <a:latin typeface="CourierNewPSMT"/>
              </a:rPr>
              <a:t> type used in arithmetic operation */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168D1-78B7-7E1F-FA7F-BF57404F5D55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989318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1442995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18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B052-CF47-3AE4-18C0-0794652128CB}"/>
              </a:ext>
            </a:extLst>
          </p:cNvPr>
          <p:cNvSpPr txBox="1"/>
          <p:nvPr/>
        </p:nvSpPr>
        <p:spPr>
          <a:xfrm>
            <a:off x="2918512" y="1528553"/>
            <a:ext cx="9634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Shift and bitwise operations should only be performed on operands of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 unsigned</a:t>
            </a:r>
          </a:p>
          <a:p>
            <a:pPr algn="l"/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numeric value resulting from their use on </a:t>
            </a:r>
            <a:r>
              <a:rPr lang="en-US" sz="18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 signed types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implementation        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defiend</a:t>
            </a:r>
            <a:r>
              <a:rPr lang="en-I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343233-2405-48DF-829D-B984BCAE6CCB}"/>
              </a:ext>
            </a:extLst>
          </p:cNvPr>
          <p:cNvSpPr txBox="1"/>
          <p:nvPr/>
        </p:nvSpPr>
        <p:spPr>
          <a:xfrm>
            <a:off x="2927274" y="2390246"/>
            <a:ext cx="93280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ourierNewPSMT"/>
              </a:rPr>
              <a:t>s8a &amp; 2 /* Rationale 6 - bitwise operation on signed type */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50 &lt;&lt; 3U /* Rationale 6 - shift operation on signed type */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0C2631-C533-84DD-7596-0EFAE50B66D2}"/>
              </a:ext>
            </a:extLst>
          </p:cNvPr>
          <p:cNvSpPr txBox="1"/>
          <p:nvPr/>
        </p:nvSpPr>
        <p:spPr>
          <a:xfrm>
            <a:off x="2918512" y="2990993"/>
            <a:ext cx="8449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The right-hand operand of a shift operator should be of essentially unsigned type to ensure that undefined behaviour does not result from a negative shift.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797E2-2846-D6A5-820D-FA8BAA4781AB}"/>
              </a:ext>
            </a:extLst>
          </p:cNvPr>
          <p:cNvSpPr txBox="1"/>
          <p:nvPr/>
        </p:nvSpPr>
        <p:spPr>
          <a:xfrm>
            <a:off x="2913667" y="3607434"/>
            <a:ext cx="9227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ourierNewPSMT"/>
              </a:rPr>
              <a:t>u8a &lt;&lt; s8a /* Rationale 7 - shift magnitude uses signed type */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u8a &lt;&lt; -1 /* Rationale 7 - shift magnitude uses signed type */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5A8D4-6EB0-27E3-FFDD-D65C1563D1F3}"/>
              </a:ext>
            </a:extLst>
          </p:cNvPr>
          <p:cNvSpPr txBox="1"/>
          <p:nvPr/>
        </p:nvSpPr>
        <p:spPr>
          <a:xfrm>
            <a:off x="2913361" y="4224457"/>
            <a:ext cx="9077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An operand of essentially unsigned type should not be used as the operand to the unary minus operator, as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signedness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result is determined by the implemented size of int.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71FF2A-B60D-54CF-A62A-BF2B8B403E5C}"/>
              </a:ext>
            </a:extLst>
          </p:cNvPr>
          <p:cNvSpPr txBox="1"/>
          <p:nvPr/>
        </p:nvSpPr>
        <p:spPr>
          <a:xfrm>
            <a:off x="2913360" y="4881142"/>
            <a:ext cx="9227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CourierNewPSMT"/>
              </a:rPr>
              <a:t>-u8a /* Rationale 8 - unary minus on unsigned type */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BFAA6F-EEFA-72DF-F364-7391FD3DDB94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4109862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</a:t>
            </a:r>
            <a:r>
              <a:rPr lang="en-IN" kern="100" dirty="0">
                <a:solidFill>
                  <a:srgbClr val="6666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endParaRPr lang="en-IN" kern="100" dirty="0">
              <a:solidFill>
                <a:srgbClr val="666666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7" y="1282752"/>
            <a:ext cx="11855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 of essentially character type shall not be used inappropriately in addition 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subtraction operations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95111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40534" y="3186160"/>
            <a:ext cx="9789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following examples are non-compliant:</a:t>
            </a:r>
          </a:p>
          <a:p>
            <a:pPr algn="l"/>
            <a:r>
              <a:rPr lang="en-IN" sz="1800" b="0" i="0" u="none" strike="noStrike" baseline="0" dirty="0">
                <a:latin typeface="CourierNewPSMT"/>
              </a:rPr>
              <a:t>s16a - 'a'</a:t>
            </a:r>
          </a:p>
          <a:p>
            <a:pPr algn="l"/>
            <a:r>
              <a:rPr lang="en-IN" sz="1800" b="0" i="0" u="none" strike="noStrike" baseline="0" dirty="0">
                <a:latin typeface="CourierNewPSMT"/>
              </a:rPr>
              <a:t>'0' + f32a</a:t>
            </a:r>
          </a:p>
          <a:p>
            <a:pPr algn="l"/>
            <a:r>
              <a:rPr lang="en-IN" sz="1800" b="0" i="0" u="none" strike="noStrike" baseline="0" dirty="0">
                <a:latin typeface="CourierNewPSMT"/>
              </a:rPr>
              <a:t>cha + ':'</a:t>
            </a:r>
          </a:p>
          <a:p>
            <a:pPr algn="l"/>
            <a:r>
              <a:rPr lang="en-IN" sz="1800" b="0" i="0" u="none" strike="noStrike" baseline="0" dirty="0">
                <a:latin typeface="CourierNewPSMT"/>
              </a:rPr>
              <a:t>cha - </a:t>
            </a:r>
            <a:r>
              <a:rPr lang="en-IN" sz="1800" b="0" i="0" u="none" strike="noStrike" baseline="0" dirty="0" err="1">
                <a:latin typeface="CourierNewPSMT"/>
              </a:rPr>
              <a:t>ena</a:t>
            </a:r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5002" y="2277181"/>
            <a:ext cx="10584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guideline aims to prevent potential confusion and unintended behavior arising from mixing characters with numeric operations, as the numeric values of character data are implementation-defined.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3114474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19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B364C9-87C9-36C4-CCAB-60B909B43B8B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2694704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8" y="1282752"/>
            <a:ext cx="10834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an expression shall not be assigned to an object with a narrower essential type or of a different essential type category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95111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40534" y="3186160"/>
            <a:ext cx="97895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following are non-compliant as they have diff </a:t>
            </a:r>
            <a:r>
              <a:rPr lang="en-US" sz="1800" b="0" i="0" u="none" strike="noStrike" baseline="0" dirty="0" err="1">
                <a:latin typeface="OpenSans-Light"/>
              </a:rPr>
              <a:t>erent</a:t>
            </a:r>
            <a:r>
              <a:rPr lang="en-US" sz="1800" b="0" i="0" u="none" strike="noStrike" baseline="0" dirty="0">
                <a:latin typeface="OpenSans-Light"/>
              </a:rPr>
              <a:t> </a:t>
            </a:r>
            <a:r>
              <a:rPr lang="en-US" sz="1800" b="0" i="1" u="none" strike="noStrike" baseline="0" dirty="0">
                <a:latin typeface="OpenSansLight-Italic"/>
              </a:rPr>
              <a:t>essential type categories</a:t>
            </a:r>
            <a:r>
              <a:rPr lang="en-US" sz="1800" b="0" i="0" u="none" strike="noStrike" baseline="0" dirty="0">
                <a:latin typeface="OpenSans-Light"/>
              </a:rPr>
              <a:t>: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uint8_t u8a = 1.0f; /* unsigned and floating */</a:t>
            </a:r>
          </a:p>
          <a:p>
            <a:pPr algn="l"/>
            <a:r>
              <a:rPr lang="en-US" sz="1800" b="0" i="0" u="none" strike="noStrike" baseline="0" dirty="0" err="1">
                <a:latin typeface="CourierNewPSMT"/>
              </a:rPr>
              <a:t>bool_t</a:t>
            </a:r>
            <a:r>
              <a:rPr lang="en-US" sz="1800" b="0" i="0" u="none" strike="noStrike" baseline="0" dirty="0">
                <a:latin typeface="CourierNewPSMT"/>
              </a:rPr>
              <a:t> </a:t>
            </a:r>
            <a:r>
              <a:rPr lang="en-US" sz="1800" b="0" i="0" u="none" strike="noStrike" baseline="0" dirty="0" err="1">
                <a:latin typeface="CourierNewPSMT"/>
              </a:rPr>
              <a:t>bla</a:t>
            </a:r>
            <a:r>
              <a:rPr lang="en-US" sz="1800" b="0" i="0" u="none" strike="noStrike" baseline="0" dirty="0">
                <a:latin typeface="CourierNewPSMT"/>
              </a:rPr>
              <a:t> = 0; /* </a:t>
            </a:r>
            <a:r>
              <a:rPr lang="en-US" sz="1800" b="0" i="0" u="none" strike="noStrike" baseline="0" dirty="0" err="1">
                <a:latin typeface="CourierNewPSMT"/>
              </a:rPr>
              <a:t>boolean</a:t>
            </a:r>
            <a:r>
              <a:rPr lang="en-US" sz="1800" b="0" i="0" u="none" strike="noStrike" baseline="0" dirty="0">
                <a:latin typeface="CourierNewPSMT"/>
              </a:rPr>
              <a:t> and signed */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cha = 7; /* character and signed */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u8a = 'a'; /* unsigned and character */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u8b = 1 - 2; /* unsigned and signed */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u8c += 'a'; /* u8c = u8c + 'a' assigns character to unsigned */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use_uint32 ( s32a ); /* signed and unsigned */</a:t>
            </a:r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5002" y="2277181"/>
            <a:ext cx="105846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should ensure that assignments are made between compatible types, or if narrowing or different type conversions are necessary, they should be performed explicitly using appropriate type conversion operators or functions.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3183298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BF444-CD70-512E-6856-5752FF934827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894441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B44EAD-9809-7711-9716-CB8F557A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00" y="45868"/>
            <a:ext cx="10263459" cy="923925"/>
          </a:xfrm>
        </p:spPr>
        <p:txBody>
          <a:bodyPr anchor="b">
            <a:normAutofit/>
          </a:bodyPr>
          <a:lstStyle/>
          <a:p>
            <a:r>
              <a:rPr lang="en-IN" sz="4000" dirty="0">
                <a:solidFill>
                  <a:schemeClr val="tx2"/>
                </a:solidFill>
                <a:latin typeface="Engravers MT" panose="02090707080505020304" pitchFamily="18" charset="0"/>
              </a:rPr>
              <a:t>MISRA C -2012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92C8E1-40D9-45CC-B67A-D8B86D2A381E}"/>
              </a:ext>
            </a:extLst>
          </p:cNvPr>
          <p:cNvSpPr txBox="1">
            <a:spLocks/>
          </p:cNvSpPr>
          <p:nvPr/>
        </p:nvSpPr>
        <p:spPr>
          <a:xfrm>
            <a:off x="3432265" y="853500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Misra2012:Rule-10.4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B51FF-E201-359D-4743-DA9B627F1CC1}"/>
              </a:ext>
            </a:extLst>
          </p:cNvPr>
          <p:cNvSpPr txBox="1"/>
          <p:nvPr/>
        </p:nvSpPr>
        <p:spPr>
          <a:xfrm>
            <a:off x="1014918" y="1282752"/>
            <a:ext cx="10834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operands of an operator in which the usual arithmetic conversions are performed shall have the same essential type category</a:t>
            </a:r>
            <a:endParaRPr lang="en-IN" b="1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F9C64-DAA2-791C-A360-DC870B79332D}"/>
              </a:ext>
            </a:extLst>
          </p:cNvPr>
          <p:cNvSpPr txBox="1"/>
          <p:nvPr/>
        </p:nvSpPr>
        <p:spPr>
          <a:xfrm>
            <a:off x="1294826" y="1951115"/>
            <a:ext cx="964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highlight>
                  <a:srgbClr val="FFFF00"/>
                </a:highlight>
                <a:latin typeface="OpenSans"/>
              </a:rPr>
              <a:t>Category</a:t>
            </a:r>
            <a:r>
              <a:rPr lang="en-IN" sz="1800" b="0" i="0" u="none" strike="noStrike" baseline="0" dirty="0">
                <a:latin typeface="OpenSans"/>
              </a:rPr>
              <a:t> –</a:t>
            </a:r>
            <a:r>
              <a:rPr lang="en-IN" sz="1800" b="0" i="0" u="none" strike="noStrike" baseline="0" dirty="0">
                <a:latin typeface="OpenSans-Light"/>
              </a:rPr>
              <a:t>Required    </a:t>
            </a:r>
            <a:r>
              <a:rPr lang="en-IN" sz="1800" b="0" i="0" u="none" strike="noStrike" baseline="0" dirty="0">
                <a:highlight>
                  <a:srgbClr val="FFFF00"/>
                </a:highlight>
                <a:latin typeface="OpenSans-Light"/>
              </a:rPr>
              <a:t>Analysis</a:t>
            </a:r>
            <a:r>
              <a:rPr lang="en-IN" sz="1800" b="0" i="0" u="none" strike="noStrike" baseline="0" dirty="0">
                <a:latin typeface="OpenSans-Light"/>
              </a:rPr>
              <a:t> </a:t>
            </a:r>
            <a:r>
              <a:rPr lang="en-IN" sz="1800" b="0" i="0" u="none" strike="noStrike" baseline="0" dirty="0">
                <a:latin typeface="OpenSans"/>
              </a:rPr>
              <a:t> -</a:t>
            </a:r>
            <a:r>
              <a:rPr lang="en-IN" sz="1800" b="0" i="0" u="none" strike="noStrike" baseline="0" dirty="0">
                <a:latin typeface="OpenSans-Light"/>
              </a:rPr>
              <a:t> Decidable, Single Translation Unit  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B20D6-4372-E7FE-5B7C-3A5C456054FD}"/>
              </a:ext>
            </a:extLst>
          </p:cNvPr>
          <p:cNvSpPr txBox="1"/>
          <p:nvPr/>
        </p:nvSpPr>
        <p:spPr>
          <a:xfrm>
            <a:off x="2440534" y="3186160"/>
            <a:ext cx="9789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OpenSans-Light"/>
              </a:rPr>
              <a:t>The following are non-compliant as they have different </a:t>
            </a:r>
            <a:r>
              <a:rPr lang="en-US" sz="1800" b="0" i="1" u="none" strike="noStrike" baseline="0" dirty="0">
                <a:latin typeface="OpenSansLight-Italic"/>
              </a:rPr>
              <a:t>essential type categories</a:t>
            </a:r>
            <a:r>
              <a:rPr lang="en-US" sz="1800" b="0" i="0" u="none" strike="noStrike" baseline="0" dirty="0">
                <a:latin typeface="OpenSans-Light"/>
              </a:rPr>
              <a:t>:</a:t>
            </a:r>
          </a:p>
          <a:p>
            <a:pPr algn="l"/>
            <a:r>
              <a:rPr lang="en-IN" sz="1800" b="0" i="0" u="none" strike="noStrike" baseline="0" dirty="0">
                <a:latin typeface="OpenSans-Light"/>
              </a:rPr>
              <a:t>The following are non-compliant: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u8b + 2 /* unsigned and signed */</a:t>
            </a:r>
          </a:p>
          <a:p>
            <a:pPr algn="l"/>
            <a:r>
              <a:rPr lang="pt-BR" sz="1800" b="0" i="0" u="none" strike="noStrike" baseline="0" dirty="0">
                <a:latin typeface="CourierNewPSMT"/>
              </a:rPr>
              <a:t>enb &gt; A1 /* enum&lt;enumb&gt; and enum&lt;enuma&gt; */</a:t>
            </a:r>
          </a:p>
          <a:p>
            <a:pPr algn="l"/>
            <a:r>
              <a:rPr lang="pt-BR" sz="1800" b="0" i="0" u="none" strike="noStrike" baseline="0" dirty="0">
                <a:latin typeface="CourierNewPSMT"/>
              </a:rPr>
              <a:t>ena == enb /* enum&lt;enuma&gt; and enum&lt;enumb&gt; */</a:t>
            </a:r>
          </a:p>
          <a:p>
            <a:pPr algn="l"/>
            <a:r>
              <a:rPr lang="en-US" sz="1800" b="0" i="0" u="none" strike="noStrike" baseline="0" dirty="0">
                <a:latin typeface="CourierNewPSMT"/>
              </a:rPr>
              <a:t>u8a += cha /* unsigned and char */</a:t>
            </a:r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AFEE-B117-F80A-3238-35883C77E34C}"/>
              </a:ext>
            </a:extLst>
          </p:cNvPr>
          <p:cNvSpPr txBox="1"/>
          <p:nvPr/>
        </p:nvSpPr>
        <p:spPr>
          <a:xfrm>
            <a:off x="1265002" y="2277181"/>
            <a:ext cx="105846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should ensure that both operands of an operator in arithmetic expressions have the same essential type category. If necessary, explicitly convert one or both operands to a common type before performing the operation to maintain consistency and predictability in the code.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1CA19-A36B-7D93-981A-5F92A3EA59D7}"/>
              </a:ext>
            </a:extLst>
          </p:cNvPr>
          <p:cNvSpPr txBox="1"/>
          <p:nvPr/>
        </p:nvSpPr>
        <p:spPr>
          <a:xfrm>
            <a:off x="1299110" y="3183298"/>
            <a:ext cx="104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F83FA-8028-9A86-9C33-C5C4E99155E5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E46CD-9F4A-8098-4B2E-5ED997D1303C}"/>
              </a:ext>
            </a:extLst>
          </p:cNvPr>
          <p:cNvSpPr txBox="1"/>
          <p:nvPr/>
        </p:nvSpPr>
        <p:spPr>
          <a:xfrm>
            <a:off x="2429404" y="4905593"/>
            <a:ext cx="61175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u="none" strike="noStrike" baseline="0" dirty="0">
                <a:latin typeface="OpenSans-Light"/>
              </a:rPr>
              <a:t>The following are compliant a s they have the same </a:t>
            </a:r>
            <a:r>
              <a:rPr lang="en-US" b="0" i="1" u="none" strike="noStrike" baseline="0" dirty="0">
                <a:latin typeface="OpenSansLight-Italic"/>
              </a:rPr>
              <a:t>essential type category</a:t>
            </a:r>
            <a:r>
              <a:rPr lang="en-US" b="0" i="0" u="none" strike="noStrike" baseline="0" dirty="0">
                <a:latin typeface="OpenSans-Light"/>
              </a:rPr>
              <a:t>:</a:t>
            </a:r>
          </a:p>
          <a:p>
            <a:pPr algn="l"/>
            <a:r>
              <a:rPr lang="pt-BR" b="0" i="0" u="none" strike="noStrike" baseline="0" dirty="0">
                <a:latin typeface="CourierNewPSMT"/>
              </a:rPr>
              <a:t>enum enuma { A1, A2, A3 } ena;</a:t>
            </a:r>
          </a:p>
          <a:p>
            <a:pPr algn="l"/>
            <a:r>
              <a:rPr lang="en-IN" b="0" i="0" u="none" strike="noStrike" baseline="0" dirty="0" err="1">
                <a:latin typeface="CourierNewPSMT"/>
              </a:rPr>
              <a:t>enum</a:t>
            </a:r>
            <a:r>
              <a:rPr lang="en-IN" b="0" i="0" u="none" strike="noStrike" baseline="0" dirty="0">
                <a:latin typeface="CourierNewPSMT"/>
              </a:rPr>
              <a:t> </a:t>
            </a:r>
            <a:r>
              <a:rPr lang="en-IN" b="0" i="0" u="none" strike="noStrike" baseline="0" dirty="0" err="1">
                <a:latin typeface="CourierNewPSMT"/>
              </a:rPr>
              <a:t>enumb</a:t>
            </a:r>
            <a:r>
              <a:rPr lang="en-IN" b="0" i="0" u="none" strike="noStrike" baseline="0" dirty="0">
                <a:latin typeface="CourierNewPSMT"/>
              </a:rPr>
              <a:t> { B1, B2, B3 } </a:t>
            </a:r>
            <a:r>
              <a:rPr lang="en-IN" b="0" i="0" u="none" strike="noStrike" baseline="0" dirty="0" err="1">
                <a:latin typeface="CourierNewPSMT"/>
              </a:rPr>
              <a:t>enb</a:t>
            </a:r>
            <a:r>
              <a:rPr lang="en-IN" b="0" i="0" u="none" strike="noStrike" baseline="0" dirty="0">
                <a:latin typeface="CourierNewPSMT"/>
              </a:rPr>
              <a:t>;</a:t>
            </a:r>
            <a:endParaRPr lang="en-US" b="0" i="0" u="none" strike="noStrike" baseline="0" dirty="0">
              <a:latin typeface="OpenSans-Light"/>
            </a:endParaRPr>
          </a:p>
          <a:p>
            <a:pPr algn="l"/>
            <a:r>
              <a:rPr lang="en-IN" sz="1600" b="0" i="0" u="none" strike="noStrike" baseline="0" dirty="0" err="1">
                <a:latin typeface="CourierNewPSMT"/>
              </a:rPr>
              <a:t>ena</a:t>
            </a:r>
            <a:r>
              <a:rPr lang="en-IN" sz="1600" b="0" i="0" u="none" strike="noStrike" baseline="0" dirty="0">
                <a:latin typeface="CourierNewPSMT"/>
              </a:rPr>
              <a:t> &gt; A1</a:t>
            </a:r>
          </a:p>
          <a:p>
            <a:pPr algn="l"/>
            <a:r>
              <a:rPr lang="en-IN" sz="1600" b="0" i="0" u="none" strike="noStrike" baseline="0" dirty="0">
                <a:latin typeface="CourierNewPSMT"/>
              </a:rPr>
              <a:t>u8a + u16b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50827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D6EE584E-84BC-FC84-2A5F-A0E7AF1256B7}"/>
              </a:ext>
            </a:extLst>
          </p:cNvPr>
          <p:cNvSpPr txBox="1">
            <a:spLocks/>
          </p:cNvSpPr>
          <p:nvPr/>
        </p:nvSpPr>
        <p:spPr>
          <a:xfrm>
            <a:off x="10382250" y="3983"/>
            <a:ext cx="1809445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>
                <a:solidFill>
                  <a:schemeClr val="tx2"/>
                </a:solidFill>
              </a:rPr>
              <a:t>MISRA C -2012</a:t>
            </a:r>
            <a:endParaRPr lang="en-IN" sz="20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F62C7-184B-5339-05CE-F8ADF8CC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47CA1-BCEC-4DD4-9B23-E2AE1AEA27A6}" type="slidenum">
              <a:rPr lang="en-IN" smtClean="0"/>
              <a:t>22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F83FA-8028-9A86-9C33-C5C4E99155E5}"/>
              </a:ext>
            </a:extLst>
          </p:cNvPr>
          <p:cNvSpPr txBox="1"/>
          <p:nvPr/>
        </p:nvSpPr>
        <p:spPr>
          <a:xfrm>
            <a:off x="10532532" y="484168"/>
            <a:ext cx="1451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Session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B6372-1A2E-EFED-FC04-4E80C6211874}"/>
              </a:ext>
            </a:extLst>
          </p:cNvPr>
          <p:cNvSpPr txBox="1"/>
          <p:nvPr/>
        </p:nvSpPr>
        <p:spPr>
          <a:xfrm>
            <a:off x="3590837" y="2170178"/>
            <a:ext cx="611566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dirty="0"/>
              <a:t>Session 2 </a:t>
            </a:r>
          </a:p>
          <a:p>
            <a:r>
              <a:rPr lang="en-IN" sz="8800" dirty="0"/>
              <a:t>       </a:t>
            </a:r>
            <a:r>
              <a:rPr lang="en-IN" sz="6600" dirty="0"/>
              <a:t>END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62409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5451</TotalTime>
  <Words>2850</Words>
  <Application>Microsoft Office PowerPoint</Application>
  <PresentationFormat>Widescreen</PresentationFormat>
  <Paragraphs>355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Aptos</vt:lpstr>
      <vt:lpstr>Aptos Display</vt:lpstr>
      <vt:lpstr>arial</vt:lpstr>
      <vt:lpstr>arial</vt:lpstr>
      <vt:lpstr>CourierNewPSMT</vt:lpstr>
      <vt:lpstr>Engravers MT</vt:lpstr>
      <vt:lpstr>OpenSans</vt:lpstr>
      <vt:lpstr>OpenSans-Light</vt:lpstr>
      <vt:lpstr>OpenSansLight-Italic</vt:lpstr>
      <vt:lpstr>Söhne</vt:lpstr>
      <vt:lpstr>Times New Roman</vt:lpstr>
      <vt:lpstr>Wingdings</vt:lpstr>
      <vt:lpstr>Office Theme</vt:lpstr>
      <vt:lpstr>MISRA C -2012</vt:lpstr>
      <vt:lpstr>PowerPoint Presentation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MISRA C -2012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MISRA C -2023</dc:title>
  <dc:creator>Tipl12</dc:creator>
  <cp:lastModifiedBy>Tipl12</cp:lastModifiedBy>
  <cp:revision>253</cp:revision>
  <dcterms:created xsi:type="dcterms:W3CDTF">2024-03-22T07:02:08Z</dcterms:created>
  <dcterms:modified xsi:type="dcterms:W3CDTF">2024-11-15T06:22:48Z</dcterms:modified>
</cp:coreProperties>
</file>