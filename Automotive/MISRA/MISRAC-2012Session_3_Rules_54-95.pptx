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738" r:id="rId3"/>
    <p:sldId id="692" r:id="rId4"/>
    <p:sldId id="696" r:id="rId5"/>
    <p:sldId id="697" r:id="rId6"/>
    <p:sldId id="698" r:id="rId7"/>
    <p:sldId id="699" r:id="rId8"/>
    <p:sldId id="700" r:id="rId9"/>
    <p:sldId id="701" r:id="rId10"/>
    <p:sldId id="702" r:id="rId11"/>
    <p:sldId id="703" r:id="rId12"/>
    <p:sldId id="704" r:id="rId13"/>
    <p:sldId id="705" r:id="rId14"/>
    <p:sldId id="706" r:id="rId15"/>
    <p:sldId id="707" r:id="rId16"/>
    <p:sldId id="708" r:id="rId17"/>
    <p:sldId id="709" r:id="rId18"/>
    <p:sldId id="710" r:id="rId19"/>
    <p:sldId id="712" r:id="rId20"/>
    <p:sldId id="713" r:id="rId21"/>
    <p:sldId id="714" r:id="rId22"/>
    <p:sldId id="715" r:id="rId23"/>
    <p:sldId id="716" r:id="rId24"/>
    <p:sldId id="717" r:id="rId25"/>
    <p:sldId id="718" r:id="rId26"/>
    <p:sldId id="719" r:id="rId27"/>
    <p:sldId id="720" r:id="rId28"/>
    <p:sldId id="721" r:id="rId29"/>
    <p:sldId id="722" r:id="rId30"/>
    <p:sldId id="723" r:id="rId31"/>
    <p:sldId id="724" r:id="rId32"/>
    <p:sldId id="725" r:id="rId33"/>
    <p:sldId id="726" r:id="rId34"/>
    <p:sldId id="727" r:id="rId35"/>
    <p:sldId id="728" r:id="rId36"/>
    <p:sldId id="729" r:id="rId37"/>
    <p:sldId id="730" r:id="rId38"/>
    <p:sldId id="731" r:id="rId39"/>
    <p:sldId id="732" r:id="rId40"/>
    <p:sldId id="733" r:id="rId41"/>
    <p:sldId id="734" r:id="rId42"/>
    <p:sldId id="735" r:id="rId43"/>
    <p:sldId id="736" r:id="rId44"/>
    <p:sldId id="737" r:id="rId45"/>
    <p:sldId id="69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4" autoAdjust="0"/>
    <p:restoredTop sz="94641" autoAdjust="0"/>
  </p:normalViewPr>
  <p:slideViewPr>
    <p:cSldViewPr snapToGrid="0">
      <p:cViewPr varScale="1">
        <p:scale>
          <a:sx n="77" d="100"/>
          <a:sy n="77" d="100"/>
        </p:scale>
        <p:origin x="1032" y="62"/>
      </p:cViewPr>
      <p:guideLst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C0CE3-64C2-8BE4-F529-68FA24F1C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A8F09-2173-DB5B-9AC9-88D1BC830C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AAA3C-0D47-4815-B047-FF090E9739A4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3F634-5CA8-9230-69BA-CEEDCEF82E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E76C5-64AA-C05F-D72A-6D5DB2130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DB3F2-10F9-4E3C-8D35-B39AAD116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0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21722-3FAF-42AD-B449-C84EF407100E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5608-69BC-4A3A-A24C-10871E1E1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882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D5608-69BC-4A3A-A24C-10871E1E142E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097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FFED-36D7-43B2-F888-9EABB5DED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6D8D7-69F6-2189-E687-C59CE438F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F7BE-2E75-77AB-D65F-4950040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2CA84-D347-4BAF-97F3-11DEC6C01C5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F6083-A183-26B6-370D-B11C32BA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9B87-89A4-BEC0-CA38-DEB8CC6B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11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1E1E-F06E-A7AA-BCFA-D7A1235A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E01B-9010-4A28-75BF-BEBC017D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D907-7E0F-78EE-C3BB-1112EB6C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A3A9-4A49-413A-A80D-084EB205B96C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3002-D866-0E39-AE6D-5E2F88D0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0640E-A427-61CF-ACC6-0F966EE4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10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03C0-997D-2811-523A-68EA8BA9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FE6D8-AD5C-85DE-6EF3-4908CCEA3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35809-DD79-9B47-25BA-93E963DE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9D9E-0D13-4E16-BD68-1DBB35BA5E88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8DD06-AA4D-9ED2-2DA4-5CCFEF57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4DC2-2DC6-8103-9593-03AC7922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4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4AF0-F1DA-E600-1F3D-5CAE8D53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F6802-7FA9-40C6-A738-3C4A09E3B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AD067-9DD0-3B89-CF9C-32D1092C3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AF70E-CF9B-67E5-D5F1-E3EACAA3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18679-1E3D-49AE-AFB6-AE56D52B92D8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787F8-A13B-62EB-F956-0127918C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D254B-F6B3-81D0-8E47-43D336C5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49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6BB3-C3CD-9344-D40C-91D1B13B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D280C-7763-6258-8323-496778AE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B3309-2F1B-ADDA-34E8-AD2D30CD7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36486-85AA-3681-084C-692C3F4F0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9680C-E779-17D2-60FF-29FB6DB4F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234B5-31F1-46AE-18C1-2EB08614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FC5D-BD83-495D-A262-D365429151FD}" type="datetime1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CED9A-5A97-F55C-5156-86BEAB6D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1C6B2-A937-B892-F407-63F6CBAB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1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EE3D-95BE-BDE2-4375-E9FCE599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05EBC-3FCC-87FC-B49C-8C359718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4A5-D437-4D36-B258-FEC4582DD98B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E593F-302D-D4FD-1007-44558FC0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86216-5107-88DF-5C7A-6A76D82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7759D-C61F-7990-D517-A4BDF285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7B17-AEE6-4A7D-9A3D-A09392F485D4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9D4AA-7EBA-3832-421F-5A147424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C5293-7D86-D7BC-DE0A-4659F262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02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3D98-6C16-E9BA-5E19-301BC189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30364-5E1A-9B39-3069-77829F53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86B81-E291-141C-6521-82FEF600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884E5-59A8-DE53-75D9-42322A55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D81C-2B35-4C28-923D-F05C6688615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CBD6-6A54-A9AB-F164-2F173D90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35D2E-548B-32B6-EBD8-6B7D85DA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3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0479-EA5C-320D-F829-764A2E2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4E253-F503-BF9E-F205-FFED791D7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D9114-88BC-744F-6A24-4C939C6A9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78E0A-F634-D52C-AE73-64020501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9A61-A63B-4143-92AB-879CC31FC8ED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8671-8B07-4CD1-F42A-E3CAEEBE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E829-1E77-F739-86C5-ACFF9EBA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1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84DF-F862-841D-A52F-72AEA894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76B6B-FBE1-895C-91B0-67BE8BAA4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79D52-B4A2-46EE-7E70-2677FF4C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1202-0DBA-4B4C-908F-06724AE6692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4A1A-140E-794E-99F6-D87E02B1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8B75-8717-D169-3BC4-30ADA82B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22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C44AC-DE64-58B8-4BB4-30BCA67B3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C749C-F4EF-4973-8E51-41A59D162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6724-209B-7DF2-92FB-1A941B29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9B281-E007-44FF-97DA-DE060F3B3F9F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7517B-C853-8AA5-026D-3FE58496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3087A-B328-CC17-20DF-D52B33FD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0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28427-087B-192A-4412-417CF470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5A91-73F4-933C-A11B-2933EE5E2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9BD1B-1900-D153-8D49-C53D79ACF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33891-03AF-4560-8B10-77BCB7FDFEA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E8CE-D1E7-414D-849C-5281FE841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0EF1-60FF-CCFB-9CC4-C7F81BED5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3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IN" sz="52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F5FAF-ED27-3EA8-9DBE-1A550957A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IN" sz="1500" dirty="0">
                <a:solidFill>
                  <a:schemeClr val="tx2"/>
                </a:solidFill>
              </a:rPr>
              <a:t>Prepared by –Chiranjit Adhikary</a:t>
            </a:r>
          </a:p>
          <a:p>
            <a:r>
              <a:rPr lang="en-IN" sz="1500" dirty="0">
                <a:solidFill>
                  <a:schemeClr val="tx2"/>
                </a:solidFill>
              </a:rPr>
              <a:t>Software Design Engineer 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D979-E106-FED1-90BD-A467B519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44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D979-E106-FED1-90BD-A467B519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CF21B-594D-27CE-50DB-E524D7F9C638}"/>
              </a:ext>
            </a:extLst>
          </p:cNvPr>
          <p:cNvSpPr txBox="1"/>
          <p:nvPr/>
        </p:nvSpPr>
        <p:spPr>
          <a:xfrm>
            <a:off x="4106918" y="2420088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Session </a:t>
            </a:r>
            <a:r>
              <a:rPr lang="en-US" sz="7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endParaRPr lang="en-US" sz="7200" kern="12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8A6A6-E4B6-53B3-0667-78A3F4B49719}"/>
              </a:ext>
            </a:extLst>
          </p:cNvPr>
          <p:cNvSpPr txBox="1"/>
          <p:nvPr/>
        </p:nvSpPr>
        <p:spPr>
          <a:xfrm>
            <a:off x="5127295" y="3429000"/>
            <a:ext cx="2179528" cy="3606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Rules( 54-95)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8B46B-F183-4009-803A-36190197D133}"/>
              </a:ext>
            </a:extLst>
          </p:cNvPr>
          <p:cNvSpPr txBox="1"/>
          <p:nvPr/>
        </p:nvSpPr>
        <p:spPr>
          <a:xfrm>
            <a:off x="2583858" y="3985756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essential type model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D7DB1-1C64-089B-1688-BA391B5277DD}"/>
              </a:ext>
            </a:extLst>
          </p:cNvPr>
          <p:cNvSpPr txBox="1"/>
          <p:nvPr/>
        </p:nvSpPr>
        <p:spPr>
          <a:xfrm>
            <a:off x="2719253" y="442924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type conversions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C93CC-2978-AA1F-DEEF-EFF6ABBFDD3B}"/>
              </a:ext>
            </a:extLst>
          </p:cNvPr>
          <p:cNvSpPr txBox="1"/>
          <p:nvPr/>
        </p:nvSpPr>
        <p:spPr>
          <a:xfrm>
            <a:off x="2858383" y="482820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2382B-FCF7-93D6-845B-124480C9AD2D}"/>
              </a:ext>
            </a:extLst>
          </p:cNvPr>
          <p:cNvSpPr txBox="1"/>
          <p:nvPr/>
        </p:nvSpPr>
        <p:spPr>
          <a:xfrm>
            <a:off x="3080798" y="5197535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AC9A75-91A1-7B6C-0A38-68AEDD3A77A9}"/>
              </a:ext>
            </a:extLst>
          </p:cNvPr>
          <p:cNvSpPr txBox="1"/>
          <p:nvPr/>
        </p:nvSpPr>
        <p:spPr>
          <a:xfrm>
            <a:off x="3308753" y="555304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0141D-7306-9FDF-7685-1E248D993B60}"/>
              </a:ext>
            </a:extLst>
          </p:cNvPr>
          <p:cNvSpPr txBox="1"/>
          <p:nvPr/>
        </p:nvSpPr>
        <p:spPr>
          <a:xfrm>
            <a:off x="3748979" y="593542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D2BB5993-DD85-6478-F210-0E81BA2D1B32}"/>
              </a:ext>
            </a:extLst>
          </p:cNvPr>
          <p:cNvSpPr/>
          <p:nvPr/>
        </p:nvSpPr>
        <p:spPr>
          <a:xfrm rot="19720716">
            <a:off x="2971509" y="4081173"/>
            <a:ext cx="315981" cy="2438400"/>
          </a:xfrm>
          <a:prstGeom prst="curvedRightArrow">
            <a:avLst>
              <a:gd name="adj1" fmla="val 12981"/>
              <a:gd name="adj2" fmla="val 16676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960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an expression should not be cast to an inappropriate essential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17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1309454" y="3301319"/>
            <a:ext cx="97294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false /* Compliant - C99 'false' is essentially Boolean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int32_t ) 3U /* Compliant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0 /* Compliant - by exception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int32_t )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char ) enc /* Compliant */</a:t>
            </a:r>
          </a:p>
          <a:p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3U /* Non-compliant */</a:t>
            </a:r>
          </a:p>
          <a:p>
            <a:pPr algn="l"/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34496" y="196402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casts that should be avoided are shown in the following table, where values are cast (explicitly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converted) to the </a:t>
            </a:r>
            <a:r>
              <a:rPr lang="en-US" sz="1800" b="0" i="1" u="none" strike="noStrike" baseline="0" dirty="0">
                <a:latin typeface="OpenSansLight-Italic"/>
              </a:rPr>
              <a:t>essential type category </a:t>
            </a:r>
            <a:r>
              <a:rPr lang="en-US" sz="1800" b="0" i="0" u="none" strike="noStrike" baseline="0" dirty="0">
                <a:latin typeface="OpenSans-Light"/>
              </a:rPr>
              <a:t>of the first column.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08679" y="269735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633293-78D7-7FBF-DEC0-D09329FC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89" y="3762056"/>
            <a:ext cx="5179052" cy="27800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98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</a:t>
            </a:r>
            <a:endParaRPr lang="en-IN" kern="100" dirty="0">
              <a:solidFill>
                <a:srgbClr val="666666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composite expression shall not be assigned to an object with wider essential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17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1154224" y="3134023"/>
            <a:ext cx="9729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u16c = u16a + u16b; /* Same essential type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u32a = ( uint32_t ) u16a + u16b; /* Cast causes addiction in uint32_t */</a:t>
            </a:r>
          </a:p>
          <a:p>
            <a:pPr algn="l"/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non-compliant: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u32a = u16a + u16b; /* Implicit conversion on assignment */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34496" y="198369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result of an expression to a variable that has a wider type, which can lead to unintended data widening and potential loss of information.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154224" y="273057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651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a composite expression is used as one operand of an operator in which the usual arithmetic conversions are performed, then the other operand shall not have wider essential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909060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1161554" y="3444478"/>
            <a:ext cx="9729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compliant:</a:t>
            </a:r>
          </a:p>
          <a:p>
            <a:pPr algn="l"/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u32a * u16a + u16b /* No composite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algn="l"/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u32a * u16a ) + u16b /* No composite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non-compliant:</a:t>
            </a:r>
          </a:p>
          <a:p>
            <a:pPr algn="l"/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u32a * ( u16a + u16b ) /*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u16a + u16b ) */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34496" y="2219671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Restricting implicit conversions on </a:t>
            </a:r>
            <a:r>
              <a:rPr lang="en-US" sz="1800" b="0" i="1" u="none" strike="noStrike" baseline="0" dirty="0">
                <a:latin typeface="OpenSansLight-Italic"/>
              </a:rPr>
              <a:t>composite expressions </a:t>
            </a:r>
            <a:r>
              <a:rPr lang="en-US" sz="1800" b="0" i="0" u="none" strike="noStrike" baseline="0" dirty="0">
                <a:latin typeface="OpenSans-Light"/>
              </a:rPr>
              <a:t>means that sequences of arithmetic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operations within an expression must be conducted in the same </a:t>
            </a:r>
            <a:r>
              <a:rPr lang="en-US" sz="1800" b="0" i="1" u="none" strike="noStrike" baseline="0" dirty="0">
                <a:latin typeface="OpenSansLight-Italic"/>
              </a:rPr>
              <a:t>essential type</a:t>
            </a:r>
            <a:r>
              <a:rPr lang="en-US" sz="1800" b="0" i="0" u="none" strike="noStrike" baseline="0" dirty="0">
                <a:latin typeface="OpenSans-Light"/>
              </a:rPr>
              <a:t>. This reduces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possible developer confusion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49687" y="309065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376548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02385-A359-9D9E-AFCA-D85A76244DD8}"/>
              </a:ext>
            </a:extLst>
          </p:cNvPr>
          <p:cNvSpPr txBox="1"/>
          <p:nvPr/>
        </p:nvSpPr>
        <p:spPr>
          <a:xfrm>
            <a:off x="1781027" y="1916090"/>
            <a:ext cx="99390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compliant because there is no composite conversion. The multiplication u32a * u16a is evaluated first, then the result is added to u16b. The addition does not involve a wider type than the multiplication result.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CA221E-5CEE-2781-E91F-F36CACEA5C1C}"/>
              </a:ext>
            </a:extLst>
          </p:cNvPr>
          <p:cNvSpPr txBox="1"/>
          <p:nvPr/>
        </p:nvSpPr>
        <p:spPr>
          <a:xfrm>
            <a:off x="1769777" y="1588890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u32a * u16a + u16b /* No </a:t>
            </a:r>
            <a:r>
              <a:rPr lang="es-ES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osite </a:t>
            </a:r>
            <a:r>
              <a:rPr lang="es-ES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DB1735-B177-C457-2D0F-705185BB6960}"/>
              </a:ext>
            </a:extLst>
          </p:cNvPr>
          <p:cNvSpPr txBox="1"/>
          <p:nvPr/>
        </p:nvSpPr>
        <p:spPr>
          <a:xfrm>
            <a:off x="1769777" y="3997720"/>
            <a:ext cx="10041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non-compliant because u16a + u16b is evaluated first, resulting in a uint16_t. When this result is multiplied by u32a, an implicit conversion occurs, promoting the uint16_t result to uint32_t.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BA486-9BF0-B4AA-62E0-5B50B63391A9}"/>
              </a:ext>
            </a:extLst>
          </p:cNvPr>
          <p:cNvSpPr txBox="1"/>
          <p:nvPr/>
        </p:nvSpPr>
        <p:spPr>
          <a:xfrm>
            <a:off x="1769777" y="3510903"/>
            <a:ext cx="667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u32a * ( u16a + u16b ) /* </a:t>
            </a:r>
            <a:r>
              <a:rPr lang="es-ES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E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 u16a + u16b ) */</a:t>
            </a:r>
          </a:p>
        </p:txBody>
      </p:sp>
    </p:spTree>
    <p:extLst>
      <p:ext uri="{BB962C8B-B14F-4D97-AF65-F5344CB8AC3E}">
        <p14:creationId xmlns:p14="http://schemas.microsoft.com/office/powerpoint/2010/main" val="412807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composite expression shall not be cast to a different essential type category or a wider essential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909060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1265904" y="3182264"/>
            <a:ext cx="92666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Compliant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(uint16_t) (u32a + u32b); //Cast after the operation on compatible types.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(uint16_t) s32a; Simple cast without composite expression.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Non-compliant: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(uint16_t) (s32a + s32b); Different essential type categories.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(uint32_t) (u16a + u16b); Cast to a wider essential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2219671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Casting to a narrower type with the same </a:t>
            </a:r>
            <a:r>
              <a:rPr lang="en-US" sz="1800" b="0" i="1" u="none" strike="noStrike" baseline="0" dirty="0">
                <a:latin typeface="OpenSansLight-Italic"/>
              </a:rPr>
              <a:t>essential type category </a:t>
            </a:r>
            <a:r>
              <a:rPr lang="en-US" sz="1800" b="0" i="0" u="none" strike="noStrike" baseline="0" dirty="0">
                <a:latin typeface="OpenSans-Light"/>
              </a:rPr>
              <a:t>is acceptable as the explicit truncation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of the result always leads to the same loss of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08679" y="284484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80568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Conversions shall not be performed between a pointer to a function and any other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MISRA C rule states that you should not perform type conversions between function pointers and any other type, including: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OpenSans-Light"/>
              </a:rPr>
              <a:t>Converting a function pointer to an integer or vice versa.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OpenSans-Light"/>
              </a:rPr>
              <a:t>Converting a function pointer to a data pointer (e.g., void*) or vice versa.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OpenSans-Light"/>
              </a:rPr>
              <a:t>Converting a function pointer to a pointer of a different function type.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3392200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1210778" y="3761532"/>
            <a:ext cx="701950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typedef void ( *fp16 ) ( int16_t n );</a:t>
            </a:r>
          </a:p>
          <a:p>
            <a:pPr algn="l"/>
            <a:r>
              <a:rPr lang="en-IN" sz="1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typedef void ( *fp32 ) ( int32_t n );</a:t>
            </a: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/* To obtain macro-NULL */</a:t>
            </a:r>
          </a:p>
          <a:p>
            <a:pPr algn="l"/>
            <a:r>
              <a:rPr lang="fr-FR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fp16 fp1 = NULL; /* Compliant - exception 1 */</a:t>
            </a:r>
          </a:p>
          <a:p>
            <a:pPr algn="l"/>
            <a:r>
              <a:rPr lang="fr-FR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fp32 fp2 = ( fp32 ) fp1; /* Non-compliant - </a:t>
            </a:r>
            <a:r>
              <a:rPr lang="fr-FR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fr-FR" sz="16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pointer into different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function pointer */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fp2 != NULL ) /* Compliant - exception 1 */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fp16 fp3 = ( fp16 ) 0x8000; /* Non-compliant - integer into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function pointer */</a:t>
            </a:r>
          </a:p>
        </p:txBody>
      </p:sp>
    </p:spTree>
    <p:extLst>
      <p:ext uri="{BB962C8B-B14F-4D97-AF65-F5344CB8AC3E}">
        <p14:creationId xmlns:p14="http://schemas.microsoft.com/office/powerpoint/2010/main" val="224355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Conversions shall not be performed between a pointer to an incomplete type and any other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conversion of a pointer to a function into or from any of:</a:t>
            </a:r>
          </a:p>
          <a:p>
            <a:pPr algn="l"/>
            <a:r>
              <a:rPr lang="en-IN" sz="1800" b="0" i="0" u="none" strike="noStrike" baseline="0" dirty="0">
                <a:latin typeface="OpenSans-Extrabold"/>
              </a:rPr>
              <a:t>• </a:t>
            </a:r>
            <a:r>
              <a:rPr lang="en-IN" sz="1800" b="0" i="0" u="none" strike="noStrike" baseline="0" dirty="0">
                <a:latin typeface="OpenSans-Light"/>
              </a:rPr>
              <a:t>Pointer to object;</a:t>
            </a:r>
          </a:p>
          <a:p>
            <a:pPr algn="l"/>
            <a:r>
              <a:rPr lang="en-IN" sz="1800" b="0" i="0" u="none" strike="noStrike" baseline="0" dirty="0">
                <a:latin typeface="OpenSans-Extrabold"/>
              </a:rPr>
              <a:t>• </a:t>
            </a:r>
            <a:r>
              <a:rPr lang="en-IN" sz="1800" b="0" i="0" u="none" strike="noStrike" baseline="0" dirty="0">
                <a:latin typeface="OpenSans-Light"/>
              </a:rPr>
              <a:t>Pointer to incomplete;</a:t>
            </a:r>
          </a:p>
          <a:p>
            <a:pPr algn="l"/>
            <a:r>
              <a:rPr lang="en-IN" sz="1800" b="0" i="0" u="none" strike="noStrike" baseline="0" dirty="0">
                <a:latin typeface="OpenSans-Extrabold"/>
              </a:rPr>
              <a:t>• </a:t>
            </a:r>
            <a:r>
              <a:rPr lang="en-IN" sz="1800" b="0" i="1" u="none" strike="noStrike" baseline="0" dirty="0">
                <a:latin typeface="OpenSansLight-Italic"/>
              </a:rPr>
              <a:t>void *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results in undefined </a:t>
            </a:r>
            <a:r>
              <a:rPr lang="en-IN" sz="1800" b="0" i="0" u="none" strike="noStrike" baseline="0" dirty="0" err="1">
                <a:latin typeface="OpenSans-Light"/>
              </a:rPr>
              <a:t>behavior</a:t>
            </a:r>
            <a:r>
              <a:rPr lang="en-IN" sz="1800" b="0" i="0" u="none" strike="noStrike" baseline="0" dirty="0">
                <a:latin typeface="OpenSans-Light"/>
              </a:rPr>
              <a:t>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3905" y="3276372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1256290" y="3592072"/>
            <a:ext cx="70195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s; /* Incomplete type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t; /* A different incomplete type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t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/* To obtain macro NULL */</a:t>
            </a:r>
          </a:p>
          <a:p>
            <a:pPr algn="l"/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 int16_t * ) </a:t>
            </a:r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Non-compliant */</a:t>
            </a:r>
          </a:p>
          <a:p>
            <a:pPr algn="l"/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 struct s * ) 1234; /* Non-compliant */</a:t>
            </a:r>
          </a:p>
          <a:p>
            <a:pPr algn="l"/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 struct t * )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Non-compliant - casting pointer into a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different incomplete type */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NULL; /* Compliant - exception 1 */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55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cast shall not be performed between a pointer to an object type and a pointer to a different object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Casting a pointer to an object into a pointer to a different object may result in a pointer that is not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correctly aligned, resulting in undefine behavior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1210778" y="2863712"/>
            <a:ext cx="70195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a = 10; 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*p1 = &amp;a;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*p2 = (int32_t *)p1; /* Compliant - casting to the same type */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a = 10; 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*p1 = &amp;a;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*p2 = (</a:t>
            </a:r>
            <a:r>
              <a:rPr lang="en-IN" sz="1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*)p1; /* Non-compliant - casting between different types */</a:t>
            </a:r>
          </a:p>
        </p:txBody>
      </p:sp>
    </p:spTree>
    <p:extLst>
      <p:ext uri="{BB962C8B-B14F-4D97-AF65-F5344CB8AC3E}">
        <p14:creationId xmlns:p14="http://schemas.microsoft.com/office/powerpoint/2010/main" val="49329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conversion should not be performed between a pointer to object and an integer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 pointer should not be converted into an integer.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An integer should not be converted into a pointer.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583416"/>
            <a:ext cx="70195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uint8_t *PORTA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uint8_t *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0x0002;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*p;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</a:t>
            </a:r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t32_t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&amp;p; /* Non-compliant */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uint8_t *q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uint8_t *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Non-compliant */</a:t>
            </a:r>
          </a:p>
          <a:p>
            <a:pPr algn="l"/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( </a:t>
            </a:r>
            <a:r>
              <a:rPr lang="fr-FR" sz="1800" i="0" u="none" strike="noStrike" baseline="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fr-FR" sz="180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p; /* Non-compliant */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etag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A, B } e = ( </a:t>
            </a:r>
            <a:r>
              <a:rPr lang="en-IN" sz="1800" b="0" i="0" u="none" strike="noStrike" baseline="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u="none" strike="noStrike" baseline="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etag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p; /* Non-compliant */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79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conversion should not be performed from pointer to void into pointer to object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Conversion of a pointer to </a:t>
            </a:r>
            <a:r>
              <a:rPr lang="en-US" sz="1800" b="0" i="1" u="none" strike="noStrike" baseline="0" dirty="0">
                <a:latin typeface="OpenSansLight-Italic"/>
              </a:rPr>
              <a:t>void </a:t>
            </a:r>
            <a:r>
              <a:rPr lang="en-US" sz="1800" b="0" i="0" u="none" strike="noStrike" baseline="0" dirty="0">
                <a:latin typeface="OpenSans-Light"/>
              </a:rPr>
              <a:t>into a pointer to an object may result in a pointer that is not correctly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aligned, resulting in undefined behaviour.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583416"/>
            <a:ext cx="7224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uint32_t *p32;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*p;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*p16;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p32; /* Compliant - pointer to uint32_t into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pointer to void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p16 = 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 void * ) p16; /* Compliant */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p32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uint32_t *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p; /* Non-compliant */</a:t>
            </a:r>
          </a:p>
        </p:txBody>
      </p:sp>
    </p:spTree>
    <p:extLst>
      <p:ext uri="{BB962C8B-B14F-4D97-AF65-F5344CB8AC3E}">
        <p14:creationId xmlns:p14="http://schemas.microsoft.com/office/powerpoint/2010/main" val="1122794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cast shall not be performed between pointer to void and an arithmetic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Conversion of an integer into a pointer to </a:t>
            </a:r>
            <a:r>
              <a:rPr lang="en-US" sz="1800" b="0" i="1" u="none" strike="noStrike" baseline="0" dirty="0">
                <a:latin typeface="OpenSansLight-Italic"/>
              </a:rPr>
              <a:t>void </a:t>
            </a:r>
            <a:r>
              <a:rPr lang="en-US" sz="1800" b="0" i="0" u="none" strike="noStrike" baseline="0" dirty="0">
                <a:latin typeface="OpenSans-Light"/>
              </a:rPr>
              <a:t>may result in a pointer that is not correctly aligned,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resulting in undefined behaviour.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583416"/>
            <a:ext cx="7224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* p;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uint32_t u;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implementation-defined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 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) 0x1234u;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undefined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 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) 1024.0f;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implementation-defined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= ( </a:t>
            </a:r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uint32_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) p;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18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cast shall not be performed between pointer to object and a non-integer arithmetic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Conversion of an </a:t>
            </a:r>
            <a:r>
              <a:rPr lang="en-US" sz="1800" b="0" i="1" u="none" strike="noStrike" baseline="0" dirty="0">
                <a:latin typeface="OpenSansLight-Italic"/>
              </a:rPr>
              <a:t>essentially Boolean</a:t>
            </a:r>
            <a:r>
              <a:rPr lang="en-US" sz="1800" b="0" i="0" u="none" strike="noStrike" baseline="0" dirty="0">
                <a:latin typeface="OpenSans-Light"/>
              </a:rPr>
              <a:t>, </a:t>
            </a:r>
            <a:r>
              <a:rPr lang="en-US" sz="1800" b="0" i="1" u="none" strike="noStrike" baseline="0" dirty="0">
                <a:latin typeface="OpenSansLight-Italic"/>
              </a:rPr>
              <a:t>essentially character, </a:t>
            </a:r>
            <a:r>
              <a:rPr lang="en-US" sz="1800" b="0" i="0" u="none" strike="noStrike" baseline="0" dirty="0">
                <a:latin typeface="OpenSans-Light"/>
              </a:rPr>
              <a:t>or </a:t>
            </a:r>
            <a:r>
              <a:rPr lang="en-US" sz="1800" b="0" i="1" u="none" strike="noStrike" baseline="0" dirty="0">
                <a:latin typeface="OpenSansLight-Italic"/>
              </a:rPr>
              <a:t>essentially </a:t>
            </a:r>
            <a:r>
              <a:rPr lang="en-US" sz="1800" b="0" i="1" u="none" strike="noStrike" baseline="0" dirty="0" err="1">
                <a:latin typeface="OpenSansLight-Italic"/>
              </a:rPr>
              <a:t>enum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type into a pointer to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object may result in a pointer that is not correctly aligned, resulting in undefined behavior.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583416"/>
            <a:ext cx="7224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* p;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float32_t f;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float32_t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p; /* Non-compliant */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int16_t *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f; /* Non-compliant */</a:t>
            </a:r>
          </a:p>
        </p:txBody>
      </p:sp>
    </p:spTree>
    <p:extLst>
      <p:ext uri="{BB962C8B-B14F-4D97-AF65-F5344CB8AC3E}">
        <p14:creationId xmlns:p14="http://schemas.microsoft.com/office/powerpoint/2010/main" val="400715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cast shall not remove any const or volatile qualification from the type pointed to by a pointer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Any attempt to remove the qualification associated with the addressed type by using casting is a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violation of the principle of type qualification.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1282918" y="2930607"/>
            <a:ext cx="72247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x;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cpi = &amp;x;   //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to uint16_t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pcpi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// pointer to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to uint16_t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// pointer to pointer to uint16_t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uint16_t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// pointer to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uint16_t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uint16_t *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// pointer to volatile uint16_t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*pi;                // pointer to uint16_t</a:t>
            </a:r>
          </a:p>
          <a:p>
            <a:pPr algn="l"/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= cpi;                    // Compliant - no conversion, no cast required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= (uint16_t *)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// Non-compliant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= (uint16_t *)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// Non-compliant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(uint16_t * *)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pcpi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// Non-compliant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90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Misra2012:Rule-11.9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macro NULL shall be the only permitted form of integer null pointer constant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14872"/>
            <a:ext cx="1058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Using </a:t>
            </a:r>
            <a:r>
              <a:rPr lang="en-US" sz="1800" b="0" i="0" u="none" strike="noStrike" baseline="0" dirty="0">
                <a:latin typeface="CourierNewPSMT"/>
              </a:rPr>
              <a:t>NULL </a:t>
            </a:r>
            <a:r>
              <a:rPr lang="en-US" sz="1800" b="0" i="0" u="none" strike="noStrike" baseline="0" dirty="0">
                <a:latin typeface="OpenSans-Light"/>
              </a:rPr>
              <a:t>rather than 0 makes it clear that a </a:t>
            </a:r>
            <a:r>
              <a:rPr lang="en-US" sz="1800" b="0" i="1" u="none" strike="noStrike" baseline="0" dirty="0">
                <a:latin typeface="OpenSansLight-Italic"/>
              </a:rPr>
              <a:t>null pointer constant </a:t>
            </a:r>
            <a:r>
              <a:rPr lang="en-US" sz="1800" b="0" i="0" u="none" strike="noStrike" baseline="0" dirty="0">
                <a:latin typeface="OpenSans-Light"/>
              </a:rPr>
              <a:t>was intended..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56629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583416"/>
            <a:ext cx="72247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*p1 = 0; /* Non-compliant */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*p2 = 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1800" b="0" i="0" u="none" strike="noStrike" baseline="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* ) 0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Compliant */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MY_NULL_1 0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MY_NULL_2 </a:t>
            </a:r>
            <a:r>
              <a:rPr lang="en-US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 void * ) 0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p1 == MY_NULL_1 )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p2 == MY_NULL_2 )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A5EDBA-B4D2-01B6-80D0-683F380F642E}"/>
              </a:ext>
            </a:extLst>
          </p:cNvPr>
          <p:cNvSpPr txBox="1"/>
          <p:nvPr/>
        </p:nvSpPr>
        <p:spPr>
          <a:xfrm>
            <a:off x="7010400" y="2503801"/>
            <a:ext cx="6115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Using 0 directly, as in MY_NULL_1, is non-compliant because it does not explicitly indicate a null pointer constant.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0D393A-CC89-93A4-1AC2-AAD9FFBDE749}"/>
              </a:ext>
            </a:extLst>
          </p:cNvPr>
          <p:cNvSpPr txBox="1"/>
          <p:nvPr/>
        </p:nvSpPr>
        <p:spPr>
          <a:xfrm>
            <a:off x="5741557" y="5854878"/>
            <a:ext cx="65187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Correct Usage: MY_NULL_2, which expands to (void *)0, is compliant because it explicitly represents a null pointer constant.</a:t>
            </a:r>
          </a:p>
        </p:txBody>
      </p:sp>
    </p:spTree>
    <p:extLst>
      <p:ext uri="{BB962C8B-B14F-4D97-AF65-F5344CB8AC3E}">
        <p14:creationId xmlns:p14="http://schemas.microsoft.com/office/powerpoint/2010/main" val="3560477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Misra2012:Rule-12.1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precedence of operators within expressions should be made explicit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042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521438-9C0E-6FF1-CA7A-B0C42504EE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06816" y="2128550"/>
            <a:ext cx="6090233" cy="45727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398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Misra2012:Rule-12.2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right-hand operand of a shift operator shall lie in the range zero to one less than the width in bits of the essential type of the left-hand operand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928727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223933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If the right-hand operand is negative, or greater than or equal to the width of the left-hand operand,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then the behavior is undefined.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89075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907882"/>
            <a:ext cx="72247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u8a = u8a &lt;&lt; 7;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u8a = u8a &lt;&lt; 8; /* Non-compliant */</a:t>
            </a:r>
          </a:p>
          <a:p>
            <a:pPr algn="l"/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u16a = ( uint16_t ) u8a &lt;&lt; 9; /*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Compliant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understanding the following examples, it should be noted that the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type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1u is</a:t>
            </a:r>
          </a:p>
          <a:p>
            <a:pPr algn="l"/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unsigned char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whereas the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type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1UL is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unsigned long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1u &lt;&lt; 10u;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uint16_t ) 1u &lt;&lt; 10u;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1UL &lt;&lt; 10u; /* Compliant */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00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Misra2012:Rule-12.3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comma operator should not be used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24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64035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Use of the comma operator is generally detrimental to the readability of code, and the same eff </a:t>
            </a:r>
            <a:r>
              <a:rPr lang="en-US" sz="1800" b="0" i="0" u="none" strike="noStrike" baseline="0" dirty="0" err="1">
                <a:latin typeface="OpenSans-Light"/>
              </a:rPr>
              <a:t>ect</a:t>
            </a:r>
            <a:endParaRPr lang="en-US" sz="1800" b="0" i="0" u="none" strike="noStrike" baseline="0" dirty="0">
              <a:latin typeface="OpenSans-Light"/>
            </a:endParaRP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can usually be achieved by other means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61545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681739"/>
            <a:ext cx="7224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 ( 1, 2 ), 3 ); /* Non-compliant - how many parameters? */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05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Misra2012:Rule-12.4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constant expressions should not lead to unsigned integer wrap-around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24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C90, C99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3992" y="1964035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Unsigned integer expressions do not strictly overflow, but instead wrap-around. Although there may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be good reasons to use modulo arithmetic at run-time, it is less likely for its use to be intentional at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compile-time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39810" y="282192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843504" y="2888212"/>
            <a:ext cx="72247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the expression DELAY + WIDTH has the value 70 000 but this will wrap-around to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4 464 on a machine with a 16-bit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DELAY 10000u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WIDTH 60000u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fixed_pulse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void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off_time16 = DELAY + WIDTH;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CBC0CC-2CD4-2BD7-31D4-3CAA34024F81}"/>
              </a:ext>
            </a:extLst>
          </p:cNvPr>
          <p:cNvSpPr txBox="1"/>
          <p:nvPr/>
        </p:nvSpPr>
        <p:spPr>
          <a:xfrm>
            <a:off x="2819487" y="5730276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65535 is the maximum value of an unsigned 16-bit integer.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465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endParaRPr lang="en-IN" kern="100" dirty="0">
              <a:solidFill>
                <a:srgbClr val="666666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Initializer lists shall not contain persistent side effects</a:t>
            </a:r>
            <a:endParaRPr lang="en-IN" b="1" kern="100" dirty="0">
              <a:effectLst/>
              <a:highlight>
                <a:srgbClr val="80808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24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81835" y="318454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4E0-B97D-54DE-AC0E-669E792686E0}"/>
              </a:ext>
            </a:extLst>
          </p:cNvPr>
          <p:cNvSpPr txBox="1"/>
          <p:nvPr/>
        </p:nvSpPr>
        <p:spPr>
          <a:xfrm>
            <a:off x="2942380" y="3184545"/>
            <a:ext cx="72247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u int16_t v1;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f ( void )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volatile access is a persistent side effect */</a:t>
            </a:r>
          </a:p>
          <a:p>
            <a:pPr algn="l"/>
            <a:r>
              <a:rPr lang="fr-F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a[ 2 ] = { v1, 0 };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fr-FR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( uint16_t x, uint16_t y )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- no side effects */</a:t>
            </a:r>
          </a:p>
          <a:p>
            <a:pPr algn="l"/>
            <a:r>
              <a:rPr lang="fr-F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a[ 2 ] = { x + y, x - y };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294624" y="2022756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C90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constrains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initializers for automatic objects with aggregate types to contain only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</a:p>
          <a:p>
            <a:pPr algn="l"/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C99 permits automatic aggregate initializers to contain expressions that are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at run-time.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35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an expression and its persistent side effects shall be the same under all permitted evaluation orders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131104" y="402735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1. No object shall be modified more than once;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2. No object shall be both modified and read unless any such read of the object’s value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contributes towards computing the value to be stored in the object;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3. There shall be no more than one modification access with </a:t>
            </a:r>
            <a:r>
              <a:rPr lang="en-US" sz="1800" b="0" i="1" u="none" strike="noStrike" baseline="0" dirty="0">
                <a:latin typeface="OpenSansLight-Italic"/>
              </a:rPr>
              <a:t>volatile-qualified</a:t>
            </a:r>
            <a:r>
              <a:rPr lang="en-US" sz="1800" b="0" i="0" u="none" strike="noStrike" baseline="0" dirty="0">
                <a:latin typeface="OpenSans-Light"/>
              </a:rPr>
              <a:t> type;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4. There shall be no more than one read access with </a:t>
            </a:r>
            <a:r>
              <a:rPr lang="en-US" sz="1800" b="0" i="1" u="none" strike="noStrike" baseline="0" dirty="0">
                <a:latin typeface="OpenSansLight-Italic"/>
              </a:rPr>
              <a:t>volatile-qualified</a:t>
            </a:r>
            <a:r>
              <a:rPr lang="en-US" sz="1800" b="0" i="0" u="none" strike="noStrike" baseline="0" dirty="0">
                <a:latin typeface="OpenSans-Light"/>
              </a:rPr>
              <a:t> type.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8511C-A866-FB4F-8431-6739C8C1CA46}"/>
              </a:ext>
            </a:extLst>
          </p:cNvPr>
          <p:cNvSpPr txBox="1"/>
          <p:nvPr/>
        </p:nvSpPr>
        <p:spPr>
          <a:xfrm>
            <a:off x="1219301" y="4546993"/>
            <a:ext cx="6410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nt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 =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++ + 1; //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 is modified twice within the same expression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F6A6BE-48B7-9BA0-E680-DC54E808EC2E}"/>
              </a:ext>
            </a:extLst>
          </p:cNvPr>
          <p:cNvSpPr txBox="1"/>
          <p:nvPr/>
        </p:nvSpPr>
        <p:spPr>
          <a:xfrm>
            <a:off x="1239810" y="4917666"/>
            <a:ext cx="963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i</a:t>
            </a:r>
            <a:r>
              <a:rPr lang="en-IN" dirty="0"/>
              <a:t> + (</a:t>
            </a:r>
            <a:r>
              <a:rPr lang="en-IN" dirty="0" err="1"/>
              <a:t>i</a:t>
            </a:r>
            <a:r>
              <a:rPr lang="en-IN" dirty="0"/>
              <a:t> = 2);  // </a:t>
            </a:r>
            <a:r>
              <a:rPr lang="en-IN" dirty="0" err="1"/>
              <a:t>i</a:t>
            </a:r>
            <a:r>
              <a:rPr lang="en-IN" dirty="0"/>
              <a:t> is read and modified in an unpredictable manner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D0A1B2-0D40-0617-B6A0-22987C26A9F6}"/>
              </a:ext>
            </a:extLst>
          </p:cNvPr>
          <p:cNvSpPr txBox="1"/>
          <p:nvPr/>
        </p:nvSpPr>
        <p:spPr>
          <a:xfrm>
            <a:off x="1257619" y="5251815"/>
            <a:ext cx="8781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volatile int v;</a:t>
            </a:r>
          </a:p>
          <a:p>
            <a:r>
              <a:rPr lang="en-IN" dirty="0"/>
              <a:t>v = v + 1;  // This might involve multiple reads and writes, leading to issues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99A75C-7285-0ED8-FF6B-F44AE51285F9}"/>
              </a:ext>
            </a:extLst>
          </p:cNvPr>
          <p:cNvSpPr txBox="1"/>
          <p:nvPr/>
        </p:nvSpPr>
        <p:spPr>
          <a:xfrm>
            <a:off x="1219301" y="5867493"/>
            <a:ext cx="6410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volatile int v;</a:t>
            </a:r>
          </a:p>
          <a:p>
            <a:r>
              <a:rPr lang="en-IN" dirty="0"/>
              <a:t>int a = v + v;  // Two read accesses to the volatile variable `</a:t>
            </a:r>
            <a:r>
              <a:rPr lang="en-IN" dirty="0" err="1"/>
              <a:t>v`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897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full expression containing an increment (++) or decrement (--) operator should have no other potential side effects other than that caused by the increment or decrement operator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131104" y="402735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use of increment and decrement operators in combination with other operators is not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recommended because:</a:t>
            </a:r>
          </a:p>
          <a:p>
            <a:pPr algn="l"/>
            <a:r>
              <a:rPr lang="en-US" sz="1800" b="0" i="0" u="none" strike="noStrike" baseline="0" dirty="0">
                <a:latin typeface="OpenSans-Extrabold"/>
              </a:rPr>
              <a:t>• </a:t>
            </a:r>
            <a:r>
              <a:rPr lang="en-US" sz="1800" b="0" i="0" u="none" strike="noStrike" baseline="0" dirty="0">
                <a:latin typeface="OpenSans-Light"/>
              </a:rPr>
              <a:t>It can significantly impair the readability of the code;</a:t>
            </a:r>
          </a:p>
          <a:p>
            <a:pPr algn="l"/>
            <a:r>
              <a:rPr lang="en-US" sz="1800" b="0" i="0" u="none" strike="noStrike" baseline="0" dirty="0">
                <a:latin typeface="OpenSans-Extrabold"/>
              </a:rPr>
              <a:t>• </a:t>
            </a:r>
            <a:r>
              <a:rPr lang="en-US" sz="1800" b="0" i="0" u="none" strike="noStrike" baseline="0" dirty="0">
                <a:latin typeface="OpenSans-Light"/>
              </a:rPr>
              <a:t>It introduces additional </a:t>
            </a:r>
            <a:r>
              <a:rPr lang="en-US" sz="1800" b="0" i="1" u="none" strike="noStrike" baseline="0" dirty="0">
                <a:latin typeface="OpenSansLight-Italic"/>
              </a:rPr>
              <a:t>side effects </a:t>
            </a:r>
            <a:r>
              <a:rPr lang="en-US" sz="1800" b="0" i="0" u="none" strike="noStrike" baseline="0" dirty="0">
                <a:latin typeface="OpenSans-Light"/>
              </a:rPr>
              <a:t>into a statement with the potential for undefined behaviors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(covered by Rule 13.2).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It is clearer to use these operations in isolation from any other operators.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1151974" y="4396687"/>
            <a:ext cx="6713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u8a = u8b++;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non-compliant. The non-compliant expression statement: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u8a = ++u8b + u8c--;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clearer when written as the following sequence:</a:t>
            </a:r>
          </a:p>
          <a:p>
            <a:pPr algn="l"/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++u8b;</a:t>
            </a:r>
          </a:p>
          <a:p>
            <a:pPr algn="l"/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u8a = u8b + u8c;</a:t>
            </a:r>
          </a:p>
          <a:p>
            <a:pPr algn="l"/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u8c--;</a:t>
            </a:r>
            <a:endParaRPr lang="en-IN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516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result of an assignment operator should not be used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3722120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use of assignment operators, simple or compound, in combination with other arithmetic operators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is not recommended because:</a:t>
            </a:r>
          </a:p>
          <a:p>
            <a:pPr algn="l"/>
            <a:r>
              <a:rPr lang="en-US" sz="1800" b="0" i="0" u="none" strike="noStrike" baseline="0" dirty="0">
                <a:latin typeface="OpenSans-Extrabold"/>
              </a:rPr>
              <a:t>• </a:t>
            </a:r>
            <a:r>
              <a:rPr lang="en-US" sz="1800" b="0" i="0" u="none" strike="noStrike" baseline="0" dirty="0">
                <a:latin typeface="OpenSans-Light"/>
              </a:rPr>
              <a:t>It can significantly impair the readability of the code;</a:t>
            </a:r>
          </a:p>
          <a:p>
            <a:pPr algn="l"/>
            <a:r>
              <a:rPr lang="en-US" sz="1800" b="0" i="0" u="none" strike="noStrike" baseline="0" dirty="0">
                <a:latin typeface="OpenSans-Extrabold"/>
              </a:rPr>
              <a:t>• </a:t>
            </a:r>
            <a:r>
              <a:rPr lang="en-US" sz="1800" b="0" i="0" u="none" strike="noStrike" baseline="0" dirty="0">
                <a:latin typeface="OpenSans-Light"/>
              </a:rPr>
              <a:t>It introduces additional </a:t>
            </a:r>
            <a:r>
              <a:rPr lang="en-US" sz="1800" b="0" i="1" u="none" strike="noStrike" baseline="0" dirty="0">
                <a:latin typeface="OpenSansLight-Italic"/>
              </a:rPr>
              <a:t>side effects </a:t>
            </a:r>
            <a:r>
              <a:rPr lang="en-US" sz="1800" b="0" i="0" u="none" strike="noStrike" baseline="0" dirty="0">
                <a:latin typeface="OpenSans-Light"/>
              </a:rPr>
              <a:t>into a statement-making it more difficult to avoid the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undefined behavior covered by Rule 13.2.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1302500" y="4009019"/>
            <a:ext cx="67138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y; /* Compliant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 x ] = a[ x = y ]; /* Non-compliant - the value of x = y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bool_var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Non-compliant - value of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bool_var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 is used but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bool_var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false was probably intended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B568CF-7E9E-281A-1CE3-769762E707BA}"/>
              </a:ext>
            </a:extLst>
          </p:cNvPr>
          <p:cNvSpPr txBox="1"/>
          <p:nvPr/>
        </p:nvSpPr>
        <p:spPr>
          <a:xfrm>
            <a:off x="6950497" y="4713446"/>
            <a:ext cx="47400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Best Practices: To maintain clarity and avoid potential bugs:</a:t>
            </a:r>
          </a:p>
          <a:p>
            <a:endParaRPr lang="en-IN" dirty="0"/>
          </a:p>
          <a:p>
            <a:r>
              <a:rPr lang="en-IN" dirty="0"/>
              <a:t>Use = for assignments (x = y;).</a:t>
            </a:r>
          </a:p>
          <a:p>
            <a:r>
              <a:rPr lang="en-IN" dirty="0"/>
              <a:t>Use == for comparisons (if (</a:t>
            </a:r>
            <a:r>
              <a:rPr lang="en-IN" dirty="0" err="1"/>
              <a:t>bool_var</a:t>
            </a:r>
            <a:r>
              <a:rPr lang="en-IN" dirty="0"/>
              <a:t> == false))</a:t>
            </a:r>
          </a:p>
        </p:txBody>
      </p:sp>
    </p:spTree>
    <p:extLst>
      <p:ext uri="{BB962C8B-B14F-4D97-AF65-F5344CB8AC3E}">
        <p14:creationId xmlns:p14="http://schemas.microsoft.com/office/powerpoint/2010/main" val="37822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right hand operand of a logical &amp;&amp; or || operator shall not contain persistent side effects 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Undecidable, System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251" y="313847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If the evaluation of the right-hand operand would produce </a:t>
            </a:r>
            <a:r>
              <a:rPr lang="en-US" sz="1800" b="0" i="1" u="none" strike="noStrike" baseline="0" dirty="0">
                <a:latin typeface="OpenSansLight-Italic"/>
              </a:rPr>
              <a:t>side effects </a:t>
            </a:r>
            <a:r>
              <a:rPr lang="en-US" sz="1800" b="0" i="0" u="none" strike="noStrike" baseline="0" dirty="0">
                <a:latin typeface="OpenSans-Light"/>
              </a:rPr>
              <a:t>that are not </a:t>
            </a:r>
            <a:r>
              <a:rPr lang="en-US" sz="1800" b="0" i="1" u="none" strike="noStrike" baseline="0" dirty="0">
                <a:latin typeface="OpenSansLight-Italic"/>
              </a:rPr>
              <a:t>persistent </a:t>
            </a:r>
            <a:r>
              <a:rPr lang="en-US" sz="1800" b="0" i="0" u="none" strike="noStrike" baseline="0" dirty="0">
                <a:latin typeface="OpenSans-Light"/>
              </a:rPr>
              <a:t>at the point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in the program where the expression occurs then it does not matter whether the right-hand operand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is evaluated or not.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1282918" y="3429000"/>
            <a:ext cx="67138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g ( void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- f ( ) has no persistent side effects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is high &amp;&amp; ( a == f ( x ) )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h ( ) has a persistent side effect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is high &amp;&amp; ( a == h ( x ) )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CD67D-FCE9-791E-CF2F-84B71374046F}"/>
              </a:ext>
            </a:extLst>
          </p:cNvPr>
          <p:cNvSpPr txBox="1"/>
          <p:nvPr/>
        </p:nvSpPr>
        <p:spPr>
          <a:xfrm>
            <a:off x="4639834" y="5692273"/>
            <a:ext cx="6410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logical expression </a:t>
            </a:r>
            <a:r>
              <a:rPr lang="en-US" dirty="0" err="1"/>
              <a:t>is_high</a:t>
            </a:r>
            <a:r>
              <a:rPr lang="en-US" dirty="0"/>
              <a:t> &amp;&amp; (a == h(x)) is problematic because:</a:t>
            </a:r>
          </a:p>
          <a:p>
            <a:r>
              <a:rPr lang="en-US" dirty="0"/>
              <a:t>h(x) modifies state during its execution.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01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Misra2012:Rule-13.6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operand of the size of operator shall not contain any expression which has potential side effects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Mandatory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251" y="314830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operand of a </a:t>
            </a:r>
            <a:r>
              <a:rPr lang="en-US" sz="1800" b="0" i="1" u="none" strike="noStrike" baseline="0" dirty="0">
                <a:latin typeface="OpenSansLight-Italic"/>
              </a:rPr>
              <a:t>size of </a:t>
            </a:r>
            <a:r>
              <a:rPr lang="en-US" sz="1800" b="0" i="0" u="none" strike="noStrike" baseline="0" dirty="0">
                <a:latin typeface="OpenSans-Light"/>
              </a:rPr>
              <a:t>operator may be either an expression or may specify a type. If the operand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contains an expression, a possible programming error is to expect that expression to be evaluated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when it is actually not evaluated in most circumstances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1282918" y="3429000"/>
            <a:ext cx="67138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int32_t i;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j;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size_t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j );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 /* Non-compliant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i ); /* Compliant - exception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int32_t ); /* Compliant */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820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Misra2012:Rule-14.1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loop counter shall not have essentially floating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Undecidable, System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251" y="314830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When using a floating-point </a:t>
            </a:r>
            <a:r>
              <a:rPr lang="en-US" sz="1800" b="0" i="1" u="none" strike="noStrike" baseline="0" dirty="0">
                <a:latin typeface="OpenSansLight-Italic"/>
              </a:rPr>
              <a:t>loop counter</a:t>
            </a:r>
            <a:r>
              <a:rPr lang="en-US" sz="1800" b="0" i="0" u="none" strike="noStrike" baseline="0" dirty="0">
                <a:latin typeface="OpenSans-Light"/>
              </a:rPr>
              <a:t>, accumulation of rounding errors may result in a mismatch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between the expected and actual number of iterations. This can happen when a loop step that is not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a power of the floating-point radix is rounded to a value that can be represented.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1282918" y="3562385"/>
            <a:ext cx="6713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uint32_t counter = 0u;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 float32_t f = 0.0f; f &lt; 1.0f; f += 0.001f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++counter;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771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Misra2012:Rule-14.2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for loop shall be well-formed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Undecidable, System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03097" y="2859753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3239" y="2298097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</a:t>
            </a:r>
            <a:r>
              <a:rPr lang="en-US" sz="1800" b="0" i="1" u="none" strike="noStrike" baseline="0" dirty="0">
                <a:latin typeface="OpenSansLight-Italic"/>
              </a:rPr>
              <a:t>for-statement</a:t>
            </a:r>
            <a:r>
              <a:rPr lang="en-US" sz="1800" b="0" i="0" u="none" strike="noStrike" baseline="0" dirty="0">
                <a:latin typeface="OpenSans-Light"/>
              </a:rPr>
              <a:t> provides a general-purpose looping facility. Using a restricted form of loop makes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code easier to review and 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6D1E-7DD8-6901-041C-B28813BF5E71}"/>
              </a:ext>
            </a:extLst>
          </p:cNvPr>
          <p:cNvSpPr txBox="1"/>
          <p:nvPr/>
        </p:nvSpPr>
        <p:spPr>
          <a:xfrm>
            <a:off x="4639968" y="3488198"/>
            <a:ext cx="6713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well-formed loop: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loop control variable i is initialized to 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loop will continue as long as i is less than 10.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loop control variable i is incremented by 1 after each iteration.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0A6900-B804-0BE7-B539-5BC800BDA096}"/>
              </a:ext>
            </a:extLst>
          </p:cNvPr>
          <p:cNvSpPr txBox="1"/>
          <p:nvPr/>
        </p:nvSpPr>
        <p:spPr>
          <a:xfrm>
            <a:off x="1431378" y="3282170"/>
            <a:ext cx="29243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>
                <a:highlight>
                  <a:srgbClr val="00FFFF"/>
                </a:highlight>
              </a:rPr>
              <a:t>    // Well-formed for loop</a:t>
            </a:r>
          </a:p>
          <a:p>
            <a:r>
              <a:rPr lang="en-IN" dirty="0"/>
              <a:t>    for (int i = 0; i &lt; 10; i++)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("%d\n", i);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1864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Misra2012:Rule-14.3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Controlling expressions shall not be invariant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Undecidable, System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317265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94544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If a controlling expression has an invariant value, it is possible that there is a programming error. Any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code that cannot be reached due to the presence of an invariant expression may be removed by the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compiler. This might have the effect of removing defensive code, for instance, from the executable.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81835" y="3402290"/>
            <a:ext cx="88633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( 2 &gt; 3 )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always false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 s8a = 0; s8a &lt; 130; ++s8a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always true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( s8a &lt; 10 ) &amp;&amp; ( s8a &gt; 20 )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always false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8621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Misra2012:Rule-14.4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controlling expression of an if statement and the controlling expression of an iteration-statement shall have essentially Boolean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27720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94544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Strong typing requires the controlling expression of an </a:t>
            </a:r>
            <a:r>
              <a:rPr lang="en-US" sz="1800" b="0" i="1" u="none" strike="noStrike" baseline="0" dirty="0">
                <a:latin typeface="OpenSansLight-Italic"/>
              </a:rPr>
              <a:t>if </a:t>
            </a:r>
            <a:r>
              <a:rPr lang="en-US" sz="1800" b="0" i="0" u="none" strike="noStrike" baseline="0" dirty="0">
                <a:latin typeface="OpenSans-Light"/>
              </a:rPr>
              <a:t>statement or </a:t>
            </a:r>
            <a:r>
              <a:rPr lang="en-US" sz="1800" b="0" i="1" u="none" strike="noStrike" baseline="0" dirty="0">
                <a:latin typeface="OpenSansLight-Italic"/>
              </a:rPr>
              <a:t>iteration-s </a:t>
            </a:r>
            <a:r>
              <a:rPr lang="en-US" sz="1800" b="0" i="1" u="none" strike="noStrike" baseline="0" dirty="0" err="1">
                <a:latin typeface="OpenSansLight-Italic"/>
              </a:rPr>
              <a:t>tatement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to have</a:t>
            </a:r>
          </a:p>
          <a:p>
            <a:pPr algn="l"/>
            <a:r>
              <a:rPr lang="en-IN" sz="1800" b="0" i="1" u="none" strike="noStrike" baseline="0" dirty="0">
                <a:latin typeface="OpenSansLight-Italic"/>
              </a:rPr>
              <a:t>essentially Boolean </a:t>
            </a:r>
            <a:r>
              <a:rPr lang="en-IN" sz="1800" b="0" i="0" u="none" strike="noStrike" baseline="0" dirty="0">
                <a:latin typeface="OpenSans-Light"/>
              </a:rPr>
              <a:t>type.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*p, *q;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 p ) /* Non-compliant - p is a pointer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it-IT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 q != NULL )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 true )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CourierNewPSMT"/>
              </a:rPr>
              <a:t>}</a:t>
            </a: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405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Misra2012:Rule-15.1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i="0" u="none" strike="noStrike" baseline="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statement should not be used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94544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Unconstrained use of </a:t>
            </a:r>
            <a:r>
              <a:rPr lang="en-US" sz="1800" b="0" i="1" u="none" strike="noStrike" baseline="0" dirty="0" err="1">
                <a:latin typeface="OpenSansLight-Italic"/>
              </a:rPr>
              <a:t>goto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can lead to programs that are unstructured and extremely difficult to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understand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292152" y="2882073"/>
            <a:ext cx="8863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guidance in Rule 15.2 and Rule 15.3.</a:t>
            </a: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880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i="0" u="none" strike="noStrike" baseline="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b="1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statement shall jump to a label declared later in the same function</a:t>
            </a:r>
            <a:endParaRPr lang="en-IN" b="1" kern="100" dirty="0">
              <a:effectLst/>
              <a:highlight>
                <a:srgbClr val="C0C0C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27720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94544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Unconstrained use of </a:t>
            </a:r>
            <a:r>
              <a:rPr lang="en-US" sz="1800" b="0" i="1" u="none" strike="noStrike" baseline="0" dirty="0" err="1">
                <a:latin typeface="OpenSansLight-Italic"/>
              </a:rPr>
              <a:t>goto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can lead to programs that are unstructured and extremely difficult to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understand.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f ( void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j = 0;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++j;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( 10 == j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L2;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++j;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2510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Any label referenced by a </a:t>
            </a:r>
            <a:r>
              <a:rPr lang="en-US" sz="1800" b="1" i="0" u="none" strike="noStrike" baseline="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b="1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statement shall be declared in the same block, or in any block enclosing the </a:t>
            </a:r>
            <a:r>
              <a:rPr lang="en-US" sz="1800" b="1" i="0" u="none" strike="noStrike" baseline="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b="1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statement</a:t>
            </a:r>
            <a:endParaRPr lang="en-IN" b="1" kern="100" dirty="0">
              <a:effectLst/>
              <a:highlight>
                <a:srgbClr val="C0C0C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165339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Unconstrained use of </a:t>
            </a:r>
            <a:r>
              <a:rPr lang="en-US" sz="1800" b="0" i="1" u="none" strike="noStrike" baseline="0" dirty="0" err="1">
                <a:latin typeface="OpenSansLight-Italic"/>
              </a:rPr>
              <a:t>goto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can lead to programs that are unstructured and extremely difficult to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understand.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Preventing jumps between blocks, or into nested blocks, helps to minimize visual code complexity.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x == y )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x;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++x;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28B89-CD35-B161-F7DB-798E6391C01F}"/>
              </a:ext>
            </a:extLst>
          </p:cNvPr>
          <p:cNvSpPr txBox="1"/>
          <p:nvPr/>
        </p:nvSpPr>
        <p:spPr>
          <a:xfrm>
            <a:off x="2828919" y="5031291"/>
            <a:ext cx="71505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OpenSans-Light"/>
              </a:rPr>
              <a:t>In the following example, the label </a:t>
            </a:r>
            <a:r>
              <a:rPr lang="en-US" sz="1600" b="0" i="0" u="none" strike="noStrike" baseline="0" dirty="0">
                <a:latin typeface="CourierNewPSMT"/>
              </a:rPr>
              <a:t>L1 </a:t>
            </a:r>
            <a:r>
              <a:rPr lang="en-US" sz="1600" b="0" i="0" u="none" strike="noStrike" baseline="0" dirty="0">
                <a:latin typeface="OpenSans-Light"/>
              </a:rPr>
              <a:t>is defined in a block that encloses the block containing the</a:t>
            </a:r>
          </a:p>
          <a:p>
            <a:pPr algn="l"/>
            <a:r>
              <a:rPr lang="en-US" sz="1600" b="0" i="1" u="none" strike="noStrike" baseline="0" dirty="0" err="1">
                <a:latin typeface="OpenSansLight-Italic"/>
              </a:rPr>
              <a:t>goto</a:t>
            </a:r>
            <a:r>
              <a:rPr lang="en-US" sz="1600" b="0" i="1" u="none" strike="noStrike" baseline="0" dirty="0">
                <a:latin typeface="OpenSansLight-Italic"/>
              </a:rPr>
              <a:t> </a:t>
            </a:r>
            <a:r>
              <a:rPr lang="en-US" sz="1600" b="0" i="0" u="none" strike="noStrike" baseline="0" dirty="0">
                <a:latin typeface="OpenSans-Light"/>
              </a:rPr>
              <a:t>statement. However, the jump crosses from one </a:t>
            </a:r>
            <a:r>
              <a:rPr lang="en-US" sz="1600" b="0" i="1" u="none" strike="noStrike" baseline="0" dirty="0">
                <a:latin typeface="OpenSansLight-Italic"/>
              </a:rPr>
              <a:t>switch clause </a:t>
            </a:r>
            <a:r>
              <a:rPr lang="en-US" sz="1600" b="0" i="0" u="none" strike="noStrike" baseline="0" dirty="0">
                <a:latin typeface="OpenSans-Light"/>
              </a:rPr>
              <a:t>to another, and, since </a:t>
            </a:r>
            <a:r>
              <a:rPr lang="en-US" sz="1600" b="0" i="1" u="none" strike="noStrike" baseline="0" dirty="0">
                <a:latin typeface="OpenSansLight-Italic"/>
              </a:rPr>
              <a:t>switch-clauses</a:t>
            </a:r>
          </a:p>
          <a:p>
            <a:pPr algn="l"/>
            <a:r>
              <a:rPr lang="en-US" sz="1600" b="0" i="0" u="none" strike="noStrike" baseline="0" dirty="0">
                <a:latin typeface="OpenSans-Light"/>
              </a:rPr>
              <a:t>are treated like blocks for the purposes of this rule, the </a:t>
            </a:r>
            <a:r>
              <a:rPr lang="en-US" sz="1600" b="0" i="1" u="none" strike="noStrike" baseline="0" dirty="0" err="1">
                <a:latin typeface="OpenSansLight-Italic"/>
              </a:rPr>
              <a:t>goto</a:t>
            </a:r>
            <a:r>
              <a:rPr lang="en-US" sz="1600" b="0" i="1" u="none" strike="noStrike" baseline="0" dirty="0">
                <a:latin typeface="OpenSansLight-Italic"/>
              </a:rPr>
              <a:t> </a:t>
            </a:r>
            <a:r>
              <a:rPr lang="en-US" sz="1600" b="0" i="0" u="none" strike="noStrike" baseline="0" dirty="0">
                <a:latin typeface="OpenSans-Light"/>
              </a:rPr>
              <a:t>statement is non-compliant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31749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There should be no more than one break or </a:t>
            </a:r>
            <a:r>
              <a:rPr lang="en-US" sz="1800" b="1" i="0" u="none" strike="noStrike" baseline="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statement used to terminate any iteration statement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165339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Restricting the number of exits from a loop helps to minimize visual code complexity. The use of one</a:t>
            </a:r>
          </a:p>
          <a:p>
            <a:pPr algn="l"/>
            <a:r>
              <a:rPr lang="en-US" sz="1800" b="0" i="1" u="none" strike="noStrike" baseline="0" dirty="0">
                <a:latin typeface="OpenSansLight-Italic"/>
              </a:rPr>
              <a:t>break </a:t>
            </a:r>
            <a:r>
              <a:rPr lang="en-US" sz="1800" b="0" i="0" u="none" strike="noStrike" baseline="0" dirty="0">
                <a:latin typeface="OpenSans-Light"/>
              </a:rPr>
              <a:t>or </a:t>
            </a:r>
            <a:r>
              <a:rPr lang="en-US" sz="1800" b="0" i="1" u="none" strike="noStrike" baseline="0" dirty="0" err="1">
                <a:latin typeface="OpenSansLight-Italic"/>
              </a:rPr>
              <a:t>goto</a:t>
            </a:r>
            <a:r>
              <a:rPr lang="en-US" sz="1800" b="0" i="1" u="none" strike="noStrike" baseline="0" dirty="0">
                <a:latin typeface="OpenSansLight-Italic"/>
              </a:rPr>
              <a:t> </a:t>
            </a:r>
            <a:r>
              <a:rPr lang="en-US" sz="1800" b="0" i="0" u="none" strike="noStrike" baseline="0" dirty="0">
                <a:latin typeface="OpenSans-Light"/>
              </a:rPr>
              <a:t>statement allows a single secondary exit path to be created when early loop termination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is required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 x = 0; x &lt; LIMIT; ++x )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</a:t>
            </a:r>
            <a:r>
              <a:rPr lang="en-I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ExitNow</a:t>
            </a:r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x ) )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s-ES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y = 0; y &lt; x; ++y )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Exit Now ( LIMIT - y ) )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28B89-CD35-B161-F7DB-798E6391C01F}"/>
              </a:ext>
            </a:extLst>
          </p:cNvPr>
          <p:cNvSpPr txBox="1"/>
          <p:nvPr/>
        </p:nvSpPr>
        <p:spPr>
          <a:xfrm>
            <a:off x="3947207" y="5692273"/>
            <a:ext cx="7150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Both of the following nested loops are compliant as each has a single </a:t>
            </a:r>
            <a:r>
              <a:rPr lang="en-US" sz="1800" b="0" i="1" u="none" strike="noStrike" baseline="0" dirty="0">
                <a:latin typeface="OpenSansLight-Italic"/>
              </a:rPr>
              <a:t>break </a:t>
            </a:r>
            <a:r>
              <a:rPr lang="en-US" sz="1800" b="0" i="0" u="none" strike="noStrike" baseline="0" dirty="0">
                <a:latin typeface="OpenSans-Light"/>
              </a:rPr>
              <a:t>used for early loop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termination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83656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function should have a single point of exit at the end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165339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If a function has exit points interspersed with statements that produce </a:t>
            </a:r>
            <a:r>
              <a:rPr lang="en-US" sz="1800" b="0" i="1" u="none" strike="noStrike" baseline="0" dirty="0">
                <a:latin typeface="OpenSansLight-Italic"/>
              </a:rPr>
              <a:t>persistent side effects</a:t>
            </a:r>
            <a:r>
              <a:rPr lang="en-US" sz="1800" b="0" i="0" u="none" strike="noStrike" baseline="0" dirty="0">
                <a:latin typeface="OpenSans-Light"/>
              </a:rPr>
              <a:t>, it is not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easy to determine which </a:t>
            </a:r>
            <a:r>
              <a:rPr lang="en-US" sz="1800" b="0" i="1" u="none" strike="noStrike" baseline="0" dirty="0">
                <a:latin typeface="OpenSansLight-Italic"/>
              </a:rPr>
              <a:t>side effects </a:t>
            </a:r>
            <a:r>
              <a:rPr lang="en-US" sz="1800" b="0" i="0" u="none" strike="noStrike" baseline="0" dirty="0">
                <a:latin typeface="OpenSans-Light"/>
              </a:rPr>
              <a:t>will occur when the function is executed.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( uint16_t n, char *p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n &gt; MAX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 false;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p == NULL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 false;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true;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28B89-CD35-B161-F7DB-798E6391C01F}"/>
              </a:ext>
            </a:extLst>
          </p:cNvPr>
          <p:cNvSpPr txBox="1"/>
          <p:nvPr/>
        </p:nvSpPr>
        <p:spPr>
          <a:xfrm>
            <a:off x="3947207" y="5692273"/>
            <a:ext cx="7150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In the following non-compliant code example, early returns are used to validate the function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parameters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02966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body of an iteration-statement or a selection-statement shall be a compound- statement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165339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body of an </a:t>
            </a:r>
            <a:r>
              <a:rPr lang="en-US" sz="1800" b="0" i="1" u="none" strike="noStrike" baseline="0" dirty="0">
                <a:latin typeface="OpenSansLight-Italic"/>
              </a:rPr>
              <a:t>iteration statement </a:t>
            </a:r>
            <a:r>
              <a:rPr lang="en-US" sz="1800" b="0" i="0" u="none" strike="noStrike" baseline="0" dirty="0">
                <a:latin typeface="OpenSans-Light"/>
              </a:rPr>
              <a:t>(</a:t>
            </a:r>
            <a:r>
              <a:rPr lang="en-US" sz="1800" b="0" i="1" u="none" strike="noStrike" baseline="0" dirty="0">
                <a:latin typeface="OpenSansLight-Italic"/>
              </a:rPr>
              <a:t>while</a:t>
            </a:r>
            <a:r>
              <a:rPr lang="en-US" sz="1800" b="0" i="0" u="none" strike="noStrike" baseline="0" dirty="0">
                <a:latin typeface="OpenSans-Light"/>
              </a:rPr>
              <a:t>, </a:t>
            </a:r>
            <a:r>
              <a:rPr lang="en-US" sz="1800" b="0" i="1" u="none" strike="noStrike" baseline="0" dirty="0">
                <a:latin typeface="OpenSansLight-Italic"/>
              </a:rPr>
              <a:t>do … while </a:t>
            </a:r>
            <a:r>
              <a:rPr lang="en-US" sz="1800" b="0" i="0" u="none" strike="noStrike" baseline="0" dirty="0">
                <a:latin typeface="OpenSans-Light"/>
              </a:rPr>
              <a:t>or </a:t>
            </a:r>
            <a:r>
              <a:rPr lang="en-US" sz="1800" b="0" i="1" u="none" strike="noStrike" baseline="0" dirty="0">
                <a:latin typeface="OpenSansLight-Italic"/>
              </a:rPr>
              <a:t>for</a:t>
            </a:r>
            <a:r>
              <a:rPr lang="en-US" sz="1800" b="0" i="0" u="none" strike="noStrike" baseline="0" dirty="0">
                <a:latin typeface="OpenSans-Light"/>
              </a:rPr>
              <a:t>) or a </a:t>
            </a:r>
            <a:r>
              <a:rPr lang="en-US" sz="1800" b="0" i="1" u="none" strike="noStrike" baseline="0" dirty="0">
                <a:latin typeface="OpenSansLight-Italic"/>
              </a:rPr>
              <a:t>selection -statement </a:t>
            </a:r>
            <a:r>
              <a:rPr lang="en-US" sz="1800" b="0" i="0" u="none" strike="noStrike" baseline="0" dirty="0">
                <a:latin typeface="OpenSans-Light"/>
              </a:rPr>
              <a:t>(</a:t>
            </a:r>
            <a:r>
              <a:rPr lang="en-US" sz="1800" b="0" i="1" u="none" strike="noStrike" baseline="0" dirty="0">
                <a:latin typeface="OpenSansLight-Italic"/>
              </a:rPr>
              <a:t>if</a:t>
            </a:r>
            <a:r>
              <a:rPr lang="en-US" sz="1800" b="0" i="0" u="none" strike="noStrike" baseline="0" dirty="0">
                <a:latin typeface="OpenSans-Light"/>
              </a:rPr>
              <a:t>, </a:t>
            </a:r>
            <a:r>
              <a:rPr lang="en-US" sz="1800" b="0" i="1" u="none" strike="noStrike" baseline="0" dirty="0">
                <a:latin typeface="OpenSansLight-Italic"/>
              </a:rPr>
              <a:t>else</a:t>
            </a:r>
            <a:r>
              <a:rPr lang="en-US" sz="1800" b="0" i="0" u="none" strike="noStrike" baseline="0" dirty="0">
                <a:latin typeface="OpenSans-Light"/>
              </a:rPr>
              <a:t>, </a:t>
            </a:r>
            <a:r>
              <a:rPr lang="en-US" sz="1800" b="0" i="1" u="none" strike="noStrike" baseline="0" dirty="0">
                <a:latin typeface="OpenSansLight-Italic"/>
              </a:rPr>
              <a:t>switch</a:t>
            </a:r>
            <a:r>
              <a:rPr lang="en-US" sz="1800" b="0" i="0" u="none" strike="noStrike" baseline="0" dirty="0">
                <a:latin typeface="OpenSans-Light"/>
              </a:rPr>
              <a:t>) shall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be a </a:t>
            </a:r>
            <a:r>
              <a:rPr lang="en-IN" sz="1800" b="0" i="1" u="none" strike="noStrike" baseline="0" dirty="0">
                <a:latin typeface="OpenSansLight-Italic"/>
              </a:rPr>
              <a:t>compound-statement</a:t>
            </a:r>
            <a:r>
              <a:rPr lang="en-IN" sz="1800" b="0" i="0" u="none" strike="noStrike" baseline="0" dirty="0">
                <a:latin typeface="OpenSans-Light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02603" y="3261576"/>
            <a:ext cx="8863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flag_1 )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flag_2 )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action_1 ( );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action_2 ( ); /* Non-compliant */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1883C9-75A8-A2C7-513D-DB847DF403DB}"/>
              </a:ext>
            </a:extLst>
          </p:cNvPr>
          <p:cNvSpPr txBox="1"/>
          <p:nvPr/>
        </p:nvSpPr>
        <p:spPr>
          <a:xfrm>
            <a:off x="6518291" y="3041887"/>
            <a:ext cx="64155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actual behavior is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flag_1 )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flag_2 )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action_1 ( );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action_2 ( );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218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 if ... else if constructs shall be terminated with an else statement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165339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 final </a:t>
            </a:r>
            <a:r>
              <a:rPr lang="en-US" sz="1800" b="0" i="1" u="none" strike="noStrike" baseline="0" dirty="0">
                <a:latin typeface="OpenSansLight-Italic"/>
              </a:rPr>
              <a:t>else </a:t>
            </a:r>
            <a:r>
              <a:rPr lang="en-US" sz="1800" b="0" i="0" u="none" strike="noStrike" baseline="0" dirty="0">
                <a:latin typeface="OpenSans-Light"/>
              </a:rPr>
              <a:t>statement shall always be provided whenever an </a:t>
            </a:r>
            <a:r>
              <a:rPr lang="en-US" sz="1800" b="0" i="1" u="none" strike="noStrike" baseline="0" dirty="0">
                <a:latin typeface="OpenSansLight-Italic"/>
              </a:rPr>
              <a:t>if </a:t>
            </a:r>
            <a:r>
              <a:rPr lang="en-US" sz="1800" b="0" i="0" u="none" strike="noStrike" baseline="0" dirty="0">
                <a:latin typeface="OpenSans-Light"/>
              </a:rPr>
              <a:t>statement is followed by a sequence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of one or more </a:t>
            </a:r>
            <a:r>
              <a:rPr lang="en-US" sz="1800" b="0" i="1" u="none" strike="noStrike" baseline="0" dirty="0">
                <a:latin typeface="OpenSansLight-Italic"/>
              </a:rPr>
              <a:t>else if </a:t>
            </a:r>
            <a:r>
              <a:rPr lang="en-US" sz="1800" b="0" i="0" u="none" strike="noStrike" baseline="0" dirty="0">
                <a:latin typeface="OpenSans-Light"/>
              </a:rPr>
              <a:t>constructs. The </a:t>
            </a:r>
            <a:r>
              <a:rPr lang="en-US" sz="1800" b="0" i="1" u="none" strike="noStrike" baseline="0" dirty="0">
                <a:latin typeface="OpenSansLight-Italic"/>
              </a:rPr>
              <a:t>else </a:t>
            </a:r>
            <a:r>
              <a:rPr lang="en-US" sz="1800" b="0" i="0" u="none" strike="noStrike" baseline="0" dirty="0">
                <a:latin typeface="OpenSans-Light"/>
              </a:rPr>
              <a:t>statement shall contain at least either one </a:t>
            </a:r>
            <a:r>
              <a:rPr lang="en-US" sz="1800" b="0" i="1" u="none" strike="noStrike" baseline="0" dirty="0">
                <a:latin typeface="OpenSansLight-Italic"/>
              </a:rPr>
              <a:t>side effect </a:t>
            </a:r>
            <a:r>
              <a:rPr lang="en-US" sz="1800" b="0" i="0" u="none" strike="noStrike" baseline="0" dirty="0">
                <a:latin typeface="OpenSans-Light"/>
              </a:rPr>
              <a:t>or a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comment.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2765635" y="2945829"/>
            <a:ext cx="8863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flag_1 )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action_1 ( );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 ( flag_2 )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action_2 ( );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shows a compliant terminating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 action required - ; is optional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3904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 switch statements shall be well-formed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04667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syntax for the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 in C is not particularly rigorous and can allow complex, unstructured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behavior. This and other rules impose a simple and consistent structure on the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49502" y="3383331"/>
            <a:ext cx="8863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remaining rules in this section give examples that are also relevant to this rule.</a:t>
            </a:r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71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switch label shall only be used when the most closely-enclosing compound statement is the body of a switch statement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71668" y="324433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262234" y="2145022"/>
            <a:ext cx="10372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Standard permits a </a:t>
            </a:r>
            <a:r>
              <a:rPr lang="en-US" sz="1800" b="0" i="1" u="none" strike="noStrike" baseline="0" dirty="0">
                <a:latin typeface="OpenSansLight-Italic"/>
              </a:rPr>
              <a:t>switch label</a:t>
            </a:r>
            <a:r>
              <a:rPr lang="en-US" sz="1800" b="0" i="0" u="none" strike="noStrike" baseline="0" dirty="0">
                <a:latin typeface="OpenSans-Light"/>
              </a:rPr>
              <a:t>, </a:t>
            </a:r>
            <a:r>
              <a:rPr lang="en-US" sz="1800" b="0" i="1" u="none" strike="noStrike" baseline="0" dirty="0">
                <a:latin typeface="OpenSansLight-Italic"/>
              </a:rPr>
              <a:t>i.e. </a:t>
            </a:r>
            <a:r>
              <a:rPr lang="en-US" sz="1800" b="0" i="0" u="none" strike="noStrike" baseline="0" dirty="0">
                <a:latin typeface="OpenSans-Light"/>
              </a:rPr>
              <a:t>a </a:t>
            </a:r>
            <a:r>
              <a:rPr lang="en-US" sz="1800" b="0" i="1" u="none" strike="noStrike" baseline="0" dirty="0">
                <a:latin typeface="OpenSansLight-Italic"/>
              </a:rPr>
              <a:t>case </a:t>
            </a:r>
            <a:r>
              <a:rPr lang="en-US" sz="1800" b="0" i="0" u="none" strike="noStrike" baseline="0" dirty="0">
                <a:latin typeface="OpenSans-Light"/>
              </a:rPr>
              <a:t>label or </a:t>
            </a:r>
            <a:r>
              <a:rPr lang="en-US" sz="1800" b="0" i="1" u="none" strike="noStrike" baseline="0" dirty="0">
                <a:latin typeface="OpenSansLight-Italic"/>
              </a:rPr>
              <a:t>default </a:t>
            </a:r>
            <a:r>
              <a:rPr lang="en-US" sz="1800" b="0" i="0" u="none" strike="noStrike" baseline="0" dirty="0">
                <a:latin typeface="OpenSans-Light"/>
              </a:rPr>
              <a:t>label, to be placed before any statement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contained in the body of a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statement, potentially leading to unstructured code. In order to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prevent this, </a:t>
            </a:r>
            <a:r>
              <a:rPr lang="en-US" sz="1800" b="0" i="0" u="none" strike="noStrike" baseline="0" dirty="0">
                <a:highlight>
                  <a:srgbClr val="00FFFF"/>
                </a:highlight>
                <a:latin typeface="OpenSans-Light"/>
              </a:rPr>
              <a:t>a </a:t>
            </a:r>
            <a:r>
              <a:rPr lang="en-US" sz="1800" b="0" i="1" u="none" strike="noStrike" baseline="0" dirty="0">
                <a:highlight>
                  <a:srgbClr val="00FFFF"/>
                </a:highlight>
                <a:latin typeface="OpenSansLight-Italic"/>
              </a:rPr>
              <a:t>switch label </a:t>
            </a:r>
            <a:r>
              <a:rPr lang="en-US" sz="1800" b="0" i="0" u="none" strike="noStrike" baseline="0" dirty="0">
                <a:highlight>
                  <a:srgbClr val="00FFFF"/>
                </a:highlight>
                <a:latin typeface="OpenSans-Light"/>
              </a:rPr>
              <a:t>shall only appear at the outermost level of the compound statement</a:t>
            </a:r>
          </a:p>
          <a:p>
            <a:pPr algn="l"/>
            <a:r>
              <a:rPr lang="en-US" sz="1800" b="0" i="0" u="none" strike="noStrike" baseline="0" dirty="0">
                <a:highlight>
                  <a:srgbClr val="00FFFF"/>
                </a:highlight>
                <a:latin typeface="OpenSans-Light"/>
              </a:rPr>
              <a:t>forming the body of a </a:t>
            </a:r>
            <a:r>
              <a:rPr lang="en-US" sz="1800" b="0" i="1" u="none" strike="noStrike" baseline="0" dirty="0">
                <a:highlight>
                  <a:srgbClr val="00FFFF"/>
                </a:highlight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highlight>
                  <a:srgbClr val="00FFFF"/>
                </a:highlight>
                <a:latin typeface="OpenSans-Light"/>
              </a:rPr>
              <a:t>statement</a:t>
            </a:r>
            <a:r>
              <a:rPr lang="en-US" sz="1800" b="0" i="0" u="none" strike="noStrike" baseline="0" dirty="0">
                <a:latin typeface="OpenSans-Light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282918" y="3500148"/>
            <a:ext cx="88633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flag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/* Non-compliant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820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 unconditional break statement shall terminate every switch-clause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303933" y="160337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9467" y="2496942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433" y="1938881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if the </a:t>
            </a:r>
            <a:r>
              <a:rPr lang="en-US" sz="1800" b="0" i="1" u="none" strike="noStrike" baseline="0" dirty="0">
                <a:latin typeface="OpenSansLight-Italic"/>
              </a:rPr>
              <a:t>switch-clause </a:t>
            </a:r>
            <a:r>
              <a:rPr lang="en-US" sz="1800" b="0" i="0" u="none" strike="noStrike" baseline="0" dirty="0">
                <a:latin typeface="OpenSans-Light"/>
              </a:rPr>
              <a:t>is a compound statement, the last statement in the compound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statement shall be a </a:t>
            </a:r>
            <a:r>
              <a:rPr lang="en-US" sz="1800" b="0" i="1" u="none" strike="noStrike" baseline="0" dirty="0">
                <a:latin typeface="OpenSansLight-Italic"/>
              </a:rPr>
              <a:t>break </a:t>
            </a:r>
            <a:r>
              <a:rPr lang="en-US" sz="1800" b="0" i="0" u="none" strike="noStrike" baseline="0" dirty="0">
                <a:latin typeface="OpenSans-Light"/>
              </a:rPr>
              <a:t>statement.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294333" y="2746749"/>
            <a:ext cx="886337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 /* Compliant - unconditional break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/* Compliant - empty fall through allows a group */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 /* Compliant */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b; /* Non-compliant - break omitted */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5: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== b )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++a;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 /* Non-compliant - conditional break */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400" dirty="0">
                <a:highlight>
                  <a:srgbClr val="00FFFF"/>
                </a:highlight>
              </a:rPr>
              <a:t>break; /* Compliant - moved unconditional break outside of if */</a:t>
            </a:r>
            <a:endParaRPr lang="en-IN" sz="1400" b="0" i="0" u="none" strike="noStrike" baseline="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Non-compliant - default must also have a break */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4510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 switch statement shall have a default label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04667"/>
            <a:ext cx="1151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requirement for a </a:t>
            </a:r>
            <a:r>
              <a:rPr lang="en-US" sz="1800" b="0" i="1" u="none" strike="noStrike" baseline="0" dirty="0">
                <a:latin typeface="OpenSansLight-Italic"/>
              </a:rPr>
              <a:t>default </a:t>
            </a:r>
            <a:r>
              <a:rPr lang="en-US" sz="1800" b="0" i="0" u="none" strike="noStrike" baseline="0" dirty="0">
                <a:latin typeface="OpenSans-Light"/>
              </a:rPr>
              <a:t>label is defensive programming. Any statements following the </a:t>
            </a:r>
            <a:r>
              <a:rPr lang="en-US" sz="1800" b="0" i="1" u="none" strike="noStrike" baseline="0" dirty="0">
                <a:latin typeface="OpenSansLight-Italic"/>
              </a:rPr>
              <a:t>default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label is intended to take some appropriate 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51428" y="3237454"/>
            <a:ext cx="8863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x;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++x;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default label is required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09719-B55C-B387-CE7F-F94F7AD7D6AC}"/>
              </a:ext>
            </a:extLst>
          </p:cNvPr>
          <p:cNvSpPr txBox="1"/>
          <p:nvPr/>
        </p:nvSpPr>
        <p:spPr>
          <a:xfrm>
            <a:off x="5568128" y="5705864"/>
            <a:ext cx="6415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highlight>
                  <a:srgbClr val="00FFFF"/>
                </a:highlight>
              </a:rPr>
              <a:t>default:</a:t>
            </a:r>
          </a:p>
          <a:p>
            <a:pPr algn="l"/>
            <a:r>
              <a:rPr lang="en-US" dirty="0">
                <a:highlight>
                  <a:srgbClr val="00FFFF"/>
                </a:highlight>
              </a:rPr>
              <a:t> break; /* Compliant - added unconditional break */</a:t>
            </a:r>
            <a:endParaRPr lang="en-US" sz="1800" b="0" i="0" u="none" strike="noStrike" baseline="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99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default label shall appear as either the first or the last switch label of a switch statement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04667"/>
            <a:ext cx="11511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This rule makes it easy to locate the </a:t>
            </a:r>
            <a:r>
              <a:rPr lang="en-US" sz="1800" b="0" i="1" u="none" strike="noStrike" baseline="0" dirty="0">
                <a:latin typeface="OpenSansLight-Italic"/>
              </a:rPr>
              <a:t>de fault </a:t>
            </a:r>
            <a:r>
              <a:rPr lang="en-US" sz="1800" b="0" i="0" u="none" strike="noStrike" baseline="0" dirty="0">
                <a:latin typeface="OpenSans-Light"/>
              </a:rPr>
              <a:t>label within a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49502" y="3383331"/>
            <a:ext cx="88633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default: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- default is the first label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++x;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404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 switch statement shall have at least two switch-clauses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7956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299654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04667"/>
            <a:ext cx="11511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 with a single path is redundant and may be indicative of a programming error.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49502" y="3383331"/>
            <a:ext cx="8863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/* Non-compliant - switch is redundant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64A5B-2B15-137A-352D-CFD1726A4C5A}"/>
              </a:ext>
            </a:extLst>
          </p:cNvPr>
          <p:cNvSpPr txBox="1"/>
          <p:nvPr/>
        </p:nvSpPr>
        <p:spPr>
          <a:xfrm>
            <a:off x="6748648" y="3377010"/>
            <a:ext cx="64155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z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2;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/* Compliant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0;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0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Misra2012:Rule-16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.7</a:t>
            </a:r>
            <a:endParaRPr lang="en-IN" kern="100" dirty="0">
              <a:solidFill>
                <a:srgbClr val="666666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67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switch-expression shall not have essentially Boolean type</a:t>
            </a:r>
            <a:endParaRPr lang="en-IN" b="1" kern="100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83040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–C90,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18129" y="3134192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53DE2-5F3D-FF7B-49F9-0EFEBB43598A}"/>
              </a:ext>
            </a:extLst>
          </p:cNvPr>
          <p:cNvSpPr txBox="1"/>
          <p:nvPr/>
        </p:nvSpPr>
        <p:spPr>
          <a:xfrm>
            <a:off x="1318129" y="2204667"/>
            <a:ext cx="11511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Standard requires the controlling expression of a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 to have an integer type. Since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the type that is used to implement Boolean values is an integer, it is possible to have a </a:t>
            </a:r>
            <a:r>
              <a:rPr lang="en-US" sz="1800" b="0" i="1" u="none" strike="noStrike" baseline="0" dirty="0">
                <a:latin typeface="OpenSansLight-Italic"/>
              </a:rPr>
              <a:t>switch </a:t>
            </a:r>
            <a:r>
              <a:rPr lang="en-US" sz="1800" b="0" i="0" u="none" strike="noStrike" baseline="0" dirty="0">
                <a:latin typeface="OpenSans-Light"/>
              </a:rPr>
              <a:t>statement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controlled by a Boolean expression. In this instance an </a:t>
            </a:r>
            <a:r>
              <a:rPr lang="en-US" sz="1800" b="0" i="1" u="none" strike="noStrike" baseline="0" dirty="0">
                <a:latin typeface="OpenSansLight-Italic"/>
              </a:rPr>
              <a:t>if-else </a:t>
            </a:r>
            <a:r>
              <a:rPr lang="en-US" sz="1800" b="0" i="0" u="none" strike="noStrike" baseline="0" dirty="0">
                <a:latin typeface="OpenSans-Light"/>
              </a:rPr>
              <a:t>construct would be more appropriate.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2150-3479-22BB-6DDD-361AB15486CB}"/>
              </a:ext>
            </a:extLst>
          </p:cNvPr>
          <p:cNvSpPr txBox="1"/>
          <p:nvPr/>
        </p:nvSpPr>
        <p:spPr>
          <a:xfrm>
            <a:off x="1349502" y="3471819"/>
            <a:ext cx="88633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x == 0 ) /* Non-compliant - essentially Boolean */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/* In this case an "if-else" would be more logical */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false: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x;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z;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248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-13766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History  of MISRA-C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tx2"/>
                </a:solidFill>
              </a:rPr>
              <a:t>MISRA C -2012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F83FA-8028-9A86-9C33-C5C4E99155E5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B6372-1A2E-EFED-FC04-4E80C6211874}"/>
              </a:ext>
            </a:extLst>
          </p:cNvPr>
          <p:cNvSpPr txBox="1"/>
          <p:nvPr/>
        </p:nvSpPr>
        <p:spPr>
          <a:xfrm>
            <a:off x="3590837" y="2170178"/>
            <a:ext cx="611566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/>
              <a:t>Session 3 </a:t>
            </a:r>
          </a:p>
          <a:p>
            <a:r>
              <a:rPr lang="en-IN" sz="8800" dirty="0"/>
              <a:t>       </a:t>
            </a:r>
            <a:r>
              <a:rPr lang="en-IN" sz="6600" dirty="0"/>
              <a:t>END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62409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9735</TotalTime>
  <Words>5925</Words>
  <Application>Microsoft Office PowerPoint</Application>
  <PresentationFormat>Widescreen</PresentationFormat>
  <Paragraphs>854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Aptos</vt:lpstr>
      <vt:lpstr>Aptos Display</vt:lpstr>
      <vt:lpstr>Arial</vt:lpstr>
      <vt:lpstr>CourierNewPSMT</vt:lpstr>
      <vt:lpstr>Engravers MT</vt:lpstr>
      <vt:lpstr>Google Sans</vt:lpstr>
      <vt:lpstr>OpenSans</vt:lpstr>
      <vt:lpstr>OpenSans-Extrabold</vt:lpstr>
      <vt:lpstr>OpenSans-Light</vt:lpstr>
      <vt:lpstr>OpenSansLight-Italic</vt:lpstr>
      <vt:lpstr>Söhne Mono</vt:lpstr>
      <vt:lpstr>Times New Roman</vt:lpstr>
      <vt:lpstr>Wingdings</vt:lpstr>
      <vt:lpstr>Office Theme</vt:lpstr>
      <vt:lpstr>MISRA C -2012</vt:lpstr>
      <vt:lpstr>PowerPoint Presentation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  <vt:lpstr>History  of MISRA-C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MISRA C -2023</dc:title>
  <dc:creator>Tipl12</dc:creator>
  <cp:lastModifiedBy>Tipl12</cp:lastModifiedBy>
  <cp:revision>322</cp:revision>
  <dcterms:created xsi:type="dcterms:W3CDTF">2024-03-22T07:02:08Z</dcterms:created>
  <dcterms:modified xsi:type="dcterms:W3CDTF">2024-10-04T07:17:43Z</dcterms:modified>
</cp:coreProperties>
</file>