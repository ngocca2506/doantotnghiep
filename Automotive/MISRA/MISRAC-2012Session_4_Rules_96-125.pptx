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56" r:id="rId2"/>
    <p:sldId id="694" r:id="rId3"/>
    <p:sldId id="693" r:id="rId4"/>
    <p:sldId id="709" r:id="rId5"/>
    <p:sldId id="710" r:id="rId6"/>
    <p:sldId id="711" r:id="rId7"/>
    <p:sldId id="712" r:id="rId8"/>
    <p:sldId id="713" r:id="rId9"/>
    <p:sldId id="714" r:id="rId10"/>
    <p:sldId id="715" r:id="rId11"/>
    <p:sldId id="716" r:id="rId12"/>
    <p:sldId id="717" r:id="rId13"/>
    <p:sldId id="718" r:id="rId14"/>
    <p:sldId id="719" r:id="rId15"/>
    <p:sldId id="720" r:id="rId16"/>
    <p:sldId id="721" r:id="rId17"/>
    <p:sldId id="722" r:id="rId18"/>
    <p:sldId id="723" r:id="rId19"/>
    <p:sldId id="724" r:id="rId20"/>
    <p:sldId id="725" r:id="rId21"/>
    <p:sldId id="726" r:id="rId22"/>
    <p:sldId id="727" r:id="rId23"/>
    <p:sldId id="728" r:id="rId24"/>
    <p:sldId id="729" r:id="rId25"/>
    <p:sldId id="730" r:id="rId26"/>
    <p:sldId id="731" r:id="rId27"/>
    <p:sldId id="732" r:id="rId28"/>
    <p:sldId id="733" r:id="rId29"/>
    <p:sldId id="734" r:id="rId30"/>
    <p:sldId id="735" r:id="rId31"/>
    <p:sldId id="736" r:id="rId32"/>
    <p:sldId id="737" r:id="rId33"/>
    <p:sldId id="70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6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46" autoAdjust="0"/>
    <p:restoredTop sz="94641" autoAdjust="0"/>
  </p:normalViewPr>
  <p:slideViewPr>
    <p:cSldViewPr snapToGrid="0">
      <p:cViewPr varScale="1">
        <p:scale>
          <a:sx n="77" d="100"/>
          <a:sy n="77" d="100"/>
        </p:scale>
        <p:origin x="1032" y="62"/>
      </p:cViewPr>
      <p:guideLst>
        <p:guide orient="horz" pos="86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C0CE3-64C2-8BE4-F529-68FA24F1C85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2BA8F09-2173-DB5B-9AC9-88D1BC830C8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BEAAA3C-0D47-4815-B047-FF090E9739A4}" type="datetimeFigureOut">
              <a:rPr lang="en-IN" smtClean="0"/>
              <a:t>15-11-2024</a:t>
            </a:fld>
            <a:endParaRPr lang="en-IN"/>
          </a:p>
        </p:txBody>
      </p:sp>
      <p:sp>
        <p:nvSpPr>
          <p:cNvPr id="4" name="Footer Placeholder 3">
            <a:extLst>
              <a:ext uri="{FF2B5EF4-FFF2-40B4-BE49-F238E27FC236}">
                <a16:creationId xmlns:a16="http://schemas.microsoft.com/office/drawing/2014/main" id="{5F23F634-5CA8-9230-69BA-CEEDCEF82E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53E76C5-64AA-C05F-D72A-6D5DB21302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6DB3F2-10F9-4E3C-8D35-B39AAD116313}" type="slidenum">
              <a:rPr lang="en-IN" smtClean="0"/>
              <a:t>‹#›</a:t>
            </a:fld>
            <a:endParaRPr lang="en-IN"/>
          </a:p>
        </p:txBody>
      </p:sp>
    </p:spTree>
    <p:extLst>
      <p:ext uri="{BB962C8B-B14F-4D97-AF65-F5344CB8AC3E}">
        <p14:creationId xmlns:p14="http://schemas.microsoft.com/office/powerpoint/2010/main" val="12560045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21722-3FAF-42AD-B449-C84EF407100E}" type="datetimeFigureOut">
              <a:rPr lang="en-IN" smtClean="0"/>
              <a:t>15-11-2024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D5608-69BC-4A3A-A24C-10871E1E142E}" type="slidenum">
              <a:rPr lang="en-IN" smtClean="0"/>
              <a:t>‹#›</a:t>
            </a:fld>
            <a:endParaRPr lang="en-IN"/>
          </a:p>
        </p:txBody>
      </p:sp>
    </p:spTree>
    <p:extLst>
      <p:ext uri="{BB962C8B-B14F-4D97-AF65-F5344CB8AC3E}">
        <p14:creationId xmlns:p14="http://schemas.microsoft.com/office/powerpoint/2010/main" val="232378824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8</a:t>
            </a:fld>
            <a:endParaRPr lang="en-IN"/>
          </a:p>
        </p:txBody>
      </p:sp>
    </p:spTree>
    <p:extLst>
      <p:ext uri="{BB962C8B-B14F-4D97-AF65-F5344CB8AC3E}">
        <p14:creationId xmlns:p14="http://schemas.microsoft.com/office/powerpoint/2010/main" val="3137670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9</a:t>
            </a:fld>
            <a:endParaRPr lang="en-IN"/>
          </a:p>
        </p:txBody>
      </p:sp>
    </p:spTree>
    <p:extLst>
      <p:ext uri="{BB962C8B-B14F-4D97-AF65-F5344CB8AC3E}">
        <p14:creationId xmlns:p14="http://schemas.microsoft.com/office/powerpoint/2010/main" val="2839254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10</a:t>
            </a:fld>
            <a:endParaRPr lang="en-IN"/>
          </a:p>
        </p:txBody>
      </p:sp>
    </p:spTree>
    <p:extLst>
      <p:ext uri="{BB962C8B-B14F-4D97-AF65-F5344CB8AC3E}">
        <p14:creationId xmlns:p14="http://schemas.microsoft.com/office/powerpoint/2010/main" val="2975598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11</a:t>
            </a:fld>
            <a:endParaRPr lang="en-IN"/>
          </a:p>
        </p:txBody>
      </p:sp>
    </p:spTree>
    <p:extLst>
      <p:ext uri="{BB962C8B-B14F-4D97-AF65-F5344CB8AC3E}">
        <p14:creationId xmlns:p14="http://schemas.microsoft.com/office/powerpoint/2010/main" val="124167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12</a:t>
            </a:fld>
            <a:endParaRPr lang="en-IN"/>
          </a:p>
        </p:txBody>
      </p:sp>
    </p:spTree>
    <p:extLst>
      <p:ext uri="{BB962C8B-B14F-4D97-AF65-F5344CB8AC3E}">
        <p14:creationId xmlns:p14="http://schemas.microsoft.com/office/powerpoint/2010/main" val="973315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13</a:t>
            </a:fld>
            <a:endParaRPr lang="en-IN"/>
          </a:p>
        </p:txBody>
      </p:sp>
    </p:spTree>
    <p:extLst>
      <p:ext uri="{BB962C8B-B14F-4D97-AF65-F5344CB8AC3E}">
        <p14:creationId xmlns:p14="http://schemas.microsoft.com/office/powerpoint/2010/main" val="96156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14</a:t>
            </a:fld>
            <a:endParaRPr lang="en-IN"/>
          </a:p>
        </p:txBody>
      </p:sp>
    </p:spTree>
    <p:extLst>
      <p:ext uri="{BB962C8B-B14F-4D97-AF65-F5344CB8AC3E}">
        <p14:creationId xmlns:p14="http://schemas.microsoft.com/office/powerpoint/2010/main" val="4266283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15</a:t>
            </a:fld>
            <a:endParaRPr lang="en-IN"/>
          </a:p>
        </p:txBody>
      </p:sp>
    </p:spTree>
    <p:extLst>
      <p:ext uri="{BB962C8B-B14F-4D97-AF65-F5344CB8AC3E}">
        <p14:creationId xmlns:p14="http://schemas.microsoft.com/office/powerpoint/2010/main" val="3573647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16</a:t>
            </a:fld>
            <a:endParaRPr lang="en-IN"/>
          </a:p>
        </p:txBody>
      </p:sp>
    </p:spTree>
    <p:extLst>
      <p:ext uri="{BB962C8B-B14F-4D97-AF65-F5344CB8AC3E}">
        <p14:creationId xmlns:p14="http://schemas.microsoft.com/office/powerpoint/2010/main" val="1976272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17</a:t>
            </a:fld>
            <a:endParaRPr lang="en-IN"/>
          </a:p>
        </p:txBody>
      </p:sp>
    </p:spTree>
    <p:extLst>
      <p:ext uri="{BB962C8B-B14F-4D97-AF65-F5344CB8AC3E}">
        <p14:creationId xmlns:p14="http://schemas.microsoft.com/office/powerpoint/2010/main" val="30382102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18</a:t>
            </a:fld>
            <a:endParaRPr lang="en-IN"/>
          </a:p>
        </p:txBody>
      </p:sp>
    </p:spTree>
    <p:extLst>
      <p:ext uri="{BB962C8B-B14F-4D97-AF65-F5344CB8AC3E}">
        <p14:creationId xmlns:p14="http://schemas.microsoft.com/office/powerpoint/2010/main" val="4293598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19</a:t>
            </a:fld>
            <a:endParaRPr lang="en-IN"/>
          </a:p>
        </p:txBody>
      </p:sp>
    </p:spTree>
    <p:extLst>
      <p:ext uri="{BB962C8B-B14F-4D97-AF65-F5344CB8AC3E}">
        <p14:creationId xmlns:p14="http://schemas.microsoft.com/office/powerpoint/2010/main" val="1672318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20</a:t>
            </a:fld>
            <a:endParaRPr lang="en-IN"/>
          </a:p>
        </p:txBody>
      </p:sp>
    </p:spTree>
    <p:extLst>
      <p:ext uri="{BB962C8B-B14F-4D97-AF65-F5344CB8AC3E}">
        <p14:creationId xmlns:p14="http://schemas.microsoft.com/office/powerpoint/2010/main" val="1962133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21</a:t>
            </a:fld>
            <a:endParaRPr lang="en-IN"/>
          </a:p>
        </p:txBody>
      </p:sp>
    </p:spTree>
    <p:extLst>
      <p:ext uri="{BB962C8B-B14F-4D97-AF65-F5344CB8AC3E}">
        <p14:creationId xmlns:p14="http://schemas.microsoft.com/office/powerpoint/2010/main" val="371989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22</a:t>
            </a:fld>
            <a:endParaRPr lang="en-IN"/>
          </a:p>
        </p:txBody>
      </p:sp>
    </p:spTree>
    <p:extLst>
      <p:ext uri="{BB962C8B-B14F-4D97-AF65-F5344CB8AC3E}">
        <p14:creationId xmlns:p14="http://schemas.microsoft.com/office/powerpoint/2010/main" val="2938580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23</a:t>
            </a:fld>
            <a:endParaRPr lang="en-IN"/>
          </a:p>
        </p:txBody>
      </p:sp>
    </p:spTree>
    <p:extLst>
      <p:ext uri="{BB962C8B-B14F-4D97-AF65-F5344CB8AC3E}">
        <p14:creationId xmlns:p14="http://schemas.microsoft.com/office/powerpoint/2010/main" val="8729257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24</a:t>
            </a:fld>
            <a:endParaRPr lang="en-IN"/>
          </a:p>
        </p:txBody>
      </p:sp>
    </p:spTree>
    <p:extLst>
      <p:ext uri="{BB962C8B-B14F-4D97-AF65-F5344CB8AC3E}">
        <p14:creationId xmlns:p14="http://schemas.microsoft.com/office/powerpoint/2010/main" val="2211240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25</a:t>
            </a:fld>
            <a:endParaRPr lang="en-IN"/>
          </a:p>
        </p:txBody>
      </p:sp>
    </p:spTree>
    <p:extLst>
      <p:ext uri="{BB962C8B-B14F-4D97-AF65-F5344CB8AC3E}">
        <p14:creationId xmlns:p14="http://schemas.microsoft.com/office/powerpoint/2010/main" val="35130676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26</a:t>
            </a:fld>
            <a:endParaRPr lang="en-IN"/>
          </a:p>
        </p:txBody>
      </p:sp>
    </p:spTree>
    <p:extLst>
      <p:ext uri="{BB962C8B-B14F-4D97-AF65-F5344CB8AC3E}">
        <p14:creationId xmlns:p14="http://schemas.microsoft.com/office/powerpoint/2010/main" val="40513482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27</a:t>
            </a:fld>
            <a:endParaRPr lang="en-IN"/>
          </a:p>
        </p:txBody>
      </p:sp>
    </p:spTree>
    <p:extLst>
      <p:ext uri="{BB962C8B-B14F-4D97-AF65-F5344CB8AC3E}">
        <p14:creationId xmlns:p14="http://schemas.microsoft.com/office/powerpoint/2010/main" val="6705268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28</a:t>
            </a:fld>
            <a:endParaRPr lang="en-IN"/>
          </a:p>
        </p:txBody>
      </p:sp>
    </p:spTree>
    <p:extLst>
      <p:ext uri="{BB962C8B-B14F-4D97-AF65-F5344CB8AC3E}">
        <p14:creationId xmlns:p14="http://schemas.microsoft.com/office/powerpoint/2010/main" val="17535940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29</a:t>
            </a:fld>
            <a:endParaRPr lang="en-IN"/>
          </a:p>
        </p:txBody>
      </p:sp>
    </p:spTree>
    <p:extLst>
      <p:ext uri="{BB962C8B-B14F-4D97-AF65-F5344CB8AC3E}">
        <p14:creationId xmlns:p14="http://schemas.microsoft.com/office/powerpoint/2010/main" val="41183678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30</a:t>
            </a:fld>
            <a:endParaRPr lang="en-IN"/>
          </a:p>
        </p:txBody>
      </p:sp>
    </p:spTree>
    <p:extLst>
      <p:ext uri="{BB962C8B-B14F-4D97-AF65-F5344CB8AC3E}">
        <p14:creationId xmlns:p14="http://schemas.microsoft.com/office/powerpoint/2010/main" val="1006189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31</a:t>
            </a:fld>
            <a:endParaRPr lang="en-IN"/>
          </a:p>
        </p:txBody>
      </p:sp>
    </p:spTree>
    <p:extLst>
      <p:ext uri="{BB962C8B-B14F-4D97-AF65-F5344CB8AC3E}">
        <p14:creationId xmlns:p14="http://schemas.microsoft.com/office/powerpoint/2010/main" val="4061575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32</a:t>
            </a:fld>
            <a:endParaRPr lang="en-IN"/>
          </a:p>
        </p:txBody>
      </p:sp>
    </p:spTree>
    <p:extLst>
      <p:ext uri="{BB962C8B-B14F-4D97-AF65-F5344CB8AC3E}">
        <p14:creationId xmlns:p14="http://schemas.microsoft.com/office/powerpoint/2010/main" val="1175735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3FFED-36D7-43B2-F888-9EABB5DED8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7D6D8D7-69F6-2189-E687-C59CE438FA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7A9F7BE-2E75-77AB-D65F-4950040E5BDD}"/>
              </a:ext>
            </a:extLst>
          </p:cNvPr>
          <p:cNvSpPr>
            <a:spLocks noGrp="1"/>
          </p:cNvSpPr>
          <p:nvPr>
            <p:ph type="dt" sz="half" idx="10"/>
          </p:nvPr>
        </p:nvSpPr>
        <p:spPr/>
        <p:txBody>
          <a:bodyPr/>
          <a:lstStyle/>
          <a:p>
            <a:fld id="{8BA2CA84-D347-4BAF-97F3-11DEC6C01C52}" type="datetime1">
              <a:rPr lang="en-IN" smtClean="0"/>
              <a:t>15-11-2024</a:t>
            </a:fld>
            <a:endParaRPr lang="en-IN"/>
          </a:p>
        </p:txBody>
      </p:sp>
      <p:sp>
        <p:nvSpPr>
          <p:cNvPr id="5" name="Footer Placeholder 4">
            <a:extLst>
              <a:ext uri="{FF2B5EF4-FFF2-40B4-BE49-F238E27FC236}">
                <a16:creationId xmlns:a16="http://schemas.microsoft.com/office/drawing/2014/main" id="{6E4F6083-A183-26B6-370D-B11C32BA24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229B87-89A4-BEC0-CA38-DEB8CC6BADCD}"/>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2506113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E1E1E-F06E-A7AA-BCFA-D7A1235A67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35E01B-9010-4A28-75BF-BEBC017D6E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12D907-7E0F-78EE-C3BB-1112EB6CEBFC}"/>
              </a:ext>
            </a:extLst>
          </p:cNvPr>
          <p:cNvSpPr>
            <a:spLocks noGrp="1"/>
          </p:cNvSpPr>
          <p:nvPr>
            <p:ph type="dt" sz="half" idx="10"/>
          </p:nvPr>
        </p:nvSpPr>
        <p:spPr/>
        <p:txBody>
          <a:bodyPr/>
          <a:lstStyle/>
          <a:p>
            <a:fld id="{E430A3A9-4A49-413A-A80D-084EB205B96C}" type="datetime1">
              <a:rPr lang="en-IN" smtClean="0"/>
              <a:t>15-11-2024</a:t>
            </a:fld>
            <a:endParaRPr lang="en-IN"/>
          </a:p>
        </p:txBody>
      </p:sp>
      <p:sp>
        <p:nvSpPr>
          <p:cNvPr id="5" name="Footer Placeholder 4">
            <a:extLst>
              <a:ext uri="{FF2B5EF4-FFF2-40B4-BE49-F238E27FC236}">
                <a16:creationId xmlns:a16="http://schemas.microsoft.com/office/drawing/2014/main" id="{69083002-D866-0E39-AE6D-5E2F88D06C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30640E-A427-61CF-ACC6-0F966EE48669}"/>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3983109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703C0-997D-2811-523A-68EA8BA90A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8FFE6D8-AD5C-85DE-6EF3-4908CCEA38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835809-DD79-9B47-25BA-93E963DED268}"/>
              </a:ext>
            </a:extLst>
          </p:cNvPr>
          <p:cNvSpPr>
            <a:spLocks noGrp="1"/>
          </p:cNvSpPr>
          <p:nvPr>
            <p:ph type="dt" sz="half" idx="10"/>
          </p:nvPr>
        </p:nvSpPr>
        <p:spPr/>
        <p:txBody>
          <a:bodyPr/>
          <a:lstStyle/>
          <a:p>
            <a:fld id="{894B9D9E-0D13-4E16-BD68-1DBB35BA5E88}" type="datetime1">
              <a:rPr lang="en-IN" smtClean="0"/>
              <a:t>15-11-2024</a:t>
            </a:fld>
            <a:endParaRPr lang="en-IN"/>
          </a:p>
        </p:txBody>
      </p:sp>
      <p:sp>
        <p:nvSpPr>
          <p:cNvPr id="5" name="Footer Placeholder 4">
            <a:extLst>
              <a:ext uri="{FF2B5EF4-FFF2-40B4-BE49-F238E27FC236}">
                <a16:creationId xmlns:a16="http://schemas.microsoft.com/office/drawing/2014/main" id="{99A8DD06-AA4D-9ED2-2DA4-5CCFEF576C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744DC2-2DC6-8103-9593-03AC79224EF9}"/>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873241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64AF0-F1DA-E600-1F3D-5CAE8D5386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BF6802-7FA9-40C6-A738-3C4A09E3B2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2AD067-9DD0-3B89-CF9C-32D1092C35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14AF70E-CF9B-67E5-D5F1-E3EACAA35BA6}"/>
              </a:ext>
            </a:extLst>
          </p:cNvPr>
          <p:cNvSpPr>
            <a:spLocks noGrp="1"/>
          </p:cNvSpPr>
          <p:nvPr>
            <p:ph type="dt" sz="half" idx="10"/>
          </p:nvPr>
        </p:nvSpPr>
        <p:spPr/>
        <p:txBody>
          <a:bodyPr/>
          <a:lstStyle/>
          <a:p>
            <a:fld id="{A2018679-1E3D-49AE-AFB6-AE56D52B92D8}" type="datetime1">
              <a:rPr lang="en-IN" smtClean="0"/>
              <a:t>15-11-2024</a:t>
            </a:fld>
            <a:endParaRPr lang="en-IN"/>
          </a:p>
        </p:txBody>
      </p:sp>
      <p:sp>
        <p:nvSpPr>
          <p:cNvPr id="6" name="Footer Placeholder 5">
            <a:extLst>
              <a:ext uri="{FF2B5EF4-FFF2-40B4-BE49-F238E27FC236}">
                <a16:creationId xmlns:a16="http://schemas.microsoft.com/office/drawing/2014/main" id="{EE1787F8-A13B-62EB-F956-0127918C67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9D254B-F6B3-81D0-8E47-43D336C5072C}"/>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3649495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A6BB3-C3CD-9344-D40C-91D1B13B43C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6D280C-7763-6258-8323-496778AEB5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4B3309-2F1B-ADDA-34E8-AD2D30CD76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936486-85AA-3681-084C-692C3F4F00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69680C-E779-17D2-60FF-29FB6DB4F2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8F234B5-31F1-46AE-18C1-2EB08614662A}"/>
              </a:ext>
            </a:extLst>
          </p:cNvPr>
          <p:cNvSpPr>
            <a:spLocks noGrp="1"/>
          </p:cNvSpPr>
          <p:nvPr>
            <p:ph type="dt" sz="half" idx="10"/>
          </p:nvPr>
        </p:nvSpPr>
        <p:spPr/>
        <p:txBody>
          <a:bodyPr/>
          <a:lstStyle/>
          <a:p>
            <a:fld id="{47C3FC5D-BD83-495D-A262-D365429151FD}" type="datetime1">
              <a:rPr lang="en-IN" smtClean="0"/>
              <a:t>15-11-2024</a:t>
            </a:fld>
            <a:endParaRPr lang="en-IN"/>
          </a:p>
        </p:txBody>
      </p:sp>
      <p:sp>
        <p:nvSpPr>
          <p:cNvPr id="8" name="Footer Placeholder 7">
            <a:extLst>
              <a:ext uri="{FF2B5EF4-FFF2-40B4-BE49-F238E27FC236}">
                <a16:creationId xmlns:a16="http://schemas.microsoft.com/office/drawing/2014/main" id="{4EBCED9A-5A97-F55C-5156-86BEAB6D77D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061C6B2-A937-B892-F407-63F6CBAB9FAF}"/>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3145515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1EE3D-95BE-BDE2-4375-E9FCE599B9B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4E05EBC-3FCC-87FC-B49C-8C3597188E7A}"/>
              </a:ext>
            </a:extLst>
          </p:cNvPr>
          <p:cNvSpPr>
            <a:spLocks noGrp="1"/>
          </p:cNvSpPr>
          <p:nvPr>
            <p:ph type="dt" sz="half" idx="10"/>
          </p:nvPr>
        </p:nvSpPr>
        <p:spPr/>
        <p:txBody>
          <a:bodyPr/>
          <a:lstStyle/>
          <a:p>
            <a:fld id="{AFC694A5-D437-4D36-B258-FEC4582DD98B}" type="datetime1">
              <a:rPr lang="en-IN" smtClean="0"/>
              <a:t>15-11-2024</a:t>
            </a:fld>
            <a:endParaRPr lang="en-IN"/>
          </a:p>
        </p:txBody>
      </p:sp>
      <p:sp>
        <p:nvSpPr>
          <p:cNvPr id="4" name="Footer Placeholder 3">
            <a:extLst>
              <a:ext uri="{FF2B5EF4-FFF2-40B4-BE49-F238E27FC236}">
                <a16:creationId xmlns:a16="http://schemas.microsoft.com/office/drawing/2014/main" id="{DBCE593F-302D-D4FD-1007-44558FC0176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0286216-5107-88DF-5C7A-6A76D82BAB6C}"/>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168659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C7759D-C61F-7990-D517-A4BDF28569E4}"/>
              </a:ext>
            </a:extLst>
          </p:cNvPr>
          <p:cNvSpPr>
            <a:spLocks noGrp="1"/>
          </p:cNvSpPr>
          <p:nvPr>
            <p:ph type="dt" sz="half" idx="10"/>
          </p:nvPr>
        </p:nvSpPr>
        <p:spPr/>
        <p:txBody>
          <a:bodyPr/>
          <a:lstStyle/>
          <a:p>
            <a:fld id="{BB0B7B17-AEE6-4A7D-9A3D-A09392F485D4}" type="datetime1">
              <a:rPr lang="en-IN" smtClean="0"/>
              <a:t>15-11-2024</a:t>
            </a:fld>
            <a:endParaRPr lang="en-IN"/>
          </a:p>
        </p:txBody>
      </p:sp>
      <p:sp>
        <p:nvSpPr>
          <p:cNvPr id="3" name="Footer Placeholder 2">
            <a:extLst>
              <a:ext uri="{FF2B5EF4-FFF2-40B4-BE49-F238E27FC236}">
                <a16:creationId xmlns:a16="http://schemas.microsoft.com/office/drawing/2014/main" id="{4379D4AA-7EBA-3832-421F-5A147424A5A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32C5293-7D86-D7BC-DE0A-4659F2628539}"/>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3246029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73D98-6C16-E9BA-5E19-301BC189FC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1E30364-5E1A-9B39-3069-77829F5338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986B81-E291-141C-6521-82FEF60023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3884E5-59A8-DE53-75D9-42322A559A1E}"/>
              </a:ext>
            </a:extLst>
          </p:cNvPr>
          <p:cNvSpPr>
            <a:spLocks noGrp="1"/>
          </p:cNvSpPr>
          <p:nvPr>
            <p:ph type="dt" sz="half" idx="10"/>
          </p:nvPr>
        </p:nvSpPr>
        <p:spPr/>
        <p:txBody>
          <a:bodyPr/>
          <a:lstStyle/>
          <a:p>
            <a:fld id="{4ED6D81C-2B35-4C28-923D-F05C6688615C}" type="datetime1">
              <a:rPr lang="en-IN" smtClean="0"/>
              <a:t>15-11-2024</a:t>
            </a:fld>
            <a:endParaRPr lang="en-IN"/>
          </a:p>
        </p:txBody>
      </p:sp>
      <p:sp>
        <p:nvSpPr>
          <p:cNvPr id="6" name="Footer Placeholder 5">
            <a:extLst>
              <a:ext uri="{FF2B5EF4-FFF2-40B4-BE49-F238E27FC236}">
                <a16:creationId xmlns:a16="http://schemas.microsoft.com/office/drawing/2014/main" id="{D0C6CBD6-6A54-A9AB-F164-2F173D90B7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735D2E-548B-32B6-EBD8-6B7D85DAB471}"/>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512731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30479-EA5C-320D-F829-764A2E210C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D4E253-F503-BF9E-F205-FFED791D74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ADD9114-88BC-744F-6A24-4C939C6A9A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378E0A-F634-D52C-AE73-64020501FF94}"/>
              </a:ext>
            </a:extLst>
          </p:cNvPr>
          <p:cNvSpPr>
            <a:spLocks noGrp="1"/>
          </p:cNvSpPr>
          <p:nvPr>
            <p:ph type="dt" sz="half" idx="10"/>
          </p:nvPr>
        </p:nvSpPr>
        <p:spPr/>
        <p:txBody>
          <a:bodyPr/>
          <a:lstStyle/>
          <a:p>
            <a:fld id="{31759A61-A63B-4143-92AB-879CC31FC8ED}" type="datetime1">
              <a:rPr lang="en-IN" smtClean="0"/>
              <a:t>15-11-2024</a:t>
            </a:fld>
            <a:endParaRPr lang="en-IN"/>
          </a:p>
        </p:txBody>
      </p:sp>
      <p:sp>
        <p:nvSpPr>
          <p:cNvPr id="6" name="Footer Placeholder 5">
            <a:extLst>
              <a:ext uri="{FF2B5EF4-FFF2-40B4-BE49-F238E27FC236}">
                <a16:creationId xmlns:a16="http://schemas.microsoft.com/office/drawing/2014/main" id="{4D188671-8B07-4CD1-F42A-E3CAEEBE35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ABE829-1E77-F739-86C5-ACFF9EBA9205}"/>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4030816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D84DF-F862-841D-A52F-72AEA894FD4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576B6B-FBE1-895C-91B0-67BE8BAA43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879D52-B4A2-46EE-7E70-2677FF4C56C8}"/>
              </a:ext>
            </a:extLst>
          </p:cNvPr>
          <p:cNvSpPr>
            <a:spLocks noGrp="1"/>
          </p:cNvSpPr>
          <p:nvPr>
            <p:ph type="dt" sz="half" idx="10"/>
          </p:nvPr>
        </p:nvSpPr>
        <p:spPr/>
        <p:txBody>
          <a:bodyPr/>
          <a:lstStyle/>
          <a:p>
            <a:fld id="{04961202-0DBA-4B4C-908F-06724AE6692E}" type="datetime1">
              <a:rPr lang="en-IN" smtClean="0"/>
              <a:t>15-11-2024</a:t>
            </a:fld>
            <a:endParaRPr lang="en-IN"/>
          </a:p>
        </p:txBody>
      </p:sp>
      <p:sp>
        <p:nvSpPr>
          <p:cNvPr id="5" name="Footer Placeholder 4">
            <a:extLst>
              <a:ext uri="{FF2B5EF4-FFF2-40B4-BE49-F238E27FC236}">
                <a16:creationId xmlns:a16="http://schemas.microsoft.com/office/drawing/2014/main" id="{1D4E4A1A-140E-794E-99F6-D87E02B193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968B75-8717-D169-3BC4-30ADA82BA480}"/>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4155228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CC44AC-DE64-58B8-4BB4-30BCA67B34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6C749C-F4EF-4973-8E51-41A59D1622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486724-209B-7DF2-92FB-1A941B290259}"/>
              </a:ext>
            </a:extLst>
          </p:cNvPr>
          <p:cNvSpPr>
            <a:spLocks noGrp="1"/>
          </p:cNvSpPr>
          <p:nvPr>
            <p:ph type="dt" sz="half" idx="10"/>
          </p:nvPr>
        </p:nvSpPr>
        <p:spPr/>
        <p:txBody>
          <a:bodyPr/>
          <a:lstStyle/>
          <a:p>
            <a:fld id="{A0F9B281-E007-44FF-97DA-DE060F3B3F9F}" type="datetime1">
              <a:rPr lang="en-IN" smtClean="0"/>
              <a:t>15-11-2024</a:t>
            </a:fld>
            <a:endParaRPr lang="en-IN"/>
          </a:p>
        </p:txBody>
      </p:sp>
      <p:sp>
        <p:nvSpPr>
          <p:cNvPr id="5" name="Footer Placeholder 4">
            <a:extLst>
              <a:ext uri="{FF2B5EF4-FFF2-40B4-BE49-F238E27FC236}">
                <a16:creationId xmlns:a16="http://schemas.microsoft.com/office/drawing/2014/main" id="{A9D7517B-C853-8AA5-026D-3FE584963F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E3087A-B328-CC17-20DF-D52B33FDD603}"/>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1554805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428427-087B-192A-4412-417CF470F1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D65A91-73F4-933C-A11B-2933EE5E2B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19BD1B-1900-D153-8D49-C53D79ACFF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A33891-03AF-4560-8B10-77BCB7FDFEA3}" type="datetime1">
              <a:rPr lang="en-IN" smtClean="0"/>
              <a:t>15-11-2024</a:t>
            </a:fld>
            <a:endParaRPr lang="en-IN"/>
          </a:p>
        </p:txBody>
      </p:sp>
      <p:sp>
        <p:nvSpPr>
          <p:cNvPr id="5" name="Footer Placeholder 4">
            <a:extLst>
              <a:ext uri="{FF2B5EF4-FFF2-40B4-BE49-F238E27FC236}">
                <a16:creationId xmlns:a16="http://schemas.microsoft.com/office/drawing/2014/main" id="{C560E8CE-D1E7-414D-849C-5281FE841B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9F80EF1-60FF-CCFB-9CC4-C7F81BED54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247CA1-BCEC-4DD4-9B23-E2AE1AEA27A6}" type="slidenum">
              <a:rPr lang="en-IN" smtClean="0"/>
              <a:t>‹#›</a:t>
            </a:fld>
            <a:endParaRPr lang="en-IN"/>
          </a:p>
        </p:txBody>
      </p:sp>
    </p:spTree>
    <p:extLst>
      <p:ext uri="{BB962C8B-B14F-4D97-AF65-F5344CB8AC3E}">
        <p14:creationId xmlns:p14="http://schemas.microsoft.com/office/powerpoint/2010/main" val="3046338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44" name="Freeform: Shape 4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45">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47" name="Freeform: Shape 46">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48">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3502731" y="1542402"/>
            <a:ext cx="5186842" cy="2387918"/>
          </a:xfrm>
        </p:spPr>
        <p:txBody>
          <a:bodyPr anchor="b">
            <a:normAutofit/>
          </a:bodyPr>
          <a:lstStyle/>
          <a:p>
            <a:r>
              <a:rPr lang="en-IN" sz="5200" dirty="0">
                <a:solidFill>
                  <a:schemeClr val="tx2"/>
                </a:solidFill>
              </a:rPr>
              <a:t>MISRA C -2012</a:t>
            </a:r>
          </a:p>
        </p:txBody>
      </p:sp>
      <p:sp>
        <p:nvSpPr>
          <p:cNvPr id="3" name="Subtitle 2">
            <a:extLst>
              <a:ext uri="{FF2B5EF4-FFF2-40B4-BE49-F238E27FC236}">
                <a16:creationId xmlns:a16="http://schemas.microsoft.com/office/drawing/2014/main" id="{01CF5FAF-ED27-3EA8-9DBE-1A550957A76D}"/>
              </a:ext>
            </a:extLst>
          </p:cNvPr>
          <p:cNvSpPr>
            <a:spLocks noGrp="1"/>
          </p:cNvSpPr>
          <p:nvPr>
            <p:ph type="subTitle" idx="1"/>
          </p:nvPr>
        </p:nvSpPr>
        <p:spPr>
          <a:xfrm>
            <a:off x="3502135" y="4001587"/>
            <a:ext cx="5188034" cy="682079"/>
          </a:xfrm>
        </p:spPr>
        <p:txBody>
          <a:bodyPr>
            <a:normAutofit/>
          </a:bodyPr>
          <a:lstStyle/>
          <a:p>
            <a:r>
              <a:rPr lang="en-IN" sz="1500" dirty="0">
                <a:solidFill>
                  <a:schemeClr val="tx2"/>
                </a:solidFill>
              </a:rPr>
              <a:t>Prepared by –Chiranjit Adhikary</a:t>
            </a:r>
          </a:p>
          <a:p>
            <a:r>
              <a:rPr lang="en-IN" sz="1500" dirty="0">
                <a:solidFill>
                  <a:schemeClr val="tx2"/>
                </a:solidFill>
              </a:rPr>
              <a:t>Software Design Engineer  </a:t>
            </a:r>
          </a:p>
        </p:txBody>
      </p:sp>
      <p:grpSp>
        <p:nvGrpSpPr>
          <p:cNvPr id="55" name="Group 54">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56" name="Freeform: Shape 55">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Freeform: Shape 57">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59" name="Freeform: Shape 58">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1" name="Group 60">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62" name="Freeform: Shape 61">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Freeform: Shape 62">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Shape 63">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65" name="Freeform: Shape 64">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Slide Number Placeholder 5">
            <a:extLst>
              <a:ext uri="{FF2B5EF4-FFF2-40B4-BE49-F238E27FC236}">
                <a16:creationId xmlns:a16="http://schemas.microsoft.com/office/drawing/2014/main" id="{CB5DD979-E106-FED1-90BD-A467B5196ECC}"/>
              </a:ext>
            </a:extLst>
          </p:cNvPr>
          <p:cNvSpPr>
            <a:spLocks noGrp="1"/>
          </p:cNvSpPr>
          <p:nvPr>
            <p:ph type="sldNum" sz="quarter" idx="12"/>
          </p:nvPr>
        </p:nvSpPr>
        <p:spPr/>
        <p:txBody>
          <a:bodyPr/>
          <a:lstStyle/>
          <a:p>
            <a:fld id="{91247CA1-BCEC-4DD4-9B23-E2AE1AEA27A6}" type="slidenum">
              <a:rPr lang="en-IN" smtClean="0"/>
              <a:pPr/>
              <a:t>1</a:t>
            </a:fld>
            <a:endParaRPr lang="en-IN" dirty="0"/>
          </a:p>
        </p:txBody>
      </p:sp>
    </p:spTree>
    <p:extLst>
      <p:ext uri="{BB962C8B-B14F-4D97-AF65-F5344CB8AC3E}">
        <p14:creationId xmlns:p14="http://schemas.microsoft.com/office/powerpoint/2010/main" val="2635444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44" name="Freeform: Shape 4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45">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47" name="Freeform: Shape 46">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48">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55" name="Group 54">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56" name="Freeform: Shape 55">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Freeform: Shape 57">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59" name="Freeform: Shape 58">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1" name="Group 60">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62" name="Freeform: Shape 61">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Freeform: Shape 62">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Shape 63">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65" name="Freeform: Shape 64">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Slide Number Placeholder 5">
            <a:extLst>
              <a:ext uri="{FF2B5EF4-FFF2-40B4-BE49-F238E27FC236}">
                <a16:creationId xmlns:a16="http://schemas.microsoft.com/office/drawing/2014/main" id="{CB5DD979-E106-FED1-90BD-A467B5196ECC}"/>
              </a:ext>
            </a:extLst>
          </p:cNvPr>
          <p:cNvSpPr>
            <a:spLocks noGrp="1"/>
          </p:cNvSpPr>
          <p:nvPr>
            <p:ph type="sldNum" sz="quarter" idx="12"/>
          </p:nvPr>
        </p:nvSpPr>
        <p:spPr/>
        <p:txBody>
          <a:bodyPr/>
          <a:lstStyle/>
          <a:p>
            <a:fld id="{91247CA1-BCEC-4DD4-9B23-E2AE1AEA27A6}" type="slidenum">
              <a:rPr lang="en-IN" smtClean="0"/>
              <a:pPr/>
              <a:t>2</a:t>
            </a:fld>
            <a:endParaRPr lang="en-IN" dirty="0"/>
          </a:p>
        </p:txBody>
      </p:sp>
      <p:sp>
        <p:nvSpPr>
          <p:cNvPr id="12" name="TextBox 11">
            <a:extLst>
              <a:ext uri="{FF2B5EF4-FFF2-40B4-BE49-F238E27FC236}">
                <a16:creationId xmlns:a16="http://schemas.microsoft.com/office/drawing/2014/main" id="{615D9F14-991D-14A3-D825-6DF06FA27557}"/>
              </a:ext>
            </a:extLst>
          </p:cNvPr>
          <p:cNvSpPr txBox="1"/>
          <p:nvPr/>
        </p:nvSpPr>
        <p:spPr>
          <a:xfrm>
            <a:off x="3291701" y="2401869"/>
            <a:ext cx="5840651" cy="1569660"/>
          </a:xfrm>
          <a:prstGeom prst="rect">
            <a:avLst/>
          </a:prstGeom>
          <a:noFill/>
        </p:spPr>
        <p:txBody>
          <a:bodyPr wrap="square">
            <a:spAutoFit/>
          </a:bodyPr>
          <a:lstStyle/>
          <a:p>
            <a:r>
              <a:rPr lang="en-IN" sz="9600" dirty="0"/>
              <a:t>Session 4</a:t>
            </a:r>
          </a:p>
        </p:txBody>
      </p:sp>
      <p:sp>
        <p:nvSpPr>
          <p:cNvPr id="13" name="TextBox 12">
            <a:extLst>
              <a:ext uri="{FF2B5EF4-FFF2-40B4-BE49-F238E27FC236}">
                <a16:creationId xmlns:a16="http://schemas.microsoft.com/office/drawing/2014/main" id="{1B9BBEFF-2B56-09E2-077D-4803145E8E3C}"/>
              </a:ext>
            </a:extLst>
          </p:cNvPr>
          <p:cNvSpPr txBox="1"/>
          <p:nvPr/>
        </p:nvSpPr>
        <p:spPr>
          <a:xfrm>
            <a:off x="4573040" y="3840071"/>
            <a:ext cx="4037560" cy="707886"/>
          </a:xfrm>
          <a:prstGeom prst="rect">
            <a:avLst/>
          </a:prstGeom>
          <a:noFill/>
        </p:spPr>
        <p:txBody>
          <a:bodyPr wrap="square" rtlCol="0">
            <a:spAutoFit/>
          </a:bodyPr>
          <a:lstStyle/>
          <a:p>
            <a:r>
              <a:rPr lang="en-IN" sz="4000" dirty="0"/>
              <a:t>Rules( 96-125 )</a:t>
            </a:r>
          </a:p>
        </p:txBody>
      </p:sp>
      <p:sp>
        <p:nvSpPr>
          <p:cNvPr id="3" name="TextBox 2">
            <a:extLst>
              <a:ext uri="{FF2B5EF4-FFF2-40B4-BE49-F238E27FC236}">
                <a16:creationId xmlns:a16="http://schemas.microsoft.com/office/drawing/2014/main" id="{163D3423-7302-5923-48B9-723C0FE9FC35}"/>
              </a:ext>
            </a:extLst>
          </p:cNvPr>
          <p:cNvSpPr txBox="1"/>
          <p:nvPr/>
        </p:nvSpPr>
        <p:spPr>
          <a:xfrm>
            <a:off x="2858383" y="4683666"/>
            <a:ext cx="6100916" cy="369332"/>
          </a:xfrm>
          <a:prstGeom prst="rect">
            <a:avLst/>
          </a:prstGeom>
          <a:noFill/>
        </p:spPr>
        <p:txBody>
          <a:bodyPr wrap="square">
            <a:spAutoFit/>
          </a:bodyPr>
          <a:lstStyle/>
          <a:p>
            <a:pPr marL="285750" indent="-285750">
              <a:buFont typeface="Wingdings" panose="05000000000000000000" pitchFamily="2" charset="2"/>
              <a:buChar char="Ø"/>
            </a:pPr>
            <a:r>
              <a:rPr lang="en-IN" sz="1800" b="1" i="0" u="none" strike="noStrike" baseline="0" dirty="0">
                <a:latin typeface="OpenSans"/>
              </a:rPr>
              <a:t>Functions</a:t>
            </a:r>
            <a:endParaRPr lang="en-IN" b="1" dirty="0"/>
          </a:p>
        </p:txBody>
      </p:sp>
      <p:sp>
        <p:nvSpPr>
          <p:cNvPr id="7" name="TextBox 6">
            <a:extLst>
              <a:ext uri="{FF2B5EF4-FFF2-40B4-BE49-F238E27FC236}">
                <a16:creationId xmlns:a16="http://schemas.microsoft.com/office/drawing/2014/main" id="{C2D57EEC-9EED-8E3C-E349-72EB05AEA8DC}"/>
              </a:ext>
            </a:extLst>
          </p:cNvPr>
          <p:cNvSpPr txBox="1"/>
          <p:nvPr/>
        </p:nvSpPr>
        <p:spPr>
          <a:xfrm>
            <a:off x="3161568" y="5179506"/>
            <a:ext cx="6100916" cy="369332"/>
          </a:xfrm>
          <a:prstGeom prst="rect">
            <a:avLst/>
          </a:prstGeom>
          <a:noFill/>
        </p:spPr>
        <p:txBody>
          <a:bodyPr wrap="square">
            <a:spAutoFit/>
          </a:bodyPr>
          <a:lstStyle/>
          <a:p>
            <a:pPr marL="285750" indent="-285750">
              <a:buFont typeface="Wingdings" panose="05000000000000000000" pitchFamily="2" charset="2"/>
              <a:buChar char="Ø"/>
            </a:pPr>
            <a:r>
              <a:rPr lang="en-IN" sz="1800" b="1" i="0" u="none" strike="noStrike" baseline="0" dirty="0">
                <a:latin typeface="OpenSans"/>
              </a:rPr>
              <a:t>Pointers and arrays</a:t>
            </a:r>
            <a:endParaRPr lang="en-IN" b="1" dirty="0"/>
          </a:p>
        </p:txBody>
      </p:sp>
      <p:sp>
        <p:nvSpPr>
          <p:cNvPr id="9" name="TextBox 8">
            <a:extLst>
              <a:ext uri="{FF2B5EF4-FFF2-40B4-BE49-F238E27FC236}">
                <a16:creationId xmlns:a16="http://schemas.microsoft.com/office/drawing/2014/main" id="{AC9C59CF-B593-79ED-F64A-D31B5E987F14}"/>
              </a:ext>
            </a:extLst>
          </p:cNvPr>
          <p:cNvSpPr txBox="1"/>
          <p:nvPr/>
        </p:nvSpPr>
        <p:spPr>
          <a:xfrm>
            <a:off x="3607371" y="5697347"/>
            <a:ext cx="6100916" cy="369332"/>
          </a:xfrm>
          <a:prstGeom prst="rect">
            <a:avLst/>
          </a:prstGeom>
          <a:noFill/>
        </p:spPr>
        <p:txBody>
          <a:bodyPr wrap="square">
            <a:spAutoFit/>
          </a:bodyPr>
          <a:lstStyle/>
          <a:p>
            <a:pPr marL="285750" indent="-285750">
              <a:buFont typeface="Wingdings" panose="05000000000000000000" pitchFamily="2" charset="2"/>
              <a:buChar char="Ø"/>
            </a:pPr>
            <a:r>
              <a:rPr lang="en-IN" sz="1800" b="1" i="0" u="none" strike="noStrike" baseline="0" dirty="0">
                <a:latin typeface="OpenSans"/>
              </a:rPr>
              <a:t>Overlapping storage</a:t>
            </a:r>
            <a:endParaRPr lang="en-IN" b="1" dirty="0"/>
          </a:p>
        </p:txBody>
      </p:sp>
      <p:sp>
        <p:nvSpPr>
          <p:cNvPr id="11" name="TextBox 10">
            <a:extLst>
              <a:ext uri="{FF2B5EF4-FFF2-40B4-BE49-F238E27FC236}">
                <a16:creationId xmlns:a16="http://schemas.microsoft.com/office/drawing/2014/main" id="{CF33811D-E2C4-5FBC-8A5A-BBE6690665C9}"/>
              </a:ext>
            </a:extLst>
          </p:cNvPr>
          <p:cNvSpPr txBox="1"/>
          <p:nvPr/>
        </p:nvSpPr>
        <p:spPr>
          <a:xfrm>
            <a:off x="4161503" y="6129834"/>
            <a:ext cx="6100916" cy="369332"/>
          </a:xfrm>
          <a:prstGeom prst="rect">
            <a:avLst/>
          </a:prstGeom>
          <a:noFill/>
        </p:spPr>
        <p:txBody>
          <a:bodyPr wrap="square">
            <a:spAutoFit/>
          </a:bodyPr>
          <a:lstStyle/>
          <a:p>
            <a:pPr marL="285750" indent="-285750">
              <a:buFont typeface="Wingdings" panose="05000000000000000000" pitchFamily="2" charset="2"/>
              <a:buChar char="Ø"/>
            </a:pPr>
            <a:r>
              <a:rPr lang="en-IN" sz="1800" b="1" i="0" u="none" strike="noStrike" baseline="0" dirty="0">
                <a:latin typeface="OpenSans"/>
              </a:rPr>
              <a:t>Preprocessing directives</a:t>
            </a:r>
            <a:endParaRPr lang="en-IN" b="1" dirty="0"/>
          </a:p>
        </p:txBody>
      </p:sp>
    </p:spTree>
    <p:extLst>
      <p:ext uri="{BB962C8B-B14F-4D97-AF65-F5344CB8AC3E}">
        <p14:creationId xmlns:p14="http://schemas.microsoft.com/office/powerpoint/2010/main" val="2756068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3</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3</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Misra2012:Rule-17.1</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Times New Roman" panose="02020603050405020304" pitchFamily="18" charset="0"/>
                <a:cs typeface="Times New Roman" panose="02020603050405020304" pitchFamily="18" charset="0"/>
              </a:rPr>
              <a:t>The features of &lt;</a:t>
            </a:r>
            <a:r>
              <a:rPr lang="en-US" sz="1800" b="1" i="0" u="none" strike="noStrike" baseline="0" dirty="0" err="1">
                <a:highlight>
                  <a:srgbClr val="00FF00"/>
                </a:highlight>
                <a:latin typeface="Times New Roman" panose="02020603050405020304" pitchFamily="18" charset="0"/>
                <a:cs typeface="Times New Roman" panose="02020603050405020304" pitchFamily="18" charset="0"/>
              </a:rPr>
              <a:t>stdarg.h</a:t>
            </a:r>
            <a:r>
              <a:rPr lang="en-US" sz="1800" b="1" i="0" u="none" strike="noStrike" baseline="0" dirty="0">
                <a:highlight>
                  <a:srgbClr val="00FF00"/>
                </a:highlight>
                <a:latin typeface="Times New Roman" panose="02020603050405020304" pitchFamily="18" charset="0"/>
                <a:cs typeface="Times New Roman" panose="02020603050405020304" pitchFamily="18" charset="0"/>
              </a:rPr>
              <a:t>&gt; shall not be used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64976" y="1604261"/>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0" name="TextBox 39">
            <a:extLst>
              <a:ext uri="{FF2B5EF4-FFF2-40B4-BE49-F238E27FC236}">
                <a16:creationId xmlns:a16="http://schemas.microsoft.com/office/drawing/2014/main" id="{3F5D3363-DBFD-5BD0-1406-F50B099107AE}"/>
              </a:ext>
            </a:extLst>
          </p:cNvPr>
          <p:cNvSpPr txBox="1"/>
          <p:nvPr/>
        </p:nvSpPr>
        <p:spPr>
          <a:xfrm>
            <a:off x="1234496" y="1914872"/>
            <a:ext cx="10584637" cy="1477328"/>
          </a:xfrm>
          <a:prstGeom prst="rect">
            <a:avLst/>
          </a:prstGeom>
          <a:noFill/>
        </p:spPr>
        <p:txBody>
          <a:bodyPr wrap="square">
            <a:spAutoFit/>
          </a:bodyPr>
          <a:lstStyle/>
          <a:p>
            <a:pPr algn="l"/>
            <a:r>
              <a:rPr lang="en-US" sz="1800" b="0" i="0" u="none" strike="noStrike" baseline="0" dirty="0">
                <a:latin typeface="OpenSans-Light"/>
              </a:rPr>
              <a:t>The Standard lists many instances of undefined behavior associated with the features of</a:t>
            </a:r>
          </a:p>
          <a:p>
            <a:pPr algn="l"/>
            <a:r>
              <a:rPr lang="en-IN" sz="1800" b="0" i="0" u="none" strike="noStrike" baseline="0" dirty="0">
                <a:latin typeface="CourierNewPSMT"/>
              </a:rPr>
              <a:t>&lt;</a:t>
            </a:r>
            <a:r>
              <a:rPr lang="en-IN" sz="1800" b="0" i="0" u="none" strike="noStrike" baseline="0" dirty="0" err="1">
                <a:latin typeface="CourierNewPSMT"/>
              </a:rPr>
              <a:t>stdarg.h</a:t>
            </a:r>
            <a:r>
              <a:rPr lang="en-IN" sz="1800" b="0" i="0" u="none" strike="noStrike" baseline="0" dirty="0">
                <a:latin typeface="CourierNewPSMT"/>
              </a:rPr>
              <a:t>&gt;</a:t>
            </a:r>
            <a:r>
              <a:rPr lang="en-IN" sz="1800" b="0" i="0" u="none" strike="noStrike" baseline="0" dirty="0">
                <a:latin typeface="OpenSans-Light"/>
              </a:rPr>
              <a:t>, including:</a:t>
            </a:r>
          </a:p>
          <a:p>
            <a:pPr algn="l"/>
            <a:r>
              <a:rPr lang="en-US" sz="1800" b="0" i="0" u="none" strike="noStrike" baseline="0" dirty="0">
                <a:latin typeface="OpenSans-Extrabold"/>
              </a:rPr>
              <a:t>• </a:t>
            </a:r>
            <a:r>
              <a:rPr lang="en-US" sz="1800" b="0" i="1" u="none" strike="noStrike" baseline="0" dirty="0" err="1">
                <a:latin typeface="OpenSansLight-Italic"/>
              </a:rPr>
              <a:t>va_end</a:t>
            </a:r>
            <a:r>
              <a:rPr lang="en-US" sz="1800" b="0" i="1" u="none" strike="noStrike" baseline="0" dirty="0">
                <a:latin typeface="OpenSansLight-Italic"/>
              </a:rPr>
              <a:t> </a:t>
            </a:r>
            <a:r>
              <a:rPr lang="en-US" sz="1800" b="0" i="0" u="none" strike="noStrike" baseline="0" dirty="0">
                <a:latin typeface="OpenSans-Light"/>
              </a:rPr>
              <a:t>not being used prior to end of a function in which </a:t>
            </a:r>
            <a:r>
              <a:rPr lang="en-US" sz="1800" b="0" i="1" u="none" strike="noStrike" baseline="0" dirty="0" err="1">
                <a:latin typeface="OpenSansLight-Italic"/>
              </a:rPr>
              <a:t>va_start</a:t>
            </a:r>
            <a:r>
              <a:rPr lang="en-US" sz="1800" b="0" i="1" u="none" strike="noStrike" baseline="0" dirty="0">
                <a:latin typeface="OpenSansLight-Italic"/>
              </a:rPr>
              <a:t> </a:t>
            </a:r>
            <a:r>
              <a:rPr lang="en-US" sz="1800" b="0" i="0" u="none" strike="noStrike" baseline="0" dirty="0">
                <a:latin typeface="OpenSans-Light"/>
              </a:rPr>
              <a:t>was used;</a:t>
            </a:r>
          </a:p>
          <a:p>
            <a:pPr algn="l"/>
            <a:r>
              <a:rPr lang="en-US" sz="1800" b="0" i="0" u="none" strike="noStrike" baseline="0" dirty="0">
                <a:latin typeface="OpenSans-Extrabold"/>
              </a:rPr>
              <a:t>• </a:t>
            </a:r>
            <a:r>
              <a:rPr lang="en-US" sz="1800" b="0" i="1" u="none" strike="noStrike" baseline="0" dirty="0" err="1">
                <a:latin typeface="OpenSansLight-Italic"/>
              </a:rPr>
              <a:t>va_arg</a:t>
            </a:r>
            <a:r>
              <a:rPr lang="en-US" sz="1800" b="0" i="1" u="none" strike="noStrike" baseline="0" dirty="0">
                <a:latin typeface="OpenSansLight-Italic"/>
              </a:rPr>
              <a:t> </a:t>
            </a:r>
            <a:r>
              <a:rPr lang="en-US" sz="1800" b="0" i="0" u="none" strike="noStrike" baseline="0" dirty="0">
                <a:latin typeface="OpenSans-Light"/>
              </a:rPr>
              <a:t>being used in different functions on the same </a:t>
            </a:r>
            <a:r>
              <a:rPr lang="en-US" sz="1800" b="0" i="1" u="none" strike="noStrike" baseline="0" dirty="0" err="1">
                <a:latin typeface="OpenSansLight-Italic"/>
              </a:rPr>
              <a:t>va_li</a:t>
            </a:r>
            <a:r>
              <a:rPr lang="en-US" sz="1800" b="0" i="1" u="none" strike="noStrike" baseline="0" dirty="0">
                <a:latin typeface="OpenSansLight-Italic"/>
              </a:rPr>
              <a:t> </a:t>
            </a:r>
            <a:r>
              <a:rPr lang="en-US" sz="1800" b="0" i="1" u="none" strike="noStrike" baseline="0" dirty="0" err="1">
                <a:latin typeface="OpenSansLight-Italic"/>
              </a:rPr>
              <a:t>st</a:t>
            </a:r>
            <a:r>
              <a:rPr lang="en-US" sz="1800" b="0" i="0" u="none" strike="noStrike" baseline="0" dirty="0">
                <a:latin typeface="OpenSans-Light"/>
              </a:rPr>
              <a:t>;</a:t>
            </a:r>
          </a:p>
          <a:p>
            <a:pPr algn="l"/>
            <a:r>
              <a:rPr lang="en-US" sz="1800" b="0" i="0" u="none" strike="noStrike" baseline="0" dirty="0">
                <a:latin typeface="OpenSans-Extrabold"/>
              </a:rPr>
              <a:t>• </a:t>
            </a:r>
            <a:r>
              <a:rPr lang="en-US" sz="1800" b="0" i="0" u="none" strike="noStrike" baseline="0" dirty="0">
                <a:latin typeface="OpenSans-Light"/>
              </a:rPr>
              <a:t>The type of an argument not being compatible with the type specified to </a:t>
            </a:r>
            <a:r>
              <a:rPr lang="en-US" sz="1800" b="0" i="1" u="none" strike="noStrike" baseline="0" dirty="0" err="1">
                <a:latin typeface="OpenSansLight-Italic"/>
              </a:rPr>
              <a:t>va_arg</a:t>
            </a:r>
            <a:r>
              <a:rPr lang="en-US" sz="1800" b="0" i="0" u="none" strike="noStrike" baseline="0" dirty="0">
                <a:latin typeface="OpenSans-Light"/>
              </a:rPr>
              <a:t>.</a:t>
            </a:r>
          </a:p>
        </p:txBody>
      </p:sp>
    </p:spTree>
    <p:extLst>
      <p:ext uri="{BB962C8B-B14F-4D97-AF65-F5344CB8AC3E}">
        <p14:creationId xmlns:p14="http://schemas.microsoft.com/office/powerpoint/2010/main" val="3663959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4</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4</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Misra2012:Rule-17.2</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Functions shall not call themselves, either directly or indirectly</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64976" y="1604261"/>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0" name="TextBox 39">
            <a:extLst>
              <a:ext uri="{FF2B5EF4-FFF2-40B4-BE49-F238E27FC236}">
                <a16:creationId xmlns:a16="http://schemas.microsoft.com/office/drawing/2014/main" id="{3F5D3363-DBFD-5BD0-1406-F50B099107AE}"/>
              </a:ext>
            </a:extLst>
          </p:cNvPr>
          <p:cNvSpPr txBox="1"/>
          <p:nvPr/>
        </p:nvSpPr>
        <p:spPr>
          <a:xfrm>
            <a:off x="1234496" y="1914872"/>
            <a:ext cx="10584637" cy="923330"/>
          </a:xfrm>
          <a:prstGeom prst="rect">
            <a:avLst/>
          </a:prstGeom>
          <a:noFill/>
        </p:spPr>
        <p:txBody>
          <a:bodyPr wrap="square">
            <a:spAutoFit/>
          </a:bodyPr>
          <a:lstStyle/>
          <a:p>
            <a:pPr algn="l"/>
            <a:r>
              <a:rPr lang="en-US" sz="1800" b="0" i="0" u="none" strike="noStrike" baseline="0" dirty="0">
                <a:latin typeface="OpenSans-Light"/>
              </a:rPr>
              <a:t>Recursion carries with it the danger of exceeding available stack space, which can lead to a serious</a:t>
            </a:r>
          </a:p>
          <a:p>
            <a:pPr algn="l"/>
            <a:r>
              <a:rPr lang="en-US" sz="1800" b="0" i="0" u="none" strike="noStrike" baseline="0" dirty="0">
                <a:latin typeface="OpenSans-Light"/>
              </a:rPr>
              <a:t>failure. Unless recursion is very tightly controlled, it is not possible to determine before execution</a:t>
            </a:r>
          </a:p>
          <a:p>
            <a:pPr algn="l"/>
            <a:r>
              <a:rPr lang="en-US" sz="1800" b="0" i="0" u="none" strike="noStrike" baseline="0" dirty="0">
                <a:latin typeface="OpenSans-Light"/>
              </a:rPr>
              <a:t>what the worst-case stack usage could be.</a:t>
            </a:r>
          </a:p>
        </p:txBody>
      </p:sp>
      <p:sp>
        <p:nvSpPr>
          <p:cNvPr id="41" name="TextBox 40">
            <a:extLst>
              <a:ext uri="{FF2B5EF4-FFF2-40B4-BE49-F238E27FC236}">
                <a16:creationId xmlns:a16="http://schemas.microsoft.com/office/drawing/2014/main" id="{8C3914BF-96A5-30E1-18E2-6D22E69655B8}"/>
              </a:ext>
            </a:extLst>
          </p:cNvPr>
          <p:cNvSpPr txBox="1"/>
          <p:nvPr/>
        </p:nvSpPr>
        <p:spPr>
          <a:xfrm>
            <a:off x="1131104" y="2820327"/>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90BAFDF9-DAB8-47D1-3E2E-9C9FC08AB0CE}"/>
              </a:ext>
            </a:extLst>
          </p:cNvPr>
          <p:cNvSpPr txBox="1"/>
          <p:nvPr/>
        </p:nvSpPr>
        <p:spPr>
          <a:xfrm>
            <a:off x="1040801" y="2945415"/>
            <a:ext cx="6115664" cy="2308324"/>
          </a:xfrm>
          <a:prstGeom prst="rect">
            <a:avLst/>
          </a:prstGeom>
          <a:noFill/>
        </p:spPr>
        <p:txBody>
          <a:bodyPr wrap="square">
            <a:spAutoFit/>
          </a:bodyPr>
          <a:lstStyle/>
          <a:p>
            <a:br>
              <a:rPr lang="en-IN" b="0" dirty="0">
                <a:effectLst/>
                <a:highlight>
                  <a:srgbClr val="1F1F1F"/>
                </a:highlight>
                <a:latin typeface="Times New Roman" panose="02020603050405020304" pitchFamily="18" charset="0"/>
                <a:cs typeface="Times New Roman" panose="02020603050405020304" pitchFamily="18" charset="0"/>
              </a:rPr>
            </a:br>
            <a:r>
              <a:rPr lang="en-IN" b="0" dirty="0">
                <a:effectLst/>
                <a:latin typeface="Times New Roman" panose="02020603050405020304" pitchFamily="18" charset="0"/>
                <a:cs typeface="Times New Roman" panose="02020603050405020304" pitchFamily="18" charset="0"/>
              </a:rPr>
              <a:t> int </a:t>
            </a:r>
            <a:r>
              <a:rPr lang="en-IN" b="0" dirty="0">
                <a:effectLst/>
                <a:highlight>
                  <a:srgbClr val="FFFF00"/>
                </a:highlight>
                <a:latin typeface="Times New Roman" panose="02020603050405020304" pitchFamily="18" charset="0"/>
                <a:cs typeface="Times New Roman" panose="02020603050405020304" pitchFamily="18" charset="0"/>
              </a:rPr>
              <a:t>factorial</a:t>
            </a:r>
            <a:r>
              <a:rPr lang="en-IN" b="0" dirty="0">
                <a:effectLst/>
                <a:latin typeface="Times New Roman" panose="02020603050405020304" pitchFamily="18" charset="0"/>
                <a:cs typeface="Times New Roman" panose="02020603050405020304" pitchFamily="18" charset="0"/>
              </a:rPr>
              <a:t>(int n) {</a:t>
            </a:r>
          </a:p>
          <a:p>
            <a:r>
              <a:rPr lang="en-IN" b="0" dirty="0">
                <a:effectLst/>
                <a:latin typeface="Times New Roman" panose="02020603050405020304" pitchFamily="18" charset="0"/>
                <a:cs typeface="Times New Roman" panose="02020603050405020304" pitchFamily="18" charset="0"/>
              </a:rPr>
              <a:t>    if (n == 0) {</a:t>
            </a:r>
          </a:p>
          <a:p>
            <a:r>
              <a:rPr lang="en-IN" b="0" dirty="0">
                <a:effectLst/>
                <a:latin typeface="Times New Roman" panose="02020603050405020304" pitchFamily="18" charset="0"/>
                <a:cs typeface="Times New Roman" panose="02020603050405020304" pitchFamily="18" charset="0"/>
              </a:rPr>
              <a:t>        return 1;</a:t>
            </a:r>
          </a:p>
          <a:p>
            <a:r>
              <a:rPr lang="en-IN" b="0" dirty="0">
                <a:effectLst/>
                <a:latin typeface="Times New Roman" panose="02020603050405020304" pitchFamily="18" charset="0"/>
                <a:cs typeface="Times New Roman" panose="02020603050405020304" pitchFamily="18" charset="0"/>
              </a:rPr>
              <a:t>    } else {</a:t>
            </a:r>
          </a:p>
          <a:p>
            <a:r>
              <a:rPr lang="en-IN" b="0" dirty="0">
                <a:effectLst/>
                <a:latin typeface="Times New Roman" panose="02020603050405020304" pitchFamily="18" charset="0"/>
                <a:cs typeface="Times New Roman" panose="02020603050405020304" pitchFamily="18" charset="0"/>
              </a:rPr>
              <a:t>        return n * </a:t>
            </a:r>
            <a:r>
              <a:rPr lang="en-IN" b="0" dirty="0">
                <a:effectLst/>
                <a:highlight>
                  <a:srgbClr val="FFFF00"/>
                </a:highlight>
                <a:latin typeface="Times New Roman" panose="02020603050405020304" pitchFamily="18" charset="0"/>
                <a:cs typeface="Times New Roman" panose="02020603050405020304" pitchFamily="18" charset="0"/>
              </a:rPr>
              <a:t>factorial</a:t>
            </a:r>
            <a:r>
              <a:rPr lang="en-IN" b="0" dirty="0">
                <a:effectLst/>
                <a:latin typeface="Times New Roman" panose="02020603050405020304" pitchFamily="18" charset="0"/>
                <a:cs typeface="Times New Roman" panose="02020603050405020304" pitchFamily="18" charset="0"/>
              </a:rPr>
              <a:t>(n - 1);</a:t>
            </a:r>
          </a:p>
          <a:p>
            <a:r>
              <a:rPr lang="en-IN" b="0" dirty="0">
                <a:effectLst/>
                <a:latin typeface="Times New Roman" panose="02020603050405020304" pitchFamily="18" charset="0"/>
                <a:cs typeface="Times New Roman" panose="02020603050405020304" pitchFamily="18" charset="0"/>
              </a:rPr>
              <a:t>    }</a:t>
            </a:r>
          </a:p>
          <a:p>
            <a:r>
              <a:rPr lang="en-IN" b="0"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97052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5</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5</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Misra2012:Rule-17.3</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 function shall not be declared implicitly</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64976" y="1604261"/>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Mandatory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19301" y="2027395"/>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B7CF599C-4D85-D86A-410D-9D308B5D6DAE}"/>
              </a:ext>
            </a:extLst>
          </p:cNvPr>
          <p:cNvSpPr txBox="1"/>
          <p:nvPr/>
        </p:nvSpPr>
        <p:spPr>
          <a:xfrm>
            <a:off x="1245483" y="2652982"/>
            <a:ext cx="10415576" cy="2369880"/>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If the function power is declared as:</a:t>
            </a:r>
          </a:p>
          <a:p>
            <a:pPr algn="l"/>
            <a:r>
              <a:rPr lang="en-IN" sz="1800" b="0" i="0" u="none" strike="noStrike" baseline="0" dirty="0">
                <a:latin typeface="Times New Roman" panose="02020603050405020304" pitchFamily="18" charset="0"/>
                <a:cs typeface="Times New Roman" panose="02020603050405020304" pitchFamily="18" charset="0"/>
              </a:rPr>
              <a:t>extern double power ( double d, </a:t>
            </a:r>
            <a:r>
              <a:rPr lang="en-IN" sz="1800" b="0" i="0" u="none" strike="noStrike" baseline="0" dirty="0">
                <a:highlight>
                  <a:srgbClr val="FFFF00"/>
                </a:highlight>
                <a:latin typeface="Times New Roman" panose="02020603050405020304" pitchFamily="18" charset="0"/>
                <a:cs typeface="Times New Roman" panose="02020603050405020304" pitchFamily="18" charset="0"/>
              </a:rPr>
              <a:t>int</a:t>
            </a:r>
            <a:r>
              <a:rPr lang="en-IN" sz="1800" b="0" i="0" u="none" strike="noStrike" baseline="0" dirty="0">
                <a:latin typeface="Times New Roman" panose="02020603050405020304" pitchFamily="18" charset="0"/>
                <a:cs typeface="Times New Roman" panose="02020603050405020304" pitchFamily="18" charset="0"/>
              </a:rPr>
              <a:t> n );</a:t>
            </a:r>
          </a:p>
          <a:p>
            <a:pPr algn="l"/>
            <a:r>
              <a:rPr lang="en-US" sz="2000" b="0" i="0" u="none" strike="noStrike" baseline="0" dirty="0">
                <a:latin typeface="Times New Roman" panose="02020603050405020304" pitchFamily="18" charset="0"/>
                <a:cs typeface="Times New Roman" panose="02020603050405020304" pitchFamily="18" charset="0"/>
              </a:rPr>
              <a:t>but the declaration is not visible in the following code then undefined behavior will occur.</a:t>
            </a:r>
          </a:p>
          <a:p>
            <a:pPr algn="l"/>
            <a:r>
              <a:rPr lang="en-IN" sz="1800" b="0" i="0" u="none" strike="noStrike" baseline="0" dirty="0">
                <a:latin typeface="Times New Roman" panose="02020603050405020304" pitchFamily="18" charset="0"/>
                <a:cs typeface="Times New Roman" panose="02020603050405020304" pitchFamily="18" charset="0"/>
              </a:rPr>
              <a:t>void </a:t>
            </a:r>
            <a:r>
              <a:rPr lang="en-IN" sz="1800" b="0" i="0" u="none" strike="noStrike" baseline="0" dirty="0" err="1">
                <a:latin typeface="Times New Roman" panose="02020603050405020304" pitchFamily="18" charset="0"/>
                <a:cs typeface="Times New Roman" panose="02020603050405020304" pitchFamily="18" charset="0"/>
              </a:rPr>
              <a:t>func</a:t>
            </a:r>
            <a:r>
              <a:rPr lang="en-IN" sz="1800" b="0" i="0" u="none" strike="noStrike" baseline="0" dirty="0">
                <a:latin typeface="Times New Roman" panose="02020603050405020304" pitchFamily="18" charset="0"/>
                <a:cs typeface="Times New Roman" panose="02020603050405020304" pitchFamily="18" charset="0"/>
              </a:rPr>
              <a:t> ( void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 Non-compliant - return type and both argument type s incorrect */</a:t>
            </a:r>
          </a:p>
          <a:p>
            <a:pPr algn="l"/>
            <a:r>
              <a:rPr lang="en-US" sz="1800" b="0" i="0" u="none" strike="noStrike" baseline="0" dirty="0">
                <a:latin typeface="Times New Roman" panose="02020603050405020304" pitchFamily="18" charset="0"/>
                <a:cs typeface="Times New Roman" panose="02020603050405020304" pitchFamily="18" charset="0"/>
              </a:rPr>
              <a:t>double sq1 = power ( 1, </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2.0 </a:t>
            </a:r>
            <a:r>
              <a:rPr lang="en-US"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1130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6</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6</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Misra2012:Rule-17.4</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All exit paths from a function with non-void return type shall have an explicit return statement with an expression</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75584" y="1995838"/>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Mandatory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19301" y="2393003"/>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B7CF599C-4D85-D86A-410D-9D308B5D6DAE}"/>
              </a:ext>
            </a:extLst>
          </p:cNvPr>
          <p:cNvSpPr txBox="1"/>
          <p:nvPr/>
        </p:nvSpPr>
        <p:spPr>
          <a:xfrm>
            <a:off x="1245483" y="2652982"/>
            <a:ext cx="6115664" cy="3139321"/>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int32_t absolute ( int32_t v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if ( v &lt; 0 )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return v;</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 Non-compliant - control can reach this point without</a:t>
            </a:r>
          </a:p>
          <a:p>
            <a:pPr algn="l"/>
            <a:r>
              <a:rPr lang="en-IN" sz="1800" b="0" i="0" u="none" strike="noStrike" baseline="0" dirty="0">
                <a:latin typeface="Times New Roman" panose="02020603050405020304" pitchFamily="18" charset="0"/>
                <a:cs typeface="Times New Roman" panose="02020603050405020304" pitchFamily="18" charset="0"/>
              </a:rPr>
              <a:t>* returning a value</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8300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7</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7</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Misra2012:Rule-17.5</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function argument corresponding to a parameter declared to have an array type shall have an appropriate number of elements</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75584" y="1995838"/>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19301" y="2393003"/>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B7CF599C-4D85-D86A-410D-9D308B5D6DAE}"/>
              </a:ext>
            </a:extLst>
          </p:cNvPr>
          <p:cNvSpPr txBox="1"/>
          <p:nvPr/>
        </p:nvSpPr>
        <p:spPr>
          <a:xfrm>
            <a:off x="1234041" y="2492421"/>
            <a:ext cx="6115664" cy="4278094"/>
          </a:xfrm>
          <a:prstGeom prst="rect">
            <a:avLst/>
          </a:prstGeom>
          <a:noFill/>
        </p:spPr>
        <p:txBody>
          <a:bodyPr wrap="square">
            <a:spAutoFit/>
          </a:bodyPr>
          <a:lstStyle/>
          <a:p>
            <a:pPr algn="l"/>
            <a:endParaRPr lang="en-IN" sz="1600" b="0" i="0" u="none" strike="noStrike" baseline="0" dirty="0">
              <a:latin typeface="Times New Roman" panose="02020603050405020304" pitchFamily="18" charset="0"/>
              <a:cs typeface="Times New Roman" panose="02020603050405020304" pitchFamily="18" charset="0"/>
            </a:endParaRPr>
          </a:p>
          <a:p>
            <a:pPr algn="l"/>
            <a:r>
              <a:rPr lang="en-IN" sz="1600" b="0" i="0" u="none" strike="noStrike" baseline="0" dirty="0">
                <a:latin typeface="Times New Roman" panose="02020603050405020304" pitchFamily="18" charset="0"/>
                <a:cs typeface="Times New Roman" panose="02020603050405020304" pitchFamily="18" charset="0"/>
              </a:rPr>
              <a:t>#include &lt;</a:t>
            </a:r>
            <a:r>
              <a:rPr lang="en-IN" sz="1600" b="0" i="0" u="none" strike="noStrike" baseline="0" dirty="0" err="1">
                <a:latin typeface="Times New Roman" panose="02020603050405020304" pitchFamily="18" charset="0"/>
                <a:cs typeface="Times New Roman" panose="02020603050405020304" pitchFamily="18" charset="0"/>
              </a:rPr>
              <a:t>stdio.h</a:t>
            </a:r>
            <a:r>
              <a:rPr lang="en-IN" sz="1600" b="0" i="0" u="none" strike="noStrike" baseline="0" dirty="0">
                <a:latin typeface="Times New Roman" panose="02020603050405020304" pitchFamily="18" charset="0"/>
                <a:cs typeface="Times New Roman" panose="02020603050405020304" pitchFamily="18" charset="0"/>
              </a:rPr>
              <a:t>&gt;</a:t>
            </a:r>
          </a:p>
          <a:p>
            <a:pPr algn="l"/>
            <a:endParaRPr lang="en-IN" sz="1600" b="0" i="0" u="none" strike="noStrike" baseline="0" dirty="0">
              <a:latin typeface="Times New Roman" panose="02020603050405020304" pitchFamily="18" charset="0"/>
              <a:cs typeface="Times New Roman" panose="02020603050405020304" pitchFamily="18" charset="0"/>
            </a:endParaRPr>
          </a:p>
          <a:p>
            <a:pPr algn="l"/>
            <a:r>
              <a:rPr lang="en-IN" sz="1600" b="0" i="0" u="none" strike="noStrike" baseline="0" dirty="0">
                <a:latin typeface="Times New Roman" panose="02020603050405020304" pitchFamily="18" charset="0"/>
                <a:cs typeface="Times New Roman" panose="02020603050405020304" pitchFamily="18" charset="0"/>
              </a:rPr>
              <a:t>// Function that expects an array of size 5</a:t>
            </a:r>
          </a:p>
          <a:p>
            <a:pPr algn="l"/>
            <a:r>
              <a:rPr lang="en-IN" sz="1600" b="0" i="0" u="none" strike="noStrike" baseline="0" dirty="0">
                <a:latin typeface="Times New Roman" panose="02020603050405020304" pitchFamily="18" charset="0"/>
                <a:cs typeface="Times New Roman" panose="02020603050405020304" pitchFamily="18" charset="0"/>
              </a:rPr>
              <a:t>void </a:t>
            </a:r>
            <a:r>
              <a:rPr lang="en-IN" sz="1600" b="0" i="0" u="none" strike="noStrike" baseline="0" dirty="0" err="1">
                <a:latin typeface="Times New Roman" panose="02020603050405020304" pitchFamily="18" charset="0"/>
                <a:cs typeface="Times New Roman" panose="02020603050405020304" pitchFamily="18" charset="0"/>
              </a:rPr>
              <a:t>processArray</a:t>
            </a:r>
            <a:r>
              <a:rPr lang="en-IN" sz="1600" b="0" i="0" u="none" strike="noStrike" baseline="0" dirty="0">
                <a:latin typeface="Times New Roman" panose="02020603050405020304" pitchFamily="18" charset="0"/>
                <a:cs typeface="Times New Roman" panose="02020603050405020304" pitchFamily="18" charset="0"/>
              </a:rPr>
              <a:t>(int </a:t>
            </a:r>
            <a:r>
              <a:rPr lang="en-IN" sz="1600" b="0" i="0" u="none" strike="noStrike" baseline="0" dirty="0" err="1">
                <a:latin typeface="Times New Roman" panose="02020603050405020304" pitchFamily="18" charset="0"/>
                <a:cs typeface="Times New Roman" panose="02020603050405020304" pitchFamily="18" charset="0"/>
              </a:rPr>
              <a:t>arr</a:t>
            </a:r>
            <a:r>
              <a:rPr lang="en-IN" sz="1600" b="0" i="0" u="none" strike="noStrike" baseline="0" dirty="0">
                <a:latin typeface="Times New Roman" panose="02020603050405020304" pitchFamily="18" charset="0"/>
                <a:cs typeface="Times New Roman" panose="02020603050405020304" pitchFamily="18" charset="0"/>
              </a:rPr>
              <a:t>[5]) {</a:t>
            </a:r>
          </a:p>
          <a:p>
            <a:pPr algn="l"/>
            <a:r>
              <a:rPr lang="en-IN" sz="1600" b="0" i="0" u="none" strike="noStrike" baseline="0" dirty="0">
                <a:latin typeface="Times New Roman" panose="02020603050405020304" pitchFamily="18" charset="0"/>
                <a:cs typeface="Times New Roman" panose="02020603050405020304" pitchFamily="18" charset="0"/>
              </a:rPr>
              <a:t>    for (int i = 0; i &lt; 5; i++) {</a:t>
            </a:r>
          </a:p>
          <a:p>
            <a:pPr algn="l"/>
            <a:r>
              <a:rPr lang="en-IN" sz="1600" b="0" i="0" u="none" strike="noStrike" baseline="0" dirty="0">
                <a:latin typeface="Times New Roman" panose="02020603050405020304" pitchFamily="18" charset="0"/>
                <a:cs typeface="Times New Roman" panose="02020603050405020304" pitchFamily="18" charset="0"/>
              </a:rPr>
              <a:t>        </a:t>
            </a:r>
            <a:r>
              <a:rPr lang="en-IN" sz="1600" b="0" i="0" u="none" strike="noStrike" baseline="0" dirty="0" err="1">
                <a:latin typeface="Times New Roman" panose="02020603050405020304" pitchFamily="18" charset="0"/>
                <a:cs typeface="Times New Roman" panose="02020603050405020304" pitchFamily="18" charset="0"/>
              </a:rPr>
              <a:t>printf</a:t>
            </a:r>
            <a:r>
              <a:rPr lang="en-IN" sz="1600" b="0" i="0" u="none" strike="noStrike" baseline="0" dirty="0">
                <a:latin typeface="Times New Roman" panose="02020603050405020304" pitchFamily="18" charset="0"/>
                <a:cs typeface="Times New Roman" panose="02020603050405020304" pitchFamily="18" charset="0"/>
              </a:rPr>
              <a:t>("%d ", </a:t>
            </a:r>
            <a:r>
              <a:rPr lang="en-IN" sz="1600" b="0" i="0" u="none" strike="noStrike" baseline="0" dirty="0" err="1">
                <a:latin typeface="Times New Roman" panose="02020603050405020304" pitchFamily="18" charset="0"/>
                <a:cs typeface="Times New Roman" panose="02020603050405020304" pitchFamily="18" charset="0"/>
              </a:rPr>
              <a:t>arr</a:t>
            </a:r>
            <a:r>
              <a:rPr lang="en-IN" sz="1600" b="0" i="0" u="none" strike="noStrike" baseline="0" dirty="0">
                <a:latin typeface="Times New Roman" panose="02020603050405020304" pitchFamily="18" charset="0"/>
                <a:cs typeface="Times New Roman" panose="02020603050405020304" pitchFamily="18" charset="0"/>
              </a:rPr>
              <a:t>[i]);</a:t>
            </a:r>
          </a:p>
          <a:p>
            <a:pPr algn="l"/>
            <a:r>
              <a:rPr lang="en-IN" sz="1600" b="0" i="0" u="none" strike="noStrike" baseline="0" dirty="0">
                <a:latin typeface="Times New Roman" panose="02020603050405020304" pitchFamily="18" charset="0"/>
                <a:cs typeface="Times New Roman" panose="02020603050405020304" pitchFamily="18" charset="0"/>
              </a:rPr>
              <a:t>    }</a:t>
            </a:r>
          </a:p>
          <a:p>
            <a:pPr algn="l"/>
            <a:r>
              <a:rPr lang="en-IN" sz="1600" b="0" i="0" u="none" strike="noStrike" baseline="0" dirty="0">
                <a:latin typeface="Times New Roman" panose="02020603050405020304" pitchFamily="18" charset="0"/>
                <a:cs typeface="Times New Roman" panose="02020603050405020304" pitchFamily="18" charset="0"/>
              </a:rPr>
              <a:t>    </a:t>
            </a:r>
            <a:r>
              <a:rPr lang="en-IN" sz="1600" b="0" i="0" u="none" strike="noStrike" baseline="0" dirty="0" err="1">
                <a:latin typeface="Times New Roman" panose="02020603050405020304" pitchFamily="18" charset="0"/>
                <a:cs typeface="Times New Roman" panose="02020603050405020304" pitchFamily="18" charset="0"/>
              </a:rPr>
              <a:t>printf</a:t>
            </a:r>
            <a:r>
              <a:rPr lang="en-IN" sz="1600" b="0" i="0" u="none" strike="noStrike" baseline="0" dirty="0">
                <a:latin typeface="Times New Roman" panose="02020603050405020304" pitchFamily="18" charset="0"/>
                <a:cs typeface="Times New Roman" panose="02020603050405020304" pitchFamily="18" charset="0"/>
              </a:rPr>
              <a:t>("\n");</a:t>
            </a:r>
          </a:p>
          <a:p>
            <a:pPr algn="l"/>
            <a:r>
              <a:rPr lang="en-IN" sz="1600" b="0" i="0" u="none" strike="noStrike" baseline="0" dirty="0">
                <a:latin typeface="Times New Roman" panose="02020603050405020304" pitchFamily="18" charset="0"/>
                <a:cs typeface="Times New Roman" panose="02020603050405020304" pitchFamily="18" charset="0"/>
              </a:rPr>
              <a:t>}</a:t>
            </a:r>
          </a:p>
          <a:p>
            <a:pPr algn="l"/>
            <a:endParaRPr lang="en-IN" sz="1600" b="0" i="0" u="none" strike="noStrike" baseline="0" dirty="0">
              <a:latin typeface="Times New Roman" panose="02020603050405020304" pitchFamily="18" charset="0"/>
              <a:cs typeface="Times New Roman" panose="02020603050405020304" pitchFamily="18" charset="0"/>
            </a:endParaRPr>
          </a:p>
          <a:p>
            <a:pPr algn="l"/>
            <a:r>
              <a:rPr lang="en-IN" sz="1600" b="0" i="0" u="none" strike="noStrike" baseline="0" dirty="0">
                <a:latin typeface="Times New Roman" panose="02020603050405020304" pitchFamily="18" charset="0"/>
                <a:cs typeface="Times New Roman" panose="02020603050405020304" pitchFamily="18" charset="0"/>
              </a:rPr>
              <a:t>int main() {</a:t>
            </a:r>
          </a:p>
          <a:p>
            <a:pPr algn="l"/>
            <a:r>
              <a:rPr lang="en-IN" sz="1600" b="0" i="0" u="none" strike="noStrike" baseline="0" dirty="0">
                <a:latin typeface="Times New Roman" panose="02020603050405020304" pitchFamily="18" charset="0"/>
                <a:cs typeface="Times New Roman" panose="02020603050405020304" pitchFamily="18" charset="0"/>
              </a:rPr>
              <a:t>    int </a:t>
            </a:r>
            <a:r>
              <a:rPr lang="en-IN" sz="1600" i="0" u="none" strike="noStrike" baseline="0" dirty="0" err="1">
                <a:highlight>
                  <a:srgbClr val="FFFF00"/>
                </a:highlight>
                <a:latin typeface="Times New Roman" panose="02020603050405020304" pitchFamily="18" charset="0"/>
                <a:cs typeface="Times New Roman" panose="02020603050405020304" pitchFamily="18" charset="0"/>
              </a:rPr>
              <a:t>myArray</a:t>
            </a:r>
            <a:r>
              <a:rPr lang="en-IN" sz="1600" b="0" i="0" u="none" strike="noStrike" baseline="0" dirty="0">
                <a:latin typeface="Times New Roman" panose="02020603050405020304" pitchFamily="18" charset="0"/>
                <a:cs typeface="Times New Roman" panose="02020603050405020304" pitchFamily="18" charset="0"/>
              </a:rPr>
              <a:t>[3] = {1, 2, 3}; // Array of incorrect size</a:t>
            </a:r>
          </a:p>
          <a:p>
            <a:pPr algn="l"/>
            <a:r>
              <a:rPr lang="en-IN" sz="1600" b="0" i="0" u="none" strike="noStrike" baseline="0" dirty="0">
                <a:latin typeface="Times New Roman" panose="02020603050405020304" pitchFamily="18" charset="0"/>
                <a:cs typeface="Times New Roman" panose="02020603050405020304" pitchFamily="18" charset="0"/>
              </a:rPr>
              <a:t>    </a:t>
            </a:r>
            <a:r>
              <a:rPr lang="en-IN" sz="1600" b="0" i="0" u="none" strike="noStrike" baseline="0" dirty="0" err="1">
                <a:latin typeface="Times New Roman" panose="02020603050405020304" pitchFamily="18" charset="0"/>
                <a:cs typeface="Times New Roman" panose="02020603050405020304" pitchFamily="18" charset="0"/>
              </a:rPr>
              <a:t>processArray</a:t>
            </a:r>
            <a:r>
              <a:rPr lang="en-IN" sz="1600" b="0" i="0" u="none" strike="noStrike" baseline="0" dirty="0">
                <a:latin typeface="Times New Roman" panose="02020603050405020304" pitchFamily="18" charset="0"/>
                <a:cs typeface="Times New Roman" panose="02020603050405020304" pitchFamily="18" charset="0"/>
              </a:rPr>
              <a:t>(</a:t>
            </a:r>
            <a:r>
              <a:rPr lang="en-IN" sz="1600" b="0" i="0" u="none" strike="noStrike" baseline="0" dirty="0" err="1">
                <a:latin typeface="Times New Roman" panose="02020603050405020304" pitchFamily="18" charset="0"/>
                <a:cs typeface="Times New Roman" panose="02020603050405020304" pitchFamily="18" charset="0"/>
              </a:rPr>
              <a:t>myArray</a:t>
            </a:r>
            <a:r>
              <a:rPr lang="en-IN" sz="1600" b="0" i="0" u="none" strike="noStrike" baseline="0" dirty="0">
                <a:latin typeface="Times New Roman" panose="02020603050405020304" pitchFamily="18" charset="0"/>
                <a:cs typeface="Times New Roman" panose="02020603050405020304" pitchFamily="18" charset="0"/>
              </a:rPr>
              <a:t>); // Non-compliant: passing array of size 3 instead of 5</a:t>
            </a:r>
          </a:p>
          <a:p>
            <a:pPr algn="l"/>
            <a:r>
              <a:rPr lang="en-IN" sz="1600" b="0" i="0" u="none" strike="noStrike" baseline="0" dirty="0">
                <a:latin typeface="Times New Roman" panose="02020603050405020304" pitchFamily="18" charset="0"/>
                <a:cs typeface="Times New Roman" panose="02020603050405020304" pitchFamily="18" charset="0"/>
              </a:rPr>
              <a:t>    return 0;</a:t>
            </a:r>
          </a:p>
          <a:p>
            <a:pPr algn="l"/>
            <a:r>
              <a:rPr lang="en-IN" sz="1600" b="0" i="0" u="none" strike="noStrike" baseline="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97311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8</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8</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Misra2012:Rule-17.6</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declaration of an array parameter shall not contain the static keyword between the [ ]</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57331" y="1681839"/>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Mandatory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155606" y="2061264"/>
            <a:ext cx="1046338" cy="369332"/>
          </a:xfrm>
          <a:prstGeom prst="rect">
            <a:avLst/>
          </a:prstGeom>
          <a:noFill/>
        </p:spPr>
        <p:txBody>
          <a:bodyPr wrap="square">
            <a:spAutoFit/>
          </a:bodyPr>
          <a:lstStyle/>
          <a:p>
            <a:pPr algn="l"/>
            <a:r>
              <a:rPr lang="en-IN" dirty="0">
                <a:highlight>
                  <a:srgbClr val="FFFF00"/>
                </a:highlight>
              </a:rPr>
              <a:t>Example</a:t>
            </a:r>
          </a:p>
        </p:txBody>
      </p:sp>
      <p:sp>
        <p:nvSpPr>
          <p:cNvPr id="6" name="TextBox 5">
            <a:extLst>
              <a:ext uri="{FF2B5EF4-FFF2-40B4-BE49-F238E27FC236}">
                <a16:creationId xmlns:a16="http://schemas.microsoft.com/office/drawing/2014/main" id="{02425041-42C1-D81F-5919-C479134B01D3}"/>
              </a:ext>
            </a:extLst>
          </p:cNvPr>
          <p:cNvSpPr txBox="1"/>
          <p:nvPr/>
        </p:nvSpPr>
        <p:spPr>
          <a:xfrm>
            <a:off x="1406129" y="2331130"/>
            <a:ext cx="6115664" cy="4524315"/>
          </a:xfrm>
          <a:prstGeom prst="rect">
            <a:avLst/>
          </a:prstGeom>
          <a:noFill/>
        </p:spPr>
        <p:txBody>
          <a:bodyPr wrap="square">
            <a:spAutoFit/>
          </a:bodyPr>
          <a:lstStyle/>
          <a:p>
            <a:r>
              <a:rPr lang="en-IN" dirty="0"/>
              <a:t>#include &lt;</a:t>
            </a:r>
            <a:r>
              <a:rPr lang="en-IN" dirty="0" err="1"/>
              <a:t>stdio.h</a:t>
            </a:r>
            <a:r>
              <a:rPr lang="en-IN" dirty="0"/>
              <a:t>&gt;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Function that incorrectly uses 'static' in array parameter declaration</a:t>
            </a:r>
          </a:p>
          <a:p>
            <a:r>
              <a:rPr lang="en-IN" dirty="0">
                <a:latin typeface="Times New Roman" panose="02020603050405020304" pitchFamily="18" charset="0"/>
                <a:cs typeface="Times New Roman" panose="02020603050405020304" pitchFamily="18" charset="0"/>
              </a:rPr>
              <a:t>void </a:t>
            </a:r>
            <a:r>
              <a:rPr lang="en-IN" dirty="0" err="1">
                <a:latin typeface="Times New Roman" panose="02020603050405020304" pitchFamily="18" charset="0"/>
                <a:cs typeface="Times New Roman" panose="02020603050405020304" pitchFamily="18" charset="0"/>
              </a:rPr>
              <a:t>processArray</a:t>
            </a:r>
            <a:r>
              <a:rPr lang="en-IN" dirty="0">
                <a:latin typeface="Times New Roman" panose="02020603050405020304" pitchFamily="18" charset="0"/>
                <a:cs typeface="Times New Roman" panose="02020603050405020304" pitchFamily="18" charset="0"/>
              </a:rPr>
              <a:t>(int </a:t>
            </a:r>
            <a:r>
              <a:rPr lang="en-IN" dirty="0" err="1">
                <a:latin typeface="Times New Roman" panose="02020603050405020304" pitchFamily="18" charset="0"/>
                <a:cs typeface="Times New Roman" panose="02020603050405020304" pitchFamily="18" charset="0"/>
              </a:rPr>
              <a:t>arr</a:t>
            </a:r>
            <a:r>
              <a:rPr lang="en-IN" dirty="0">
                <a:latin typeface="Times New Roman" panose="02020603050405020304" pitchFamily="18" charset="0"/>
                <a:cs typeface="Times New Roman" panose="02020603050405020304" pitchFamily="18" charset="0"/>
              </a:rPr>
              <a:t>[</a:t>
            </a:r>
            <a:r>
              <a:rPr lang="en-IN" b="1" dirty="0">
                <a:highlight>
                  <a:srgbClr val="FFFF00"/>
                </a:highlight>
                <a:latin typeface="Times New Roman" panose="02020603050405020304" pitchFamily="18" charset="0"/>
                <a:cs typeface="Times New Roman" panose="02020603050405020304" pitchFamily="18" charset="0"/>
              </a:rPr>
              <a:t>static</a:t>
            </a:r>
            <a:r>
              <a:rPr lang="en-IN" dirty="0">
                <a:latin typeface="Times New Roman" panose="02020603050405020304" pitchFamily="18" charset="0"/>
                <a:cs typeface="Times New Roman" panose="02020603050405020304" pitchFamily="18" charset="0"/>
              </a:rPr>
              <a:t> 5]) {</a:t>
            </a:r>
          </a:p>
          <a:p>
            <a:r>
              <a:rPr lang="en-IN" dirty="0">
                <a:latin typeface="Times New Roman" panose="02020603050405020304" pitchFamily="18" charset="0"/>
                <a:cs typeface="Times New Roman" panose="02020603050405020304" pitchFamily="18" charset="0"/>
              </a:rPr>
              <a:t>    for (int i = 0; i &lt; 5; i++)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("%d ", </a:t>
            </a:r>
            <a:r>
              <a:rPr lang="en-IN" dirty="0" err="1">
                <a:latin typeface="Times New Roman" panose="02020603050405020304" pitchFamily="18" charset="0"/>
                <a:cs typeface="Times New Roman" panose="02020603050405020304" pitchFamily="18" charset="0"/>
              </a:rPr>
              <a:t>arr</a:t>
            </a:r>
            <a:r>
              <a:rPr lang="en-IN" dirty="0">
                <a:latin typeface="Times New Roman" panose="02020603050405020304" pitchFamily="18" charset="0"/>
                <a:cs typeface="Times New Roman" panose="02020603050405020304" pitchFamily="18" charset="0"/>
              </a:rPr>
              <a:t>[i]);</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("\n");</a:t>
            </a:r>
          </a:p>
          <a:p>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int main() {</a:t>
            </a:r>
          </a:p>
          <a:p>
            <a:r>
              <a:rPr lang="en-IN" dirty="0">
                <a:latin typeface="Times New Roman" panose="02020603050405020304" pitchFamily="18" charset="0"/>
                <a:cs typeface="Times New Roman" panose="02020603050405020304" pitchFamily="18" charset="0"/>
              </a:rPr>
              <a:t>    int </a:t>
            </a:r>
            <a:r>
              <a:rPr lang="en-IN" dirty="0" err="1">
                <a:latin typeface="Times New Roman" panose="02020603050405020304" pitchFamily="18" charset="0"/>
                <a:cs typeface="Times New Roman" panose="02020603050405020304" pitchFamily="18" charset="0"/>
              </a:rPr>
              <a:t>myArray</a:t>
            </a:r>
            <a:r>
              <a:rPr lang="en-IN" dirty="0">
                <a:latin typeface="Times New Roman" panose="02020603050405020304" pitchFamily="18" charset="0"/>
                <a:cs typeface="Times New Roman" panose="02020603050405020304" pitchFamily="18" charset="0"/>
              </a:rPr>
              <a:t>[5] = {1, 2, 3, 4, 5};</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processArray</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myArray</a:t>
            </a:r>
            <a:r>
              <a:rPr lang="en-IN" dirty="0">
                <a:latin typeface="Times New Roman" panose="02020603050405020304" pitchFamily="18" charset="0"/>
                <a:cs typeface="Times New Roman" panose="02020603050405020304" pitchFamily="18" charset="0"/>
              </a:rPr>
              <a:t>); // Non-compliant usage</a:t>
            </a:r>
          </a:p>
          <a:p>
            <a:r>
              <a:rPr lang="en-IN" dirty="0">
                <a:latin typeface="Times New Roman" panose="02020603050405020304" pitchFamily="18" charset="0"/>
                <a:cs typeface="Times New Roman" panose="02020603050405020304" pitchFamily="18" charset="0"/>
              </a:rPr>
              <a:t>    return 0;</a:t>
            </a:r>
          </a:p>
          <a:p>
            <a:r>
              <a:rPr lang="en-IN" dirty="0">
                <a:latin typeface="Times New Roman" panose="02020603050405020304" pitchFamily="18" charset="0"/>
                <a:cs typeface="Times New Roman" panose="02020603050405020304" pitchFamily="18" charset="0"/>
              </a:rPr>
              <a:t>}</a:t>
            </a:r>
          </a:p>
        </p:txBody>
      </p:sp>
      <p:sp>
        <p:nvSpPr>
          <p:cNvPr id="36" name="TextBox 35">
            <a:extLst>
              <a:ext uri="{FF2B5EF4-FFF2-40B4-BE49-F238E27FC236}">
                <a16:creationId xmlns:a16="http://schemas.microsoft.com/office/drawing/2014/main" id="{C642D0E0-1215-FC2B-D2D6-9F537F2B4040}"/>
              </a:ext>
            </a:extLst>
          </p:cNvPr>
          <p:cNvSpPr txBox="1"/>
          <p:nvPr/>
        </p:nvSpPr>
        <p:spPr>
          <a:xfrm>
            <a:off x="5609455" y="4176130"/>
            <a:ext cx="6115664" cy="1477328"/>
          </a:xfrm>
          <a:prstGeom prst="rect">
            <a:avLst/>
          </a:prstGeom>
          <a:noFill/>
        </p:spPr>
        <p:txBody>
          <a:bodyPr wrap="square">
            <a:spAutoFit/>
          </a:bodyPr>
          <a:lstStyle/>
          <a:p>
            <a:r>
              <a:rPr lang="en-US" b="0" dirty="0">
                <a:effectLst/>
                <a:latin typeface="Consolas" panose="020B0609020204030204" pitchFamily="49" charset="0"/>
              </a:rPr>
              <a:t>The static keyword here indicates that the function expects the pointer to point to an array of at least 5 elements. However, this usage can be misleading and does not align with MISRA C guidelines.</a:t>
            </a:r>
          </a:p>
        </p:txBody>
      </p:sp>
    </p:spTree>
    <p:extLst>
      <p:ext uri="{BB962C8B-B14F-4D97-AF65-F5344CB8AC3E}">
        <p14:creationId xmlns:p14="http://schemas.microsoft.com/office/powerpoint/2010/main" val="3571797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9</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9</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Misra2012:Rule-17.7</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value returned by a function having non-void return type shall be used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57331" y="1681839"/>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155606" y="2061264"/>
            <a:ext cx="1046338" cy="369332"/>
          </a:xfrm>
          <a:prstGeom prst="rect">
            <a:avLst/>
          </a:prstGeom>
          <a:noFill/>
        </p:spPr>
        <p:txBody>
          <a:bodyPr wrap="square">
            <a:spAutoFit/>
          </a:bodyPr>
          <a:lstStyle/>
          <a:p>
            <a:pPr algn="l"/>
            <a:r>
              <a:rPr lang="en-IN" dirty="0">
                <a:highlight>
                  <a:srgbClr val="FFFF00"/>
                </a:highlight>
              </a:rPr>
              <a:t>Example</a:t>
            </a:r>
          </a:p>
        </p:txBody>
      </p:sp>
      <p:sp>
        <p:nvSpPr>
          <p:cNvPr id="6" name="TextBox 5">
            <a:extLst>
              <a:ext uri="{FF2B5EF4-FFF2-40B4-BE49-F238E27FC236}">
                <a16:creationId xmlns:a16="http://schemas.microsoft.com/office/drawing/2014/main" id="{02425041-42C1-D81F-5919-C479134B01D3}"/>
              </a:ext>
            </a:extLst>
          </p:cNvPr>
          <p:cNvSpPr txBox="1"/>
          <p:nvPr/>
        </p:nvSpPr>
        <p:spPr>
          <a:xfrm>
            <a:off x="1155606" y="2440689"/>
            <a:ext cx="6115664" cy="2031325"/>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extern double power (double d, int n);</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void </a:t>
            </a:r>
            <a:r>
              <a:rPr lang="en-US" sz="1800" b="0" i="0" u="none" strike="noStrike" baseline="0" dirty="0" err="1">
                <a:latin typeface="Times New Roman" panose="02020603050405020304" pitchFamily="18" charset="0"/>
                <a:cs typeface="Times New Roman" panose="02020603050405020304" pitchFamily="18" charset="0"/>
              </a:rPr>
              <a:t>func</a:t>
            </a:r>
            <a:r>
              <a:rPr lang="en-US" sz="1800" b="0" i="0" u="none" strike="noStrike" baseline="0" dirty="0">
                <a:latin typeface="Times New Roman" panose="02020603050405020304" pitchFamily="18" charset="0"/>
                <a:cs typeface="Times New Roman" panose="02020603050405020304" pitchFamily="18" charset="0"/>
              </a:rPr>
              <a:t> (void)</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double sq1 = power(1.0, 2); // Compliant - return value is used</a:t>
            </a:r>
          </a:p>
          <a:p>
            <a:pPr algn="l"/>
            <a:r>
              <a:rPr lang="en-US" sz="1800" b="0" i="0" u="none" strike="noStrike" baseline="0"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9E7254FA-360E-4CDF-DD5A-019F460DA74A}"/>
              </a:ext>
            </a:extLst>
          </p:cNvPr>
          <p:cNvSpPr txBox="1"/>
          <p:nvPr/>
        </p:nvSpPr>
        <p:spPr>
          <a:xfrm>
            <a:off x="1074576" y="4784586"/>
            <a:ext cx="6117534" cy="1754326"/>
          </a:xfrm>
          <a:prstGeom prst="rect">
            <a:avLst/>
          </a:prstGeom>
          <a:noFill/>
        </p:spPr>
        <p:txBody>
          <a:bodyPr wrap="square">
            <a:spAutoFit/>
          </a:bodyPr>
          <a:lstStyle/>
          <a:p>
            <a:r>
              <a:rPr lang="en-IN" dirty="0"/>
              <a:t>extern double power (double d, int n);</a:t>
            </a:r>
          </a:p>
          <a:p>
            <a:endParaRPr lang="en-IN" dirty="0"/>
          </a:p>
          <a:p>
            <a:r>
              <a:rPr lang="en-IN" dirty="0"/>
              <a:t>void </a:t>
            </a:r>
            <a:r>
              <a:rPr lang="en-IN" dirty="0" err="1"/>
              <a:t>func</a:t>
            </a:r>
            <a:r>
              <a:rPr lang="en-IN" dirty="0"/>
              <a:t> (void)</a:t>
            </a:r>
          </a:p>
          <a:p>
            <a:r>
              <a:rPr lang="en-IN" dirty="0"/>
              <a:t>{</a:t>
            </a:r>
          </a:p>
          <a:p>
            <a:r>
              <a:rPr lang="en-IN" dirty="0"/>
              <a:t>    power(1.0, 2); // Non-compliant - return value is ignored</a:t>
            </a:r>
          </a:p>
          <a:p>
            <a:r>
              <a:rPr lang="en-IN" dirty="0"/>
              <a:t>}</a:t>
            </a:r>
          </a:p>
        </p:txBody>
      </p:sp>
    </p:spTree>
    <p:extLst>
      <p:ext uri="{BB962C8B-B14F-4D97-AF65-F5344CB8AC3E}">
        <p14:creationId xmlns:p14="http://schemas.microsoft.com/office/powerpoint/2010/main" val="3290133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10</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10</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Misra2012:Rule-17.8</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 function parameter should not be modified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57331" y="1681839"/>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155606" y="2061264"/>
            <a:ext cx="1046338" cy="369332"/>
          </a:xfrm>
          <a:prstGeom prst="rect">
            <a:avLst/>
          </a:prstGeom>
          <a:noFill/>
        </p:spPr>
        <p:txBody>
          <a:bodyPr wrap="square">
            <a:spAutoFit/>
          </a:bodyPr>
          <a:lstStyle/>
          <a:p>
            <a:pPr algn="l"/>
            <a:r>
              <a:rPr lang="en-IN" dirty="0">
                <a:highlight>
                  <a:srgbClr val="FFFF00"/>
                </a:highlight>
              </a:rPr>
              <a:t>Example</a:t>
            </a:r>
          </a:p>
        </p:txBody>
      </p:sp>
      <p:sp>
        <p:nvSpPr>
          <p:cNvPr id="6" name="TextBox 5">
            <a:extLst>
              <a:ext uri="{FF2B5EF4-FFF2-40B4-BE49-F238E27FC236}">
                <a16:creationId xmlns:a16="http://schemas.microsoft.com/office/drawing/2014/main" id="{02425041-42C1-D81F-5919-C479134B01D3}"/>
              </a:ext>
            </a:extLst>
          </p:cNvPr>
          <p:cNvSpPr txBox="1"/>
          <p:nvPr/>
        </p:nvSpPr>
        <p:spPr>
          <a:xfrm>
            <a:off x="1155606" y="2440689"/>
            <a:ext cx="6115664" cy="2862322"/>
          </a:xfrm>
          <a:prstGeom prst="rect">
            <a:avLst/>
          </a:prstGeom>
          <a:noFill/>
        </p:spPr>
        <p:txBody>
          <a:bodyPr wrap="square">
            <a:spAutoFit/>
          </a:bodyPr>
          <a:lstStyle/>
          <a:p>
            <a:pPr algn="l"/>
            <a:r>
              <a:rPr lang="fr-FR" sz="1800" b="0" i="0" u="none" strike="noStrike" baseline="0" dirty="0">
                <a:latin typeface="Times New Roman" panose="02020603050405020304" pitchFamily="18" charset="0"/>
                <a:cs typeface="Times New Roman" panose="02020603050405020304" pitchFamily="18" charset="0"/>
              </a:rPr>
              <a:t>int16_t </a:t>
            </a:r>
            <a:r>
              <a:rPr lang="fr-FR" sz="1800" b="0" i="0" u="none" strike="noStrike" baseline="0" dirty="0" err="1">
                <a:latin typeface="Times New Roman" panose="02020603050405020304" pitchFamily="18" charset="0"/>
                <a:cs typeface="Times New Roman" panose="02020603050405020304" pitchFamily="18" charset="0"/>
              </a:rPr>
              <a:t>glob</a:t>
            </a:r>
            <a:r>
              <a:rPr lang="fr-FR" sz="1800" b="0" i="0" u="none" strike="noStrike" baseline="0" dirty="0">
                <a:latin typeface="Times New Roman" panose="02020603050405020304" pitchFamily="18" charset="0"/>
                <a:cs typeface="Times New Roman" panose="02020603050405020304" pitchFamily="18" charset="0"/>
              </a:rPr>
              <a:t> = 0;</a:t>
            </a:r>
          </a:p>
          <a:p>
            <a:pPr algn="l"/>
            <a:endParaRPr lang="fr-FR" sz="1800" b="0" i="0" u="none" strike="noStrike" baseline="0" dirty="0">
              <a:latin typeface="Times New Roman" panose="02020603050405020304" pitchFamily="18" charset="0"/>
              <a:cs typeface="Times New Roman" panose="02020603050405020304" pitchFamily="18" charset="0"/>
            </a:endParaRPr>
          </a:p>
          <a:p>
            <a:pPr algn="l"/>
            <a:r>
              <a:rPr lang="fr-FR" sz="1800" b="0" i="0" u="none" strike="noStrike" baseline="0" dirty="0" err="1">
                <a:latin typeface="Times New Roman" panose="02020603050405020304" pitchFamily="18" charset="0"/>
                <a:cs typeface="Times New Roman" panose="02020603050405020304" pitchFamily="18" charset="0"/>
              </a:rPr>
              <a:t>void</a:t>
            </a:r>
            <a:r>
              <a:rPr lang="fr-FR" sz="1800" b="0" i="0" u="none" strike="noStrike" baseline="0" dirty="0">
                <a:latin typeface="Times New Roman" panose="02020603050405020304" pitchFamily="18" charset="0"/>
                <a:cs typeface="Times New Roman" panose="02020603050405020304" pitchFamily="18" charset="0"/>
              </a:rPr>
              <a:t> proc(int16_t </a:t>
            </a:r>
            <a:r>
              <a:rPr lang="fr-FR" sz="1800" b="1" i="0" u="none" strike="noStrike" baseline="0" dirty="0">
                <a:highlight>
                  <a:srgbClr val="FFFF00"/>
                </a:highlight>
                <a:latin typeface="Times New Roman" panose="02020603050405020304" pitchFamily="18" charset="0"/>
                <a:cs typeface="Times New Roman" panose="02020603050405020304" pitchFamily="18" charset="0"/>
              </a:rPr>
              <a:t>para</a:t>
            </a:r>
            <a:r>
              <a:rPr lang="fr-FR" sz="1800" b="0" i="0" u="none" strike="noStrike" baseline="0" dirty="0">
                <a:latin typeface="Times New Roman" panose="02020603050405020304" pitchFamily="18" charset="0"/>
                <a:cs typeface="Times New Roman" panose="02020603050405020304" pitchFamily="18" charset="0"/>
              </a:rPr>
              <a:t>) {</a:t>
            </a:r>
          </a:p>
          <a:p>
            <a:pPr algn="l"/>
            <a:r>
              <a:rPr lang="fr-FR" sz="1800" b="0" i="0" u="none" strike="noStrike" baseline="0" dirty="0">
                <a:latin typeface="Times New Roman" panose="02020603050405020304" pitchFamily="18" charset="0"/>
                <a:cs typeface="Times New Roman" panose="02020603050405020304" pitchFamily="18" charset="0"/>
              </a:rPr>
              <a:t>    para = </a:t>
            </a:r>
            <a:r>
              <a:rPr lang="fr-FR" sz="1800" b="0" i="0" u="none" strike="noStrike" baseline="0" dirty="0" err="1">
                <a:latin typeface="Times New Roman" panose="02020603050405020304" pitchFamily="18" charset="0"/>
                <a:cs typeface="Times New Roman" panose="02020603050405020304" pitchFamily="18" charset="0"/>
              </a:rPr>
              <a:t>glob</a:t>
            </a:r>
            <a:r>
              <a:rPr lang="fr-FR" sz="1800" b="0" i="0" u="none" strike="noStrike" baseline="0" dirty="0">
                <a:latin typeface="Times New Roman" panose="02020603050405020304" pitchFamily="18" charset="0"/>
                <a:cs typeface="Times New Roman" panose="02020603050405020304" pitchFamily="18" charset="0"/>
              </a:rPr>
              <a:t>; /* Non-compliant */</a:t>
            </a:r>
          </a:p>
          <a:p>
            <a:pPr algn="l"/>
            <a:r>
              <a:rPr lang="fr-FR" sz="1800" b="0" i="0" u="none" strike="noStrike" baseline="0" dirty="0">
                <a:latin typeface="Times New Roman" panose="02020603050405020304" pitchFamily="18" charset="0"/>
                <a:cs typeface="Times New Roman" panose="02020603050405020304" pitchFamily="18" charset="0"/>
              </a:rPr>
              <a:t>}</a:t>
            </a:r>
          </a:p>
          <a:p>
            <a:pPr algn="l"/>
            <a:endParaRPr lang="fr-FR" sz="1800" b="0" i="0" u="none" strike="noStrike" baseline="0" dirty="0">
              <a:latin typeface="Times New Roman" panose="02020603050405020304" pitchFamily="18" charset="0"/>
              <a:cs typeface="Times New Roman" panose="02020603050405020304" pitchFamily="18" charset="0"/>
            </a:endParaRPr>
          </a:p>
          <a:p>
            <a:pPr algn="l"/>
            <a:r>
              <a:rPr lang="fr-FR" sz="1800" b="0" i="0" u="none" strike="noStrike" baseline="0" dirty="0" err="1">
                <a:latin typeface="Times New Roman" panose="02020603050405020304" pitchFamily="18" charset="0"/>
                <a:cs typeface="Times New Roman" panose="02020603050405020304" pitchFamily="18" charset="0"/>
              </a:rPr>
              <a:t>void</a:t>
            </a:r>
            <a:r>
              <a:rPr lang="fr-FR" sz="1800" b="0" i="0" u="none" strike="noStrike" baseline="0" dirty="0">
                <a:latin typeface="Times New Roman" panose="02020603050405020304" pitchFamily="18" charset="0"/>
                <a:cs typeface="Times New Roman" panose="02020603050405020304" pitchFamily="18" charset="0"/>
              </a:rPr>
              <a:t> f(char </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*p</a:t>
            </a:r>
            <a:r>
              <a:rPr lang="fr-FR" sz="1800" b="0" i="0" u="none" strike="noStrike" baseline="0" dirty="0">
                <a:latin typeface="Times New Roman" panose="02020603050405020304" pitchFamily="18" charset="0"/>
                <a:cs typeface="Times New Roman" panose="02020603050405020304" pitchFamily="18" charset="0"/>
              </a:rPr>
              <a:t>, char </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*q</a:t>
            </a:r>
            <a:r>
              <a:rPr lang="fr-FR" sz="1800" b="0" i="0" u="none" strike="noStrike" baseline="0" dirty="0">
                <a:latin typeface="Times New Roman" panose="02020603050405020304" pitchFamily="18" charset="0"/>
                <a:cs typeface="Times New Roman" panose="02020603050405020304" pitchFamily="18" charset="0"/>
              </a:rPr>
              <a:t>) {</a:t>
            </a:r>
          </a:p>
          <a:p>
            <a:pPr algn="l"/>
            <a:r>
              <a:rPr lang="fr-FR" sz="1800" b="0" i="0" u="none" strike="noStrike" baseline="0" dirty="0">
                <a:latin typeface="Times New Roman" panose="02020603050405020304" pitchFamily="18" charset="0"/>
                <a:cs typeface="Times New Roman" panose="02020603050405020304" pitchFamily="18" charset="0"/>
              </a:rPr>
              <a:t>    p = q; /* Non-compliant */</a:t>
            </a:r>
          </a:p>
          <a:p>
            <a:pPr algn="l"/>
            <a:r>
              <a:rPr lang="fr-FR" sz="1800" b="0" i="0" u="none" strike="noStrike" baseline="0" dirty="0">
                <a:latin typeface="Times New Roman" panose="02020603050405020304" pitchFamily="18" charset="0"/>
                <a:cs typeface="Times New Roman" panose="02020603050405020304" pitchFamily="18" charset="0"/>
              </a:rPr>
              <a:t>    </a:t>
            </a:r>
          </a:p>
          <a:p>
            <a:pPr algn="l"/>
            <a:r>
              <a:rPr lang="fr-FR" sz="1800" b="0" i="0" u="none" strike="noStrike" baseline="0"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16BF1476-17A3-9441-AF82-06182958F178}"/>
              </a:ext>
            </a:extLst>
          </p:cNvPr>
          <p:cNvSpPr txBox="1"/>
          <p:nvPr/>
        </p:nvSpPr>
        <p:spPr>
          <a:xfrm>
            <a:off x="975658" y="5313104"/>
            <a:ext cx="9719407" cy="923330"/>
          </a:xfrm>
          <a:prstGeom prst="rect">
            <a:avLst/>
          </a:prstGeom>
          <a:noFill/>
        </p:spPr>
        <p:txBody>
          <a:bodyPr wrap="square">
            <a:spAutoFit/>
          </a:bodyPr>
          <a:lstStyle/>
          <a:p>
            <a:r>
              <a:rPr lang="en-US" dirty="0"/>
              <a:t>MISRA C guideline that function parameters should not be modified, you need to ensure that parameters are not assigned new values within the function body. If modification is necessary, it should be done via local variables or pointers in a way that clearly indicates the intention.</a:t>
            </a:r>
            <a:endParaRPr lang="en-IN" dirty="0"/>
          </a:p>
        </p:txBody>
      </p:sp>
    </p:spTree>
    <p:extLst>
      <p:ext uri="{BB962C8B-B14F-4D97-AF65-F5344CB8AC3E}">
        <p14:creationId xmlns:p14="http://schemas.microsoft.com/office/powerpoint/2010/main" val="844864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11</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11</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Misra2012:Rule-18.1</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 pointer resulting from arithmetic on a pointer operand shall address an element of the same array as that pointer operand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57331" y="19260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157331" y="2322979"/>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8C3CD833-0480-BA52-B8E8-74FC68D127EF}"/>
              </a:ext>
            </a:extLst>
          </p:cNvPr>
          <p:cNvSpPr txBox="1"/>
          <p:nvPr/>
        </p:nvSpPr>
        <p:spPr>
          <a:xfrm>
            <a:off x="1219301" y="2891839"/>
            <a:ext cx="6115664" cy="2585323"/>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example_non_compliant</a:t>
            </a:r>
            <a:r>
              <a:rPr lang="en-IN" dirty="0"/>
              <a:t>() {</a:t>
            </a:r>
          </a:p>
          <a:p>
            <a:r>
              <a:rPr lang="en-IN" dirty="0"/>
              <a:t>    int </a:t>
            </a:r>
            <a:r>
              <a:rPr lang="en-IN" dirty="0" err="1"/>
              <a:t>arr</a:t>
            </a:r>
            <a:r>
              <a:rPr lang="en-IN" dirty="0"/>
              <a:t>[5] = {1, 2, 3, 4, 5};</a:t>
            </a:r>
          </a:p>
          <a:p>
            <a:r>
              <a:rPr lang="en-IN" dirty="0"/>
              <a:t>    int *p = &amp;</a:t>
            </a:r>
            <a:r>
              <a:rPr lang="en-IN" dirty="0" err="1"/>
              <a:t>arr</a:t>
            </a:r>
            <a:r>
              <a:rPr lang="en-IN" dirty="0"/>
              <a:t>[0];</a:t>
            </a:r>
          </a:p>
          <a:p>
            <a:r>
              <a:rPr lang="en-IN" dirty="0"/>
              <a:t>    </a:t>
            </a:r>
          </a:p>
          <a:p>
            <a:r>
              <a:rPr lang="en-IN" dirty="0">
                <a:highlight>
                  <a:srgbClr val="FFFF00"/>
                </a:highlight>
              </a:rPr>
              <a:t>    p += 10; // Non-compliant: p now points outside the bounds of </a:t>
            </a:r>
            <a:r>
              <a:rPr lang="en-IN" dirty="0" err="1">
                <a:highlight>
                  <a:srgbClr val="FFFF00"/>
                </a:highlight>
              </a:rPr>
              <a:t>arr</a:t>
            </a:r>
            <a:endParaRPr lang="en-IN" dirty="0">
              <a:highlight>
                <a:srgbClr val="FFFF00"/>
              </a:highlight>
            </a:endParaRPr>
          </a:p>
          <a:p>
            <a:r>
              <a:rPr lang="en-IN" dirty="0"/>
              <a:t>}</a:t>
            </a:r>
          </a:p>
        </p:txBody>
      </p:sp>
    </p:spTree>
    <p:extLst>
      <p:ext uri="{BB962C8B-B14F-4D97-AF65-F5344CB8AC3E}">
        <p14:creationId xmlns:p14="http://schemas.microsoft.com/office/powerpoint/2010/main" val="648908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12</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12</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Misra2012:Rule-18.2</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Subtraction between pointers shall only be applied to pointers that address elements of the same array</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6832" y="1699898"/>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078835"/>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8C3CD833-0480-BA52-B8E8-74FC68D127EF}"/>
              </a:ext>
            </a:extLst>
          </p:cNvPr>
          <p:cNvSpPr txBox="1"/>
          <p:nvPr/>
        </p:nvSpPr>
        <p:spPr>
          <a:xfrm>
            <a:off x="1236832" y="2426724"/>
            <a:ext cx="6115664" cy="4247317"/>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example_non_compliant</a:t>
            </a:r>
            <a:r>
              <a:rPr lang="en-IN" dirty="0"/>
              <a:t>() {</a:t>
            </a:r>
          </a:p>
          <a:p>
            <a:r>
              <a:rPr lang="en-IN" dirty="0"/>
              <a:t>    int arr1[5] = {1, 2, 3, 4, 5};</a:t>
            </a:r>
          </a:p>
          <a:p>
            <a:r>
              <a:rPr lang="en-IN" dirty="0"/>
              <a:t>    int arr2[5] = {6, 7, 8, 9, 10};</a:t>
            </a:r>
          </a:p>
          <a:p>
            <a:endParaRPr lang="en-IN" dirty="0"/>
          </a:p>
          <a:p>
            <a:r>
              <a:rPr lang="en-IN" dirty="0"/>
              <a:t>    int *p1 = &amp;arr1[2];</a:t>
            </a:r>
          </a:p>
          <a:p>
            <a:r>
              <a:rPr lang="en-IN" dirty="0"/>
              <a:t>    int *p2 = &amp;arr2[3];</a:t>
            </a:r>
          </a:p>
          <a:p>
            <a:endParaRPr lang="en-IN" dirty="0"/>
          </a:p>
          <a:p>
            <a:r>
              <a:rPr lang="en-IN" dirty="0"/>
              <a:t>    </a:t>
            </a:r>
            <a:r>
              <a:rPr lang="en-IN" dirty="0">
                <a:highlight>
                  <a:srgbClr val="FFFF00"/>
                </a:highlight>
              </a:rPr>
              <a:t>int difference = p1 - p2; </a:t>
            </a:r>
          </a:p>
          <a:p>
            <a:endParaRPr lang="en-IN" dirty="0"/>
          </a:p>
          <a:p>
            <a:endParaRPr lang="en-IN" dirty="0"/>
          </a:p>
          <a:p>
            <a:endParaRPr lang="en-IN" dirty="0"/>
          </a:p>
          <a:p>
            <a:r>
              <a:rPr lang="en-IN" dirty="0"/>
              <a:t>// Non-compliant: p1 and p2 point to different arrays</a:t>
            </a:r>
          </a:p>
          <a:p>
            <a:r>
              <a:rPr lang="en-IN" dirty="0"/>
              <a:t>}</a:t>
            </a:r>
          </a:p>
        </p:txBody>
      </p:sp>
      <p:sp>
        <p:nvSpPr>
          <p:cNvPr id="3" name="TextBox 2">
            <a:extLst>
              <a:ext uri="{FF2B5EF4-FFF2-40B4-BE49-F238E27FC236}">
                <a16:creationId xmlns:a16="http://schemas.microsoft.com/office/drawing/2014/main" id="{A7E7B8D4-0E9E-450A-21B5-644B60F3B40D}"/>
              </a:ext>
            </a:extLst>
          </p:cNvPr>
          <p:cNvSpPr txBox="1"/>
          <p:nvPr/>
        </p:nvSpPr>
        <p:spPr>
          <a:xfrm>
            <a:off x="6144679" y="2451173"/>
            <a:ext cx="6115664" cy="3139321"/>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example_compliant</a:t>
            </a:r>
            <a:r>
              <a:rPr lang="en-IN" dirty="0"/>
              <a:t>() {</a:t>
            </a:r>
          </a:p>
          <a:p>
            <a:r>
              <a:rPr lang="en-IN" dirty="0"/>
              <a:t>    int </a:t>
            </a:r>
            <a:r>
              <a:rPr lang="en-IN" dirty="0" err="1"/>
              <a:t>arr</a:t>
            </a:r>
            <a:r>
              <a:rPr lang="en-IN" dirty="0"/>
              <a:t>[5] = {1, 2, 3, 4, 5};</a:t>
            </a:r>
          </a:p>
          <a:p>
            <a:endParaRPr lang="en-IN" dirty="0"/>
          </a:p>
          <a:p>
            <a:r>
              <a:rPr lang="en-IN" dirty="0"/>
              <a:t>    int *p1 = &amp;</a:t>
            </a:r>
            <a:r>
              <a:rPr lang="en-IN" dirty="0" err="1"/>
              <a:t>arr</a:t>
            </a:r>
            <a:r>
              <a:rPr lang="en-IN" dirty="0"/>
              <a:t>[2];</a:t>
            </a:r>
          </a:p>
          <a:p>
            <a:r>
              <a:rPr lang="en-IN" dirty="0"/>
              <a:t>    int *p2 = &amp;</a:t>
            </a:r>
            <a:r>
              <a:rPr lang="en-IN" dirty="0" err="1"/>
              <a:t>arr</a:t>
            </a:r>
            <a:r>
              <a:rPr lang="en-IN" dirty="0"/>
              <a:t>[3];</a:t>
            </a:r>
          </a:p>
          <a:p>
            <a:endParaRPr lang="en-IN" dirty="0"/>
          </a:p>
          <a:p>
            <a:r>
              <a:rPr lang="en-IN" dirty="0"/>
              <a:t>    </a:t>
            </a:r>
            <a:r>
              <a:rPr lang="en-IN" b="1" dirty="0">
                <a:highlight>
                  <a:srgbClr val="FFFF00"/>
                </a:highlight>
              </a:rPr>
              <a:t>int difference = p2 - p1</a:t>
            </a:r>
            <a:r>
              <a:rPr lang="en-IN" dirty="0"/>
              <a:t>; // Compliant: p1 and p2 point to elements of the same array</a:t>
            </a:r>
          </a:p>
          <a:p>
            <a:r>
              <a:rPr lang="en-IN" dirty="0"/>
              <a:t>}</a:t>
            </a:r>
          </a:p>
        </p:txBody>
      </p:sp>
    </p:spTree>
    <p:extLst>
      <p:ext uri="{BB962C8B-B14F-4D97-AF65-F5344CB8AC3E}">
        <p14:creationId xmlns:p14="http://schemas.microsoft.com/office/powerpoint/2010/main" val="3512006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13</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13</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Misra2012:Rule-18.3</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relational operators &gt;, &gt;=, &lt; and &lt;= shall not be applied to objects of pointer type except where they point into the same object</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5857" y="1929119"/>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322659"/>
            <a:ext cx="1046338" cy="369332"/>
          </a:xfrm>
          <a:prstGeom prst="rect">
            <a:avLst/>
          </a:prstGeom>
          <a:noFill/>
        </p:spPr>
        <p:txBody>
          <a:bodyPr wrap="square">
            <a:spAutoFit/>
          </a:bodyPr>
          <a:lstStyle/>
          <a:p>
            <a:pPr algn="l"/>
            <a:r>
              <a:rPr lang="en-IN" dirty="0">
                <a:highlight>
                  <a:srgbClr val="FFFF00"/>
                </a:highlight>
              </a:rPr>
              <a:t>Example</a:t>
            </a:r>
          </a:p>
        </p:txBody>
      </p:sp>
      <p:sp>
        <p:nvSpPr>
          <p:cNvPr id="6" name="TextBox 5">
            <a:extLst>
              <a:ext uri="{FF2B5EF4-FFF2-40B4-BE49-F238E27FC236}">
                <a16:creationId xmlns:a16="http://schemas.microsoft.com/office/drawing/2014/main" id="{1D1270FD-BA53-5BAF-2769-3A6E1F6BFD68}"/>
              </a:ext>
            </a:extLst>
          </p:cNvPr>
          <p:cNvSpPr txBox="1"/>
          <p:nvPr/>
        </p:nvSpPr>
        <p:spPr>
          <a:xfrm>
            <a:off x="1269306" y="2751294"/>
            <a:ext cx="6115664" cy="3970318"/>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example_non_compliant</a:t>
            </a:r>
            <a:r>
              <a:rPr lang="en-IN" dirty="0"/>
              <a:t>() {</a:t>
            </a:r>
          </a:p>
          <a:p>
            <a:r>
              <a:rPr lang="en-IN" dirty="0"/>
              <a:t>    int arr1[5] = {1, 2, 3, 4, 5};</a:t>
            </a:r>
          </a:p>
          <a:p>
            <a:r>
              <a:rPr lang="en-IN" dirty="0"/>
              <a:t>    int arr2[5] = {6, 7, 8, 9, 10};</a:t>
            </a:r>
          </a:p>
          <a:p>
            <a:endParaRPr lang="en-IN" dirty="0"/>
          </a:p>
          <a:p>
            <a:r>
              <a:rPr lang="en-IN" dirty="0"/>
              <a:t>    int *p1 = &amp;arr1[2];</a:t>
            </a:r>
          </a:p>
          <a:p>
            <a:r>
              <a:rPr lang="en-IN" dirty="0"/>
              <a:t>    int *p2 = &amp;arr2[3];</a:t>
            </a:r>
          </a:p>
          <a:p>
            <a:endParaRPr lang="en-IN" dirty="0"/>
          </a:p>
          <a:p>
            <a:r>
              <a:rPr lang="en-IN" dirty="0"/>
              <a:t>    if (p1 &gt; p2) { // Non-compliant: p1 and p2 point to different arrays</a:t>
            </a:r>
          </a:p>
          <a:p>
            <a:r>
              <a:rPr lang="en-IN" dirty="0"/>
              <a:t>        // Do something</a:t>
            </a:r>
          </a:p>
          <a:p>
            <a:r>
              <a:rPr lang="en-IN" dirty="0"/>
              <a:t>    }</a:t>
            </a:r>
          </a:p>
          <a:p>
            <a:r>
              <a:rPr lang="en-IN" dirty="0"/>
              <a:t>}</a:t>
            </a:r>
          </a:p>
        </p:txBody>
      </p:sp>
    </p:spTree>
    <p:extLst>
      <p:ext uri="{BB962C8B-B14F-4D97-AF65-F5344CB8AC3E}">
        <p14:creationId xmlns:p14="http://schemas.microsoft.com/office/powerpoint/2010/main" val="1752712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14</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14</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Misra2012:Rule-18.4</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 -, += and -= operators should not be applied to an expression of pointer type</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1163" y="1662673"/>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31163" y="2057818"/>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248357" y="2618466"/>
            <a:ext cx="6115664" cy="3139321"/>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example_non_compliant</a:t>
            </a:r>
            <a:r>
              <a:rPr lang="en-IN" dirty="0"/>
              <a:t>() {</a:t>
            </a:r>
          </a:p>
          <a:p>
            <a:r>
              <a:rPr lang="en-IN" dirty="0"/>
              <a:t>    int </a:t>
            </a:r>
            <a:r>
              <a:rPr lang="en-IN" dirty="0" err="1"/>
              <a:t>arr</a:t>
            </a:r>
            <a:r>
              <a:rPr lang="en-IN" dirty="0"/>
              <a:t>[5] = {1, 2, 3, 4, 5};</a:t>
            </a:r>
          </a:p>
          <a:p>
            <a:r>
              <a:rPr lang="en-IN" dirty="0"/>
              <a:t>    int *p = &amp;</a:t>
            </a:r>
            <a:r>
              <a:rPr lang="en-IN" dirty="0" err="1"/>
              <a:t>arr</a:t>
            </a:r>
            <a:r>
              <a:rPr lang="en-IN" dirty="0"/>
              <a:t>[0];</a:t>
            </a:r>
          </a:p>
          <a:p>
            <a:endParaRPr lang="en-IN" dirty="0"/>
          </a:p>
          <a:p>
            <a:r>
              <a:rPr lang="en-IN" dirty="0"/>
              <a:t>    p = p + 10;  // Non-compliant: p may point outside the bounds of </a:t>
            </a:r>
            <a:r>
              <a:rPr lang="en-IN" dirty="0" err="1"/>
              <a:t>arr</a:t>
            </a:r>
            <a:endParaRPr lang="en-IN" dirty="0"/>
          </a:p>
          <a:p>
            <a:r>
              <a:rPr lang="en-IN" dirty="0"/>
              <a:t>    p -= 2;      // Non-compliant: p may point outside the bounds of </a:t>
            </a:r>
            <a:r>
              <a:rPr lang="en-IN" dirty="0" err="1"/>
              <a:t>arr</a:t>
            </a:r>
            <a:endParaRPr lang="en-IN" dirty="0"/>
          </a:p>
          <a:p>
            <a:r>
              <a:rPr lang="en-IN" dirty="0"/>
              <a:t>}</a:t>
            </a:r>
          </a:p>
        </p:txBody>
      </p:sp>
      <p:sp>
        <p:nvSpPr>
          <p:cNvPr id="13" name="TextBox 12">
            <a:extLst>
              <a:ext uri="{FF2B5EF4-FFF2-40B4-BE49-F238E27FC236}">
                <a16:creationId xmlns:a16="http://schemas.microsoft.com/office/drawing/2014/main" id="{A3F14434-53CD-8A34-FCA9-0590AB50F388}"/>
              </a:ext>
            </a:extLst>
          </p:cNvPr>
          <p:cNvSpPr txBox="1"/>
          <p:nvPr/>
        </p:nvSpPr>
        <p:spPr>
          <a:xfrm>
            <a:off x="6735096" y="2620412"/>
            <a:ext cx="6115664" cy="3416320"/>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example_compliant</a:t>
            </a:r>
            <a:r>
              <a:rPr lang="en-IN" dirty="0"/>
              <a:t>() {</a:t>
            </a:r>
          </a:p>
          <a:p>
            <a:r>
              <a:rPr lang="en-IN" dirty="0"/>
              <a:t>    int </a:t>
            </a:r>
            <a:r>
              <a:rPr lang="en-IN" dirty="0" err="1"/>
              <a:t>arr</a:t>
            </a:r>
            <a:r>
              <a:rPr lang="en-IN" dirty="0"/>
              <a:t>[5] = {1, 2, 3, 4, 5};</a:t>
            </a:r>
          </a:p>
          <a:p>
            <a:r>
              <a:rPr lang="en-IN" dirty="0"/>
              <a:t>    int *p = &amp;</a:t>
            </a:r>
            <a:r>
              <a:rPr lang="en-IN" dirty="0" err="1"/>
              <a:t>arr</a:t>
            </a:r>
            <a:r>
              <a:rPr lang="en-IN" dirty="0"/>
              <a:t>[0];</a:t>
            </a:r>
          </a:p>
          <a:p>
            <a:endParaRPr lang="en-IN" dirty="0"/>
          </a:p>
          <a:p>
            <a:r>
              <a:rPr lang="en-IN" dirty="0"/>
              <a:t>    for (int i = 0; i &lt; 5; i++) {</a:t>
            </a:r>
          </a:p>
          <a:p>
            <a:r>
              <a:rPr lang="en-IN" dirty="0"/>
              <a:t>        p = &amp;</a:t>
            </a:r>
            <a:r>
              <a:rPr lang="en-IN" dirty="0" err="1"/>
              <a:t>arr</a:t>
            </a:r>
            <a:r>
              <a:rPr lang="en-IN" dirty="0"/>
              <a:t>[i];  // Compliant: p always points to a valid element within </a:t>
            </a:r>
            <a:r>
              <a:rPr lang="en-IN" dirty="0" err="1"/>
              <a:t>arr</a:t>
            </a:r>
            <a:endParaRPr lang="en-IN" dirty="0"/>
          </a:p>
          <a:p>
            <a:r>
              <a:rPr lang="en-IN" dirty="0"/>
              <a:t>        // Use p as needed</a:t>
            </a:r>
          </a:p>
          <a:p>
            <a:r>
              <a:rPr lang="en-IN" dirty="0"/>
              <a:t>    }</a:t>
            </a:r>
          </a:p>
          <a:p>
            <a:r>
              <a:rPr lang="en-IN" dirty="0"/>
              <a:t>}</a:t>
            </a:r>
          </a:p>
        </p:txBody>
      </p:sp>
    </p:spTree>
    <p:extLst>
      <p:ext uri="{BB962C8B-B14F-4D97-AF65-F5344CB8AC3E}">
        <p14:creationId xmlns:p14="http://schemas.microsoft.com/office/powerpoint/2010/main" val="2882449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15</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15</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Misra2012:Rule-18.5</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Declarations should contain no more than two levels of pointer nesting</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1163" y="1662673"/>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31163" y="2057818"/>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248357" y="2618466"/>
            <a:ext cx="6115664" cy="2585323"/>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example_non_compliant</a:t>
            </a:r>
            <a:r>
              <a:rPr lang="en-IN" dirty="0"/>
              <a:t>() {</a:t>
            </a:r>
          </a:p>
          <a:p>
            <a:r>
              <a:rPr lang="en-IN" dirty="0"/>
              <a:t>    int x = 5;</a:t>
            </a:r>
          </a:p>
          <a:p>
            <a:r>
              <a:rPr lang="en-IN" dirty="0"/>
              <a:t>    int *p1 = &amp;x;</a:t>
            </a:r>
          </a:p>
          <a:p>
            <a:r>
              <a:rPr lang="en-IN" dirty="0"/>
              <a:t>    int **p2 = &amp;p1;</a:t>
            </a:r>
          </a:p>
          <a:p>
            <a:r>
              <a:rPr lang="en-IN" dirty="0"/>
              <a:t>    int ***p3 = &amp;p2;  // Non-compliant: three levels of pointer nesting</a:t>
            </a:r>
          </a:p>
          <a:p>
            <a:r>
              <a:rPr lang="en-IN" dirty="0"/>
              <a:t>}</a:t>
            </a:r>
          </a:p>
        </p:txBody>
      </p:sp>
      <p:sp>
        <p:nvSpPr>
          <p:cNvPr id="13" name="TextBox 12">
            <a:extLst>
              <a:ext uri="{FF2B5EF4-FFF2-40B4-BE49-F238E27FC236}">
                <a16:creationId xmlns:a16="http://schemas.microsoft.com/office/drawing/2014/main" id="{A3F14434-53CD-8A34-FCA9-0590AB50F388}"/>
              </a:ext>
            </a:extLst>
          </p:cNvPr>
          <p:cNvSpPr txBox="1"/>
          <p:nvPr/>
        </p:nvSpPr>
        <p:spPr>
          <a:xfrm>
            <a:off x="7236884" y="2479966"/>
            <a:ext cx="6115664" cy="2862322"/>
          </a:xfrm>
          <a:prstGeom prst="rect">
            <a:avLst/>
          </a:prstGeom>
          <a:noFill/>
        </p:spPr>
        <p:txBody>
          <a:bodyPr wrap="square">
            <a:spAutoFit/>
          </a:bodyPr>
          <a:lstStyle/>
          <a:p>
            <a:r>
              <a:rPr lang="en-US" dirty="0"/>
              <a:t>#include &lt;</a:t>
            </a:r>
            <a:r>
              <a:rPr lang="en-US" dirty="0" err="1"/>
              <a:t>stdint.h</a:t>
            </a:r>
            <a:r>
              <a:rPr lang="en-US" dirty="0"/>
              <a:t>&gt;</a:t>
            </a:r>
          </a:p>
          <a:p>
            <a:endParaRPr lang="en-US" dirty="0"/>
          </a:p>
          <a:p>
            <a:r>
              <a:rPr lang="en-US" dirty="0"/>
              <a:t>void </a:t>
            </a:r>
            <a:r>
              <a:rPr lang="en-US" dirty="0" err="1"/>
              <a:t>example_compliant</a:t>
            </a:r>
            <a:r>
              <a:rPr lang="en-US" dirty="0"/>
              <a:t>() {</a:t>
            </a:r>
          </a:p>
          <a:p>
            <a:r>
              <a:rPr lang="en-US" dirty="0"/>
              <a:t>    int x = 5;</a:t>
            </a:r>
          </a:p>
          <a:p>
            <a:r>
              <a:rPr lang="en-US" dirty="0"/>
              <a:t>    int *p1 = &amp;x;</a:t>
            </a:r>
          </a:p>
          <a:p>
            <a:r>
              <a:rPr lang="en-US" dirty="0"/>
              <a:t>    int **p2 = &amp;p1;  </a:t>
            </a:r>
          </a:p>
          <a:p>
            <a:endParaRPr lang="en-US" dirty="0"/>
          </a:p>
          <a:p>
            <a:r>
              <a:rPr lang="en-US" dirty="0"/>
              <a:t>// Compliant: two levels of pointer nesting</a:t>
            </a:r>
          </a:p>
          <a:p>
            <a:r>
              <a:rPr lang="en-US" dirty="0"/>
              <a:t>    // Use p2 as needed</a:t>
            </a:r>
          </a:p>
          <a:p>
            <a:r>
              <a:rPr lang="en-US" dirty="0"/>
              <a:t>}</a:t>
            </a:r>
          </a:p>
        </p:txBody>
      </p:sp>
    </p:spTree>
    <p:extLst>
      <p:ext uri="{BB962C8B-B14F-4D97-AF65-F5344CB8AC3E}">
        <p14:creationId xmlns:p14="http://schemas.microsoft.com/office/powerpoint/2010/main" val="2489803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16</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16</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6</a:t>
            </a:r>
            <a:endPar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address of an object with automatic storage shall not be copied to another object that persists after the first object has ceased to exist</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1163" y="187524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31163" y="2221565"/>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248357" y="2618466"/>
            <a:ext cx="6115664" cy="2031325"/>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int8_t *</a:t>
            </a:r>
            <a:r>
              <a:rPr lang="en-IN" sz="1800" b="0" i="0" u="none" strike="noStrike" baseline="0" dirty="0" err="1">
                <a:latin typeface="Times New Roman" panose="02020603050405020304" pitchFamily="18" charset="0"/>
                <a:cs typeface="Times New Roman" panose="02020603050405020304" pitchFamily="18" charset="0"/>
              </a:rPr>
              <a:t>func</a:t>
            </a:r>
            <a:r>
              <a:rPr lang="en-IN" sz="1800" b="0" i="0" u="none" strike="noStrike" baseline="0" dirty="0">
                <a:latin typeface="Times New Roman" panose="02020603050405020304" pitchFamily="18" charset="0"/>
                <a:cs typeface="Times New Roman" panose="02020603050405020304" pitchFamily="18" charset="0"/>
              </a:rPr>
              <a:t> ( void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int8_t </a:t>
            </a:r>
            <a:r>
              <a:rPr lang="en-IN" sz="1800" b="0" i="0" u="none" strike="noStrike" baseline="0" dirty="0" err="1">
                <a:latin typeface="Times New Roman" panose="02020603050405020304" pitchFamily="18" charset="0"/>
                <a:cs typeface="Times New Roman" panose="02020603050405020304" pitchFamily="18" charset="0"/>
              </a:rPr>
              <a:t>local_auto</a:t>
            </a:r>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return &amp;</a:t>
            </a:r>
            <a:r>
              <a:rPr lang="en-IN" sz="1800" b="0" i="0" u="none" strike="noStrike" baseline="0" dirty="0" err="1">
                <a:highlight>
                  <a:srgbClr val="FFFF00"/>
                </a:highlight>
                <a:latin typeface="Times New Roman" panose="02020603050405020304" pitchFamily="18" charset="0"/>
                <a:cs typeface="Times New Roman" panose="02020603050405020304" pitchFamily="18" charset="0"/>
              </a:rPr>
              <a:t>local_auto</a:t>
            </a:r>
            <a:r>
              <a:rPr lang="en-IN" sz="1800" b="0" i="0" u="none" strike="noStrike" baseline="0" dirty="0">
                <a:latin typeface="Times New Roman" panose="02020603050405020304" pitchFamily="18" charset="0"/>
                <a:cs typeface="Times New Roman" panose="02020603050405020304" pitchFamily="18" charset="0"/>
              </a:rPr>
              <a:t>; /* Non-compliant - &amp;</a:t>
            </a:r>
            <a:r>
              <a:rPr lang="en-IN" sz="1800" b="0" i="0" u="none" strike="noStrike" baseline="0" dirty="0">
                <a:highlight>
                  <a:srgbClr val="FFFF00"/>
                </a:highlight>
                <a:latin typeface="Times New Roman" panose="02020603050405020304" pitchFamily="18" charset="0"/>
                <a:cs typeface="Times New Roman" panose="02020603050405020304" pitchFamily="18" charset="0"/>
              </a:rPr>
              <a:t>local_ auto is indeterminate</a:t>
            </a:r>
          </a:p>
          <a:p>
            <a:pPr algn="l"/>
            <a:r>
              <a:rPr lang="en-IN" sz="1800" b="0" i="0" u="none" strike="noStrike" baseline="0" dirty="0">
                <a:latin typeface="Times New Roman" panose="02020603050405020304" pitchFamily="18" charset="0"/>
                <a:cs typeface="Times New Roman" panose="02020603050405020304" pitchFamily="18" charset="0"/>
              </a:rPr>
              <a:t>* when </a:t>
            </a:r>
            <a:r>
              <a:rPr lang="en-IN" sz="1800" b="0" i="0" u="none" strike="noStrike" baseline="0" dirty="0" err="1">
                <a:latin typeface="Times New Roman" panose="02020603050405020304" pitchFamily="18" charset="0"/>
                <a:cs typeface="Times New Roman" panose="02020603050405020304" pitchFamily="18" charset="0"/>
              </a:rPr>
              <a:t>func</a:t>
            </a:r>
            <a:r>
              <a:rPr lang="en-IN" sz="1800" b="0" i="0" u="none" strike="noStrike" baseline="0" dirty="0">
                <a:latin typeface="Times New Roman" panose="02020603050405020304" pitchFamily="18" charset="0"/>
                <a:cs typeface="Times New Roman" panose="02020603050405020304" pitchFamily="18" charset="0"/>
              </a:rPr>
              <a:t> returns */</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B877D5D-3902-1349-8293-19DD66CD3C45}"/>
              </a:ext>
            </a:extLst>
          </p:cNvPr>
          <p:cNvSpPr txBox="1"/>
          <p:nvPr/>
        </p:nvSpPr>
        <p:spPr>
          <a:xfrm>
            <a:off x="1219301" y="4881142"/>
            <a:ext cx="6115664" cy="923330"/>
          </a:xfrm>
          <a:prstGeom prst="rect">
            <a:avLst/>
          </a:prstGeom>
          <a:noFill/>
        </p:spPr>
        <p:txBody>
          <a:bodyPr wrap="square">
            <a:spAutoFit/>
          </a:bodyPr>
          <a:lstStyle/>
          <a:p>
            <a:pPr algn="l"/>
            <a:r>
              <a:rPr lang="en-US" sz="1800" b="0" i="0" u="none" strike="noStrike" baseline="0" dirty="0">
                <a:latin typeface="OpenSans-Light"/>
              </a:rPr>
              <a:t>The address of an object becomes indeterminate when the </a:t>
            </a:r>
            <a:r>
              <a:rPr lang="en-US" sz="1800" b="0" i="0" u="none" strike="noStrike" baseline="0" dirty="0">
                <a:highlight>
                  <a:srgbClr val="FFFF00"/>
                </a:highlight>
                <a:latin typeface="OpenSans-Light"/>
              </a:rPr>
              <a:t>lifetime of that object expires</a:t>
            </a:r>
            <a:r>
              <a:rPr lang="en-US" sz="1800" b="0" i="0" u="none" strike="noStrike" baseline="0" dirty="0">
                <a:latin typeface="OpenSans-Light"/>
              </a:rPr>
              <a:t>. Any use of</a:t>
            </a:r>
          </a:p>
          <a:p>
            <a:pPr algn="l"/>
            <a:r>
              <a:rPr lang="en-US" sz="1800" b="0" i="0" u="none" strike="noStrike" baseline="0" dirty="0">
                <a:latin typeface="OpenSans-Light"/>
              </a:rPr>
              <a:t>an indeterminate address results in undefined behavior.</a:t>
            </a:r>
            <a:endParaRPr lang="en-IN" dirty="0"/>
          </a:p>
        </p:txBody>
      </p:sp>
    </p:spTree>
    <p:extLst>
      <p:ext uri="{BB962C8B-B14F-4D97-AF65-F5344CB8AC3E}">
        <p14:creationId xmlns:p14="http://schemas.microsoft.com/office/powerpoint/2010/main" val="1087733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17</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17</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7</a:t>
            </a:r>
            <a:endPar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Flexible array members shall not be declared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192949" y="2492421"/>
            <a:ext cx="6115664" cy="4247317"/>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#include &lt;</a:t>
            </a:r>
            <a:r>
              <a:rPr lang="en-IN" sz="1800" b="0" i="0" u="none" strike="noStrike" baseline="0" dirty="0" err="1">
                <a:latin typeface="Times New Roman" panose="02020603050405020304" pitchFamily="18" charset="0"/>
                <a:cs typeface="Times New Roman" panose="02020603050405020304" pitchFamily="18" charset="0"/>
              </a:rPr>
              <a:t>stdlib.h</a:t>
            </a:r>
            <a:r>
              <a:rPr lang="en-IN" sz="1800" b="0" i="0" u="none" strike="noStrike" baseline="0" dirty="0">
                <a:latin typeface="Times New Roman" panose="02020603050405020304" pitchFamily="18" charset="0"/>
                <a:cs typeface="Times New Roman" panose="02020603050405020304" pitchFamily="18" charset="0"/>
              </a:rPr>
              <a:t>&gt;</a:t>
            </a:r>
          </a:p>
          <a:p>
            <a:pPr algn="l"/>
            <a:r>
              <a:rPr lang="en-IN" sz="1800" b="0" i="0" u="none" strike="noStrike" baseline="0" dirty="0">
                <a:latin typeface="Times New Roman" panose="02020603050405020304" pitchFamily="18" charset="0"/>
                <a:cs typeface="Times New Roman" panose="02020603050405020304" pitchFamily="18" charset="0"/>
              </a:rPr>
              <a:t>struct s</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uint16_t </a:t>
            </a:r>
            <a:r>
              <a:rPr lang="en-IN" sz="1800" b="0" i="0" u="none" strike="noStrike" baseline="0" dirty="0" err="1">
                <a:latin typeface="Times New Roman" panose="02020603050405020304" pitchFamily="18" charset="0"/>
                <a:cs typeface="Times New Roman" panose="02020603050405020304" pitchFamily="18" charset="0"/>
              </a:rPr>
              <a:t>len</a:t>
            </a:r>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uint32_t data</a:t>
            </a:r>
            <a:r>
              <a:rPr lang="en-IN" sz="1800" b="0" i="0" u="none" strike="noStrike" baseline="0" dirty="0">
                <a:highlight>
                  <a:srgbClr val="FFFF00"/>
                </a:highlight>
                <a:latin typeface="Times New Roman" panose="02020603050405020304" pitchFamily="18" charset="0"/>
                <a:cs typeface="Times New Roman" panose="02020603050405020304" pitchFamily="18" charset="0"/>
              </a:rPr>
              <a:t>[ ]</a:t>
            </a:r>
            <a:r>
              <a:rPr lang="en-IN" sz="1800" b="0" i="0" u="none" strike="noStrike" baseline="0" dirty="0">
                <a:latin typeface="Times New Roman" panose="02020603050405020304" pitchFamily="18" charset="0"/>
                <a:cs typeface="Times New Roman" panose="02020603050405020304" pitchFamily="18" charset="0"/>
              </a:rPr>
              <a:t>; /* Non-compliant - flexible array member */</a:t>
            </a:r>
          </a:p>
          <a:p>
            <a:pPr algn="l"/>
            <a:r>
              <a:rPr lang="en-IN" sz="1800" b="0" i="0" u="none" strike="noStrike" baseline="0" dirty="0">
                <a:latin typeface="Times New Roman" panose="02020603050405020304" pitchFamily="18" charset="0"/>
                <a:cs typeface="Times New Roman" panose="02020603050405020304" pitchFamily="18" charset="0"/>
              </a:rPr>
              <a:t>} str;</a:t>
            </a:r>
          </a:p>
          <a:p>
            <a:pPr algn="l"/>
            <a:r>
              <a:rPr lang="en-US" sz="1800" b="0" i="0" u="none" strike="noStrike" baseline="0" dirty="0">
                <a:latin typeface="Times New Roman" panose="02020603050405020304" pitchFamily="18" charset="0"/>
                <a:cs typeface="Times New Roman" panose="02020603050405020304" pitchFamily="18" charset="0"/>
              </a:rPr>
              <a:t>struct s *copy ( struct s *s1 )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struct s *s2;</a:t>
            </a:r>
          </a:p>
          <a:p>
            <a:pPr algn="l"/>
            <a:r>
              <a:rPr lang="en-US" sz="1800" b="0" i="0" u="none" strike="noStrike" baseline="0" dirty="0">
                <a:latin typeface="Times New Roman" panose="02020603050405020304" pitchFamily="18" charset="0"/>
                <a:cs typeface="Times New Roman" panose="02020603050405020304" pitchFamily="18" charset="0"/>
              </a:rPr>
              <a:t>/* Omit malloc ( ) return check for brevity */</a:t>
            </a:r>
          </a:p>
          <a:p>
            <a:pPr algn="l"/>
            <a:r>
              <a:rPr lang="en-US" sz="1800" b="0" i="0" u="none" strike="noStrike" baseline="0" dirty="0">
                <a:latin typeface="Times New Roman" panose="02020603050405020304" pitchFamily="18" charset="0"/>
                <a:cs typeface="Times New Roman" panose="02020603050405020304" pitchFamily="18" charset="0"/>
              </a:rPr>
              <a:t>s2 = malloc ( </a:t>
            </a:r>
            <a:r>
              <a:rPr lang="en-US" sz="1800" b="0" i="0" u="none" strike="noStrike" baseline="0" dirty="0" err="1">
                <a:latin typeface="Times New Roman" panose="02020603050405020304" pitchFamily="18" charset="0"/>
                <a:cs typeface="Times New Roman" panose="02020603050405020304" pitchFamily="18" charset="0"/>
              </a:rPr>
              <a:t>sizeof</a:t>
            </a:r>
            <a:r>
              <a:rPr lang="en-US" sz="1800" b="0" i="0" u="none" strike="noStrike" baseline="0" dirty="0">
                <a:latin typeface="Times New Roman" panose="02020603050405020304" pitchFamily="18" charset="0"/>
                <a:cs typeface="Times New Roman" panose="02020603050405020304" pitchFamily="18" charset="0"/>
              </a:rPr>
              <a:t> ( struct s ) + ( s1-&gt;</a:t>
            </a:r>
            <a:r>
              <a:rPr lang="en-US" sz="1800" b="0" i="0" u="none" strike="noStrike" baseline="0" dirty="0" err="1">
                <a:latin typeface="Times New Roman" panose="02020603050405020304" pitchFamily="18" charset="0"/>
                <a:cs typeface="Times New Roman" panose="02020603050405020304" pitchFamily="18" charset="0"/>
              </a:rPr>
              <a:t>len</a:t>
            </a:r>
            <a:r>
              <a:rPr lang="en-US" sz="1800" b="0" i="0" u="none" strike="noStrike" baseline="0" dirty="0">
                <a:latin typeface="Times New Roman" panose="02020603050405020304" pitchFamily="18" charset="0"/>
                <a:cs typeface="Times New Roman" panose="02020603050405020304" pitchFamily="18" charset="0"/>
              </a:rPr>
              <a:t> * </a:t>
            </a:r>
            <a:r>
              <a:rPr lang="en-US" sz="1800" b="0" i="0" u="none" strike="noStrike" baseline="0" dirty="0" err="1">
                <a:latin typeface="Times New Roman" panose="02020603050405020304" pitchFamily="18" charset="0"/>
                <a:cs typeface="Times New Roman" panose="02020603050405020304" pitchFamily="18" charset="0"/>
              </a:rPr>
              <a:t>sizeof</a:t>
            </a:r>
            <a:r>
              <a:rPr lang="en-US" sz="1800" b="0" i="0" u="none" strike="noStrike" baseline="0" dirty="0">
                <a:latin typeface="Times New Roman" panose="02020603050405020304" pitchFamily="18" charset="0"/>
                <a:cs typeface="Times New Roman" panose="02020603050405020304" pitchFamily="18" charset="0"/>
              </a:rPr>
              <a:t> ( uint32_t ) ) );</a:t>
            </a:r>
          </a:p>
          <a:p>
            <a:pPr algn="l"/>
            <a:r>
              <a:rPr lang="en-US" sz="1800" b="0" i="0" u="none" strike="noStrike" baseline="0" dirty="0">
                <a:latin typeface="Times New Roman" panose="02020603050405020304" pitchFamily="18" charset="0"/>
                <a:cs typeface="Times New Roman" panose="02020603050405020304" pitchFamily="18" charset="0"/>
              </a:rPr>
              <a:t>*s2 = *s1; /* Only copies s1-&gt;</a:t>
            </a:r>
            <a:r>
              <a:rPr lang="en-US" sz="1800" b="0" i="0" u="none" strike="noStrike" baseline="0" dirty="0" err="1">
                <a:latin typeface="Times New Roman" panose="02020603050405020304" pitchFamily="18" charset="0"/>
                <a:cs typeface="Times New Roman" panose="02020603050405020304" pitchFamily="18" charset="0"/>
              </a:rPr>
              <a:t>len</a:t>
            </a:r>
            <a:r>
              <a:rPr lang="en-US" sz="1800" b="0" i="0" u="none" strike="noStrike" baseline="0" dirty="0">
                <a:latin typeface="Times New Roman" panose="02020603050405020304" pitchFamily="18" charset="0"/>
                <a:cs typeface="Times New Roman" panose="02020603050405020304" pitchFamily="18" charset="0"/>
              </a:rPr>
              <a:t> */</a:t>
            </a:r>
          </a:p>
          <a:p>
            <a:pPr algn="l"/>
            <a:r>
              <a:rPr lang="en-IN" sz="1800" b="0" i="0" u="none" strike="noStrike" baseline="0" dirty="0">
                <a:latin typeface="Times New Roman" panose="02020603050405020304" pitchFamily="18" charset="0"/>
                <a:cs typeface="Times New Roman" panose="02020603050405020304" pitchFamily="18" charset="0"/>
              </a:rPr>
              <a:t>return s2;</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87C3FEC-5558-7907-3B42-04BCF5ACBEE2}"/>
              </a:ext>
            </a:extLst>
          </p:cNvPr>
          <p:cNvSpPr txBox="1"/>
          <p:nvPr/>
        </p:nvSpPr>
        <p:spPr>
          <a:xfrm>
            <a:off x="6530759" y="2440998"/>
            <a:ext cx="6117534" cy="923330"/>
          </a:xfrm>
          <a:prstGeom prst="rect">
            <a:avLst/>
          </a:prstGeom>
          <a:noFill/>
        </p:spPr>
        <p:txBody>
          <a:bodyPr wrap="square">
            <a:spAutoFit/>
          </a:bodyPr>
          <a:lstStyle/>
          <a:p>
            <a:pPr algn="l"/>
            <a:r>
              <a:rPr lang="en-US" sz="1800" b="0" i="0" u="none" strike="noStrike" baseline="0" dirty="0">
                <a:latin typeface="OpenSans-Light"/>
              </a:rPr>
              <a:t>Flexible array members are most likely to be used in conjunction with dynamic memory allocation</a:t>
            </a:r>
          </a:p>
          <a:p>
            <a:pPr algn="l"/>
            <a:r>
              <a:rPr lang="en-US" sz="1800" b="0" i="0" u="none" strike="noStrike" baseline="0" dirty="0">
                <a:latin typeface="OpenSans-Light"/>
              </a:rPr>
              <a:t>which is banned by Dir 4.12 and Rule 21.3.</a:t>
            </a:r>
            <a:endParaRPr lang="en-IN" dirty="0"/>
          </a:p>
        </p:txBody>
      </p:sp>
    </p:spTree>
    <p:extLst>
      <p:ext uri="{BB962C8B-B14F-4D97-AF65-F5344CB8AC3E}">
        <p14:creationId xmlns:p14="http://schemas.microsoft.com/office/powerpoint/2010/main" val="2040911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18</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18</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Misra2012:Rule-18.8</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Variable-length array types shall not be used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219301" y="2369347"/>
            <a:ext cx="6115664" cy="2862322"/>
          </a:xfrm>
          <a:prstGeom prst="rect">
            <a:avLst/>
          </a:prstGeom>
          <a:noFill/>
        </p:spPr>
        <p:txBody>
          <a:bodyPr wrap="square">
            <a:spAutoFit/>
          </a:bodyPr>
          <a:lstStyle/>
          <a:p>
            <a:pPr algn="l"/>
            <a:r>
              <a:rPr lang="fr-FR" sz="1800" b="0" i="0" u="none" strike="noStrike" baseline="0" dirty="0" err="1">
                <a:latin typeface="Times New Roman" panose="02020603050405020304" pitchFamily="18" charset="0"/>
                <a:cs typeface="Times New Roman" panose="02020603050405020304" pitchFamily="18" charset="0"/>
              </a:rPr>
              <a:t>void</a:t>
            </a:r>
            <a:r>
              <a:rPr lang="fr-FR" sz="1800" b="0" i="0" u="none" strike="noStrike" baseline="0" dirty="0">
                <a:latin typeface="Times New Roman" panose="02020603050405020304" pitchFamily="18" charset="0"/>
                <a:cs typeface="Times New Roman" panose="02020603050405020304" pitchFamily="18" charset="0"/>
              </a:rPr>
              <a:t> f ( int16_t n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uint16_t </a:t>
            </a:r>
            <a:r>
              <a:rPr lang="en-IN" sz="1800" b="0" i="0" u="none" strike="noStrike" baseline="0" dirty="0" err="1">
                <a:latin typeface="Times New Roman" panose="02020603050405020304" pitchFamily="18" charset="0"/>
                <a:cs typeface="Times New Roman" panose="02020603050405020304" pitchFamily="18" charset="0"/>
              </a:rPr>
              <a:t>vla</a:t>
            </a:r>
            <a:r>
              <a:rPr lang="en-IN" sz="1800" b="0" i="0" u="none" strike="noStrike" baseline="0" dirty="0">
                <a:latin typeface="Times New Roman" panose="02020603050405020304" pitchFamily="18" charset="0"/>
                <a:cs typeface="Times New Roman" panose="02020603050405020304" pitchFamily="18" charset="0"/>
              </a:rPr>
              <a:t>[ n ]; /* Non-compliant - Undefined if n &lt;= 0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void g ( void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f ( 0 ); /* Undefined */</a:t>
            </a:r>
          </a:p>
          <a:p>
            <a:pPr algn="l"/>
            <a:r>
              <a:rPr lang="en-IN" sz="1800" b="0" i="0" u="none" strike="noStrike" baseline="0" dirty="0">
                <a:latin typeface="Times New Roman" panose="02020603050405020304" pitchFamily="18" charset="0"/>
                <a:cs typeface="Times New Roman" panose="02020603050405020304" pitchFamily="18" charset="0"/>
              </a:rPr>
              <a:t>f ( -1 ); /* Undefined */</a:t>
            </a:r>
          </a:p>
          <a:p>
            <a:pPr algn="l"/>
            <a:r>
              <a:rPr lang="en-IN" sz="1800" b="0" i="0" u="none" strike="noStrike" baseline="0" dirty="0">
                <a:latin typeface="Times New Roman" panose="02020603050405020304" pitchFamily="18" charset="0"/>
                <a:cs typeface="Times New Roman" panose="02020603050405020304" pitchFamily="18" charset="0"/>
              </a:rPr>
              <a:t>f ( 10 ); /* Defined */</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1844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19</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19</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Misra2012:Rule-19.1</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An object shall not be assigned or copied to an overlapping object</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Mandatory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Undecidable, System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282918" y="2433903"/>
            <a:ext cx="6115664" cy="2862322"/>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This example also violates Rule 19.2 because it uses unions.</a:t>
            </a:r>
          </a:p>
          <a:p>
            <a:pPr algn="l"/>
            <a:r>
              <a:rPr lang="en-IN" sz="1800" b="0" i="0" u="none" strike="noStrike" baseline="0" dirty="0">
                <a:latin typeface="Times New Roman" panose="02020603050405020304" pitchFamily="18" charset="0"/>
                <a:cs typeface="Times New Roman" panose="02020603050405020304" pitchFamily="18" charset="0"/>
              </a:rPr>
              <a:t>void </a:t>
            </a:r>
            <a:r>
              <a:rPr lang="en-IN" sz="1800" b="0" i="0" u="none" strike="noStrike" baseline="0" dirty="0" err="1">
                <a:latin typeface="Times New Roman" panose="02020603050405020304" pitchFamily="18" charset="0"/>
                <a:cs typeface="Times New Roman" panose="02020603050405020304" pitchFamily="18" charset="0"/>
              </a:rPr>
              <a:t>fn</a:t>
            </a:r>
            <a:r>
              <a:rPr lang="en-IN" sz="1800" b="0" i="0" u="none" strike="noStrike" baseline="0" dirty="0">
                <a:latin typeface="Times New Roman" panose="02020603050405020304" pitchFamily="18" charset="0"/>
                <a:cs typeface="Times New Roman" panose="02020603050405020304" pitchFamily="18" charset="0"/>
              </a:rPr>
              <a:t> ( void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union</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int16_t i;</a:t>
            </a:r>
          </a:p>
          <a:p>
            <a:pPr algn="l"/>
            <a:r>
              <a:rPr lang="en-IN" sz="1800" b="0" i="0" u="none" strike="noStrike" baseline="0" dirty="0">
                <a:latin typeface="Times New Roman" panose="02020603050405020304" pitchFamily="18" charset="0"/>
                <a:cs typeface="Times New Roman" panose="02020603050405020304" pitchFamily="18" charset="0"/>
              </a:rPr>
              <a:t>int32_t j;</a:t>
            </a:r>
          </a:p>
          <a:p>
            <a:pPr algn="l"/>
            <a:r>
              <a:rPr lang="en-IN" sz="1800" b="0" i="0" u="none" strike="noStrike" baseline="0" dirty="0">
                <a:latin typeface="Times New Roman" panose="02020603050405020304" pitchFamily="18" charset="0"/>
                <a:cs typeface="Times New Roman" panose="02020603050405020304" pitchFamily="18" charset="0"/>
              </a:rPr>
              <a:t>} a = { 0 }, b = { 1 };</a:t>
            </a:r>
          </a:p>
          <a:p>
            <a:pPr algn="l"/>
            <a:r>
              <a:rPr lang="it-IT" sz="1800" b="0" i="0" u="none" strike="noStrike" baseline="0" dirty="0">
                <a:highlight>
                  <a:srgbClr val="FFFF00"/>
                </a:highlight>
                <a:latin typeface="Times New Roman" panose="02020603050405020304" pitchFamily="18" charset="0"/>
                <a:cs typeface="Times New Roman" panose="02020603050405020304" pitchFamily="18" charset="0"/>
              </a:rPr>
              <a:t>a.j = a.i; </a:t>
            </a:r>
            <a:r>
              <a:rPr lang="it-IT" sz="1800" b="0" i="0" u="none" strike="noStrike" baseline="0" dirty="0">
                <a:latin typeface="Times New Roman" panose="02020603050405020304" pitchFamily="18" charset="0"/>
                <a:cs typeface="Times New Roman" panose="02020603050405020304" pitchFamily="18" charset="0"/>
              </a:rPr>
              <a:t>/* Non-compliant */</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C1BBF90-3F05-A906-FB57-FB82ECF90073}"/>
              </a:ext>
            </a:extLst>
          </p:cNvPr>
          <p:cNvSpPr txBox="1"/>
          <p:nvPr/>
        </p:nvSpPr>
        <p:spPr>
          <a:xfrm>
            <a:off x="4540779" y="3283565"/>
            <a:ext cx="6115664" cy="1200329"/>
          </a:xfrm>
          <a:prstGeom prst="rect">
            <a:avLst/>
          </a:prstGeom>
          <a:noFill/>
        </p:spPr>
        <p:txBody>
          <a:bodyPr wrap="square">
            <a:spAutoFit/>
          </a:bodyPr>
          <a:lstStyle/>
          <a:p>
            <a:r>
              <a:rPr lang="en-IN" dirty="0"/>
              <a:t>The use of union itself violates Rule 19.2.</a:t>
            </a:r>
          </a:p>
          <a:p>
            <a:r>
              <a:rPr lang="en-IN" dirty="0"/>
              <a:t>Assigning one member of the union (</a:t>
            </a:r>
            <a:r>
              <a:rPr lang="en-IN" dirty="0" err="1"/>
              <a:t>a.j</a:t>
            </a:r>
            <a:r>
              <a:rPr lang="en-IN" dirty="0"/>
              <a:t>) to another member (</a:t>
            </a:r>
            <a:r>
              <a:rPr lang="en-IN" dirty="0" err="1"/>
              <a:t>a.i</a:t>
            </a:r>
            <a:r>
              <a:rPr lang="en-IN" dirty="0"/>
              <a:t>) could cause undefined </a:t>
            </a:r>
            <a:r>
              <a:rPr lang="en-IN" dirty="0" err="1"/>
              <a:t>behavior</a:t>
            </a:r>
            <a:r>
              <a:rPr lang="en-IN" dirty="0"/>
              <a:t>, which violates Rule 18.2 as well.</a:t>
            </a:r>
          </a:p>
        </p:txBody>
      </p:sp>
    </p:spTree>
    <p:extLst>
      <p:ext uri="{BB962C8B-B14F-4D97-AF65-F5344CB8AC3E}">
        <p14:creationId xmlns:p14="http://schemas.microsoft.com/office/powerpoint/2010/main" val="1328505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20</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20</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Misra2012:Rule-19.2</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union keyword should not be used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294333" y="2426643"/>
            <a:ext cx="6115664" cy="2862322"/>
          </a:xfrm>
          <a:prstGeom prst="rect">
            <a:avLst/>
          </a:prstGeom>
          <a:noFill/>
        </p:spPr>
        <p:txBody>
          <a:bodyPr wrap="square">
            <a:spAutoFit/>
          </a:bodyPr>
          <a:lstStyle/>
          <a:p>
            <a:pPr algn="l"/>
            <a:r>
              <a:rPr lang="fr-FR" sz="1800" b="0" i="0" u="none" strike="noStrike" baseline="0" dirty="0">
                <a:latin typeface="Times New Roman" panose="02020603050405020304" pitchFamily="18" charset="0"/>
                <a:cs typeface="Times New Roman" panose="02020603050405020304" pitchFamily="18" charset="0"/>
              </a:rPr>
              <a:t>uint32_t </a:t>
            </a:r>
            <a:r>
              <a:rPr lang="fr-FR" sz="1800" b="0" i="0" u="none" strike="noStrike" baseline="0" dirty="0" err="1">
                <a:latin typeface="Times New Roman" panose="02020603050405020304" pitchFamily="18" charset="0"/>
                <a:cs typeface="Times New Roman" panose="02020603050405020304" pitchFamily="18" charset="0"/>
              </a:rPr>
              <a:t>zext</a:t>
            </a:r>
            <a:r>
              <a:rPr lang="fr-FR" sz="1800" b="0" i="0" u="none" strike="noStrike" baseline="0" dirty="0">
                <a:latin typeface="Times New Roman" panose="02020603050405020304" pitchFamily="18" charset="0"/>
                <a:cs typeface="Times New Roman" panose="02020603050405020304" pitchFamily="18" charset="0"/>
              </a:rPr>
              <a:t> ( uint16_t s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union</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uint32_t </a:t>
            </a:r>
            <a:r>
              <a:rPr lang="en-IN" sz="1800" b="0" i="0" u="none" strike="noStrike" baseline="0" dirty="0" err="1">
                <a:latin typeface="Times New Roman" panose="02020603050405020304" pitchFamily="18" charset="0"/>
                <a:cs typeface="Times New Roman" panose="02020603050405020304" pitchFamily="18" charset="0"/>
              </a:rPr>
              <a:t>ul</a:t>
            </a:r>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uint16_t us;</a:t>
            </a:r>
          </a:p>
          <a:p>
            <a:pPr algn="l"/>
            <a:r>
              <a:rPr lang="en-IN" sz="1800" b="0" i="0" u="none" strike="noStrike" baseline="0" dirty="0">
                <a:latin typeface="Times New Roman" panose="02020603050405020304" pitchFamily="18" charset="0"/>
                <a:cs typeface="Times New Roman" panose="02020603050405020304" pitchFamily="18" charset="0"/>
              </a:rPr>
              <a:t>} </a:t>
            </a:r>
            <a:r>
              <a:rPr lang="en-IN" sz="1800" b="0" i="0" u="none" strike="noStrike" baseline="0" dirty="0" err="1">
                <a:latin typeface="Times New Roman" panose="02020603050405020304" pitchFamily="18" charset="0"/>
                <a:cs typeface="Times New Roman" panose="02020603050405020304" pitchFamily="18" charset="0"/>
              </a:rPr>
              <a:t>tmp</a:t>
            </a:r>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tmp.us = s;</a:t>
            </a:r>
          </a:p>
          <a:p>
            <a:pPr algn="l"/>
            <a:r>
              <a:rPr lang="en-US" sz="1800" b="0" i="0" u="none" strike="noStrike" baseline="0" dirty="0">
                <a:latin typeface="Times New Roman" panose="02020603050405020304" pitchFamily="18" charset="0"/>
                <a:cs typeface="Times New Roman" panose="02020603050405020304" pitchFamily="18" charset="0"/>
              </a:rPr>
              <a:t>return </a:t>
            </a:r>
            <a:r>
              <a:rPr lang="en-US" sz="1800" b="0" i="0" u="none" strike="noStrike" baseline="0" dirty="0" err="1">
                <a:latin typeface="Times New Roman" panose="02020603050405020304" pitchFamily="18" charset="0"/>
                <a:cs typeface="Times New Roman" panose="02020603050405020304" pitchFamily="18" charset="0"/>
              </a:rPr>
              <a:t>tmp.ul</a:t>
            </a:r>
            <a:r>
              <a:rPr lang="en-US" sz="1800" b="0" i="0" u="none" strike="noStrike" baseline="0" dirty="0">
                <a:latin typeface="Times New Roman" panose="02020603050405020304" pitchFamily="18" charset="0"/>
                <a:cs typeface="Times New Roman" panose="02020603050405020304" pitchFamily="18" charset="0"/>
              </a:rPr>
              <a:t>; /* unspecified value */</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F21DAFE-CAC6-50CC-A36A-BBCBD57CB085}"/>
              </a:ext>
            </a:extLst>
          </p:cNvPr>
          <p:cNvSpPr txBox="1"/>
          <p:nvPr/>
        </p:nvSpPr>
        <p:spPr>
          <a:xfrm>
            <a:off x="1317824" y="5433020"/>
            <a:ext cx="6115664" cy="923330"/>
          </a:xfrm>
          <a:prstGeom prst="rect">
            <a:avLst/>
          </a:prstGeom>
          <a:noFill/>
        </p:spPr>
        <p:txBody>
          <a:bodyPr wrap="square">
            <a:spAutoFit/>
          </a:bodyPr>
          <a:lstStyle/>
          <a:p>
            <a:r>
              <a:rPr lang="en-IN" dirty="0"/>
              <a:t>In this non-compliant example, a 16-bit value is stored into a union but a 32-bit value is read back</a:t>
            </a:r>
          </a:p>
          <a:p>
            <a:r>
              <a:rPr lang="en-IN" dirty="0"/>
              <a:t>resulting in an unspecified value being return</a:t>
            </a:r>
          </a:p>
        </p:txBody>
      </p:sp>
    </p:spTree>
    <p:extLst>
      <p:ext uri="{BB962C8B-B14F-4D97-AF65-F5344CB8AC3E}">
        <p14:creationId xmlns:p14="http://schemas.microsoft.com/office/powerpoint/2010/main" val="694520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21</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21</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1</a:t>
            </a:r>
            <a:endPar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#include directives should only be preceded by preprocessor directives or comments</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4105927" y="2279218"/>
            <a:ext cx="6115664" cy="1754326"/>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 f1.c */</a:t>
            </a:r>
          </a:p>
          <a:p>
            <a:pPr algn="l"/>
            <a:r>
              <a:rPr lang="en-US" sz="1800" b="0" i="0" u="none" strike="noStrike" baseline="0" dirty="0">
                <a:latin typeface="Times New Roman" panose="02020603050405020304" pitchFamily="18" charset="0"/>
                <a:cs typeface="Times New Roman" panose="02020603050405020304" pitchFamily="18" charset="0"/>
              </a:rPr>
              <a:t>#define F1_MACRO</a:t>
            </a:r>
          </a:p>
          <a:p>
            <a:pPr algn="l"/>
            <a:r>
              <a:rPr lang="en-US" sz="1800" b="0" i="0" u="none" strike="noStrike" baseline="0" dirty="0">
                <a:latin typeface="Times New Roman" panose="02020603050405020304" pitchFamily="18" charset="0"/>
                <a:cs typeface="Times New Roman" panose="02020603050405020304" pitchFamily="18" charset="0"/>
              </a:rPr>
              <a:t>#include "f1.h" /* Compliant */</a:t>
            </a:r>
          </a:p>
          <a:p>
            <a:pPr algn="l"/>
            <a:r>
              <a:rPr lang="en-US" sz="1800" b="0" i="0" u="none" strike="noStrike" baseline="0" dirty="0">
                <a:latin typeface="Times New Roman" panose="02020603050405020304" pitchFamily="18" charset="0"/>
                <a:cs typeface="Times New Roman" panose="02020603050405020304" pitchFamily="18" charset="0"/>
              </a:rPr>
              <a:t>#include "f2.h" /* Compliant */</a:t>
            </a:r>
          </a:p>
          <a:p>
            <a:pPr algn="l"/>
            <a:r>
              <a:rPr lang="en-US" sz="1800" b="0" i="0" u="none" strike="noStrike" baseline="0" dirty="0">
                <a:latin typeface="Times New Roman" panose="02020603050405020304" pitchFamily="18" charset="0"/>
                <a:cs typeface="Times New Roman" panose="02020603050405020304" pitchFamily="18" charset="0"/>
              </a:rPr>
              <a:t>int32_t i = 0;</a:t>
            </a:r>
          </a:p>
          <a:p>
            <a:pPr algn="l"/>
            <a:endParaRPr lang="en-US" sz="1800" b="0" i="0" u="none" strike="noStrike" baseline="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603B7D9-3C79-B515-86DB-14D77189F659}"/>
              </a:ext>
            </a:extLst>
          </p:cNvPr>
          <p:cNvSpPr txBox="1"/>
          <p:nvPr/>
        </p:nvSpPr>
        <p:spPr>
          <a:xfrm>
            <a:off x="1309454" y="2485392"/>
            <a:ext cx="2701527" cy="1754326"/>
          </a:xfrm>
          <a:prstGeom prst="rect">
            <a:avLst/>
          </a:prstGeom>
          <a:noFill/>
        </p:spPr>
        <p:txBody>
          <a:bodyPr wrap="square">
            <a:spAutoFit/>
          </a:bodyPr>
          <a:lstStyle/>
          <a:p>
            <a:r>
              <a:rPr lang="fr-FR" dirty="0"/>
              <a:t>/* </a:t>
            </a:r>
            <a:r>
              <a:rPr lang="fr-FR" dirty="0" err="1"/>
              <a:t>f.h</a:t>
            </a:r>
            <a:r>
              <a:rPr lang="fr-FR" dirty="0"/>
              <a:t> */ </a:t>
            </a:r>
          </a:p>
          <a:p>
            <a:r>
              <a:rPr lang="fr-FR" dirty="0" err="1"/>
              <a:t>xyz</a:t>
            </a:r>
            <a:r>
              <a:rPr lang="fr-FR" dirty="0"/>
              <a:t> = 0; </a:t>
            </a:r>
          </a:p>
          <a:p>
            <a:r>
              <a:rPr lang="fr-FR" dirty="0"/>
              <a:t>/* </a:t>
            </a:r>
            <a:r>
              <a:rPr lang="fr-FR" dirty="0" err="1"/>
              <a:t>f.c</a:t>
            </a:r>
            <a:r>
              <a:rPr lang="fr-FR" dirty="0"/>
              <a:t> */ </a:t>
            </a:r>
          </a:p>
          <a:p>
            <a:r>
              <a:rPr lang="fr-FR" dirty="0"/>
              <a:t> </a:t>
            </a:r>
            <a:r>
              <a:rPr lang="fr-FR" dirty="0">
                <a:highlight>
                  <a:srgbClr val="FFFF00"/>
                </a:highlight>
              </a:rPr>
              <a:t>int16_t </a:t>
            </a:r>
          </a:p>
          <a:p>
            <a:r>
              <a:rPr lang="fr-FR" dirty="0"/>
              <a:t>#include "</a:t>
            </a:r>
            <a:r>
              <a:rPr lang="fr-FR" dirty="0" err="1"/>
              <a:t>f.h</a:t>
            </a:r>
            <a:r>
              <a:rPr lang="fr-FR" dirty="0"/>
              <a:t> </a:t>
            </a:r>
            <a:r>
              <a:rPr lang="en-US" sz="1800" b="0" i="0" u="none" strike="noStrike" baseline="0" dirty="0">
                <a:latin typeface="Times New Roman" panose="02020603050405020304" pitchFamily="18" charset="0"/>
                <a:cs typeface="Times New Roman" panose="02020603050405020304" pitchFamily="18" charset="0"/>
              </a:rPr>
              <a:t>"</a:t>
            </a:r>
            <a:endParaRPr lang="fr-FR" dirty="0"/>
          </a:p>
          <a:p>
            <a:r>
              <a:rPr lang="fr-FR" dirty="0"/>
              <a:t> /* Non-compliant */</a:t>
            </a:r>
            <a:endParaRPr lang="en-IN" dirty="0"/>
          </a:p>
        </p:txBody>
      </p:sp>
      <p:sp>
        <p:nvSpPr>
          <p:cNvPr id="36" name="TextBox 35">
            <a:extLst>
              <a:ext uri="{FF2B5EF4-FFF2-40B4-BE49-F238E27FC236}">
                <a16:creationId xmlns:a16="http://schemas.microsoft.com/office/drawing/2014/main" id="{10D83140-402A-9654-D538-F3739CEDC9AE}"/>
              </a:ext>
            </a:extLst>
          </p:cNvPr>
          <p:cNvSpPr txBox="1"/>
          <p:nvPr/>
        </p:nvSpPr>
        <p:spPr>
          <a:xfrm>
            <a:off x="1318129" y="4337421"/>
            <a:ext cx="6115664" cy="923330"/>
          </a:xfrm>
          <a:prstGeom prst="rect">
            <a:avLst/>
          </a:prstGeom>
          <a:noFill/>
        </p:spPr>
        <p:txBody>
          <a:bodyPr wrap="square">
            <a:spAutoFit/>
          </a:bodyPr>
          <a:lstStyle/>
          <a:p>
            <a:pPr algn="l"/>
            <a:r>
              <a:rPr lang="en-US" sz="1800" b="0" i="0" u="none" strike="noStrike" baseline="0" dirty="0">
                <a:latin typeface="OpenSans-Light"/>
              </a:rPr>
              <a:t>To aid code readability, all the </a:t>
            </a:r>
            <a:r>
              <a:rPr lang="en-US" sz="1800" b="0" i="1" u="none" strike="noStrike" baseline="0" dirty="0">
                <a:latin typeface="OpenSansLight-Italic"/>
              </a:rPr>
              <a:t>#include </a:t>
            </a:r>
            <a:r>
              <a:rPr lang="en-US" sz="1800" b="0" i="0" u="none" strike="noStrike" baseline="0" dirty="0">
                <a:latin typeface="OpenSans-Light"/>
              </a:rPr>
              <a:t>directives in a particular code file should be grouped together</a:t>
            </a:r>
          </a:p>
          <a:p>
            <a:pPr algn="l"/>
            <a:r>
              <a:rPr lang="en-US" sz="1800" b="0" i="0" u="none" strike="noStrike" baseline="0" dirty="0">
                <a:latin typeface="OpenSans-Light"/>
              </a:rPr>
              <a:t>near the top of the file.</a:t>
            </a:r>
            <a:endParaRPr lang="en-IN" dirty="0"/>
          </a:p>
        </p:txBody>
      </p:sp>
    </p:spTree>
    <p:extLst>
      <p:ext uri="{BB962C8B-B14F-4D97-AF65-F5344CB8AC3E}">
        <p14:creationId xmlns:p14="http://schemas.microsoft.com/office/powerpoint/2010/main" val="3496222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22</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22</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Misra2012:Rule-20.2</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 The ', " or \ characters and the /* or // character sequences shall not occur in a header file name</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3603B7D9-3C79-B515-86DB-14D77189F659}"/>
              </a:ext>
            </a:extLst>
          </p:cNvPr>
          <p:cNvSpPr txBox="1"/>
          <p:nvPr/>
        </p:nvSpPr>
        <p:spPr>
          <a:xfrm>
            <a:off x="1309454" y="2485392"/>
            <a:ext cx="2701527" cy="646331"/>
          </a:xfrm>
          <a:prstGeom prst="rect">
            <a:avLst/>
          </a:prstGeom>
          <a:noFill/>
        </p:spPr>
        <p:txBody>
          <a:bodyPr wrap="square">
            <a:spAutoFit/>
          </a:bodyPr>
          <a:lstStyle/>
          <a:p>
            <a:r>
              <a:rPr lang="en-IN" sz="1800" b="0" i="0" u="none" strike="noStrike" baseline="0" dirty="0">
                <a:latin typeface="Times New Roman" panose="02020603050405020304" pitchFamily="18" charset="0"/>
                <a:cs typeface="Times New Roman" panose="02020603050405020304" pitchFamily="18" charset="0"/>
              </a:rPr>
              <a:t>#include "</a:t>
            </a:r>
            <a:r>
              <a:rPr lang="en-IN" sz="1800" b="0" i="0" u="none" strike="noStrike" baseline="0" dirty="0" err="1">
                <a:latin typeface="Times New Roman" panose="02020603050405020304" pitchFamily="18" charset="0"/>
                <a:cs typeface="Times New Roman" panose="02020603050405020304" pitchFamily="18" charset="0"/>
              </a:rPr>
              <a:t>fi'le.h</a:t>
            </a:r>
            <a:r>
              <a:rPr lang="en-IN" sz="1800" b="0" i="0" u="none" strike="noStrike" baseline="0" dirty="0">
                <a:latin typeface="Times New Roman" panose="02020603050405020304" pitchFamily="18" charset="0"/>
                <a:cs typeface="Times New Roman" panose="02020603050405020304" pitchFamily="18" charset="0"/>
              </a:rPr>
              <a:t>“</a:t>
            </a:r>
          </a:p>
          <a:p>
            <a:r>
              <a:rPr lang="en-IN" sz="1800" b="0" i="0" u="none" strike="noStrike" baseline="0" dirty="0">
                <a:latin typeface="Times New Roman" panose="02020603050405020304" pitchFamily="18" charset="0"/>
                <a:cs typeface="Times New Roman" panose="02020603050405020304" pitchFamily="18" charset="0"/>
              </a:rPr>
              <a:t> /* Non-compliant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5662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23</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23</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Misra2012:Rule-20.3</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#include directive shall be followed by either a or "filename" sequence</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3603B7D9-3C79-B515-86DB-14D77189F659}"/>
              </a:ext>
            </a:extLst>
          </p:cNvPr>
          <p:cNvSpPr txBox="1"/>
          <p:nvPr/>
        </p:nvSpPr>
        <p:spPr>
          <a:xfrm>
            <a:off x="1309454" y="2485392"/>
            <a:ext cx="2701527" cy="2585323"/>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#include "</a:t>
            </a:r>
            <a:r>
              <a:rPr lang="en-IN" sz="1800" b="0" i="0" u="none" strike="noStrike" baseline="0" dirty="0" err="1">
                <a:latin typeface="Times New Roman" panose="02020603050405020304" pitchFamily="18" charset="0"/>
                <a:cs typeface="Times New Roman" panose="02020603050405020304" pitchFamily="18" charset="0"/>
              </a:rPr>
              <a:t>filename.h</a:t>
            </a:r>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 /* Compliant */</a:t>
            </a:r>
          </a:p>
          <a:p>
            <a:pPr algn="l"/>
            <a:r>
              <a:rPr lang="en-IN" sz="1800" b="0" i="0" u="none" strike="noStrike" baseline="0" dirty="0">
                <a:latin typeface="Times New Roman" panose="02020603050405020304" pitchFamily="18" charset="0"/>
                <a:cs typeface="Times New Roman" panose="02020603050405020304" pitchFamily="18" charset="0"/>
              </a:rPr>
              <a:t>#include &lt;</a:t>
            </a:r>
            <a:r>
              <a:rPr lang="en-IN" sz="1800" b="0" i="0" u="none" strike="noStrike" baseline="0" dirty="0" err="1">
                <a:latin typeface="Times New Roman" panose="02020603050405020304" pitchFamily="18" charset="0"/>
                <a:cs typeface="Times New Roman" panose="02020603050405020304" pitchFamily="18" charset="0"/>
              </a:rPr>
              <a:t>filename.h</a:t>
            </a:r>
            <a:r>
              <a:rPr lang="en-IN" sz="1800" b="0" i="0" u="none" strike="noStrike" baseline="0" dirty="0">
                <a:latin typeface="Times New Roman" panose="02020603050405020304" pitchFamily="18" charset="0"/>
                <a:cs typeface="Times New Roman" panose="02020603050405020304" pitchFamily="18" charset="0"/>
              </a:rPr>
              <a:t>&gt;</a:t>
            </a:r>
          </a:p>
          <a:p>
            <a:pPr algn="l"/>
            <a:r>
              <a:rPr lang="en-IN" sz="1800" b="0" i="0" u="none" strike="noStrike" baseline="0" dirty="0">
                <a:latin typeface="Times New Roman" panose="02020603050405020304" pitchFamily="18" charset="0"/>
                <a:cs typeface="Times New Roman" panose="02020603050405020304" pitchFamily="18" charset="0"/>
              </a:rPr>
              <a:t> /* Compliant */</a:t>
            </a:r>
          </a:p>
          <a:p>
            <a:pPr algn="l"/>
            <a:endParaRPr lang="en-IN" sz="1800" b="0" i="0" u="none" strike="noStrike" baseline="0"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endParaRPr lang="en-IN" sz="1800" b="0" i="0" u="none" strike="noStrike" baseline="0" dirty="0">
              <a:latin typeface="Times New Roman" panose="02020603050405020304" pitchFamily="18" charset="0"/>
              <a:cs typeface="Times New Roman" panose="02020603050405020304" pitchFamily="18" charset="0"/>
            </a:endParaRPr>
          </a:p>
          <a:p>
            <a:pPr algn="l"/>
            <a:r>
              <a:rPr lang="en-IN" sz="1800" b="0" i="0" u="none" strike="noStrike" baseline="0" dirty="0">
                <a:latin typeface="Times New Roman" panose="02020603050405020304" pitchFamily="18" charset="0"/>
                <a:cs typeface="Times New Roman" panose="02020603050405020304" pitchFamily="18" charset="0"/>
              </a:rPr>
              <a:t>#include </a:t>
            </a:r>
            <a:r>
              <a:rPr lang="en-IN" sz="1800" b="0" i="0" u="none" strike="noStrike" baseline="0" dirty="0" err="1">
                <a:latin typeface="Times New Roman" panose="02020603050405020304" pitchFamily="18" charset="0"/>
                <a:cs typeface="Times New Roman" panose="02020603050405020304" pitchFamily="18" charset="0"/>
              </a:rPr>
              <a:t>another.h</a:t>
            </a:r>
            <a:r>
              <a:rPr lang="en-IN" sz="1800" b="0" i="0" u="none" strike="noStrike" baseline="0" dirty="0">
                <a:latin typeface="Times New Roman" panose="02020603050405020304" pitchFamily="18" charset="0"/>
                <a:cs typeface="Times New Roman" panose="02020603050405020304" pitchFamily="18" charset="0"/>
              </a:rPr>
              <a:t> </a:t>
            </a:r>
          </a:p>
          <a:p>
            <a:pPr algn="l"/>
            <a:r>
              <a:rPr lang="en-IN" sz="1800" b="0" i="0" u="none" strike="noStrike" baseline="0" dirty="0">
                <a:latin typeface="Times New Roman" panose="02020603050405020304" pitchFamily="18" charset="0"/>
                <a:cs typeface="Times New Roman" panose="02020603050405020304" pitchFamily="18" charset="0"/>
              </a:rPr>
              <a:t>/* Non-compliant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7370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24</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24</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Misra2012:Rule-20.4</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 macro shall not be defined with the same name as a keyword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3603B7D9-3C79-B515-86DB-14D77189F659}"/>
              </a:ext>
            </a:extLst>
          </p:cNvPr>
          <p:cNvSpPr txBox="1"/>
          <p:nvPr/>
        </p:nvSpPr>
        <p:spPr>
          <a:xfrm>
            <a:off x="1309454" y="2485392"/>
            <a:ext cx="9072796" cy="923330"/>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#define </a:t>
            </a:r>
            <a:r>
              <a:rPr lang="en-US" sz="1800" b="1" i="0" u="none" strike="noStrike" baseline="0" dirty="0">
                <a:latin typeface="Times New Roman" panose="02020603050405020304" pitchFamily="18" charset="0"/>
                <a:cs typeface="Times New Roman" panose="02020603050405020304" pitchFamily="18" charset="0"/>
              </a:rPr>
              <a:t>int</a:t>
            </a:r>
            <a:r>
              <a:rPr lang="en-US" sz="1800" b="0" i="0" u="none" strike="noStrike" baseline="0" dirty="0">
                <a:latin typeface="Times New Roman" panose="02020603050405020304" pitchFamily="18" charset="0"/>
                <a:cs typeface="Times New Roman" panose="02020603050405020304" pitchFamily="18" charset="0"/>
              </a:rPr>
              <a:t> long /* Non-compliant */</a:t>
            </a:r>
          </a:p>
          <a:p>
            <a:pPr algn="l"/>
            <a:r>
              <a:rPr lang="en-US" sz="1800" b="0" i="0" u="none" strike="noStrike" baseline="0" dirty="0">
                <a:latin typeface="Times New Roman" panose="02020603050405020304" pitchFamily="18" charset="0"/>
                <a:cs typeface="Times New Roman" panose="02020603050405020304" pitchFamily="18" charset="0"/>
              </a:rPr>
              <a:t>In this example, int is a keyword in C, and defining a macro with this name is non-compliant with Rule 20.4.</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6312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25</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25</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Misra2012:Rule-20.5</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#undef should not be used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3603B7D9-3C79-B515-86DB-14D77189F659}"/>
              </a:ext>
            </a:extLst>
          </p:cNvPr>
          <p:cNvSpPr txBox="1"/>
          <p:nvPr/>
        </p:nvSpPr>
        <p:spPr>
          <a:xfrm>
            <a:off x="1309454" y="2485392"/>
            <a:ext cx="9072796" cy="2585323"/>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#define QUALIFIER volatile</a:t>
            </a:r>
          </a:p>
          <a:p>
            <a:pPr algn="l"/>
            <a:r>
              <a:rPr lang="en-IN" sz="1800" b="1" i="0" u="none" strike="noStrike" baseline="0" dirty="0">
                <a:highlight>
                  <a:srgbClr val="FFFF00"/>
                </a:highlight>
                <a:latin typeface="Times New Roman" panose="02020603050405020304" pitchFamily="18" charset="0"/>
                <a:cs typeface="Times New Roman" panose="02020603050405020304" pitchFamily="18" charset="0"/>
              </a:rPr>
              <a:t>#undef QUALIFIER /* Non-compliant */</a:t>
            </a:r>
          </a:p>
          <a:p>
            <a:pPr algn="l"/>
            <a:r>
              <a:rPr lang="fr-FR" sz="1800" b="0" i="0" u="none" strike="noStrike" baseline="0" dirty="0" err="1">
                <a:latin typeface="Times New Roman" panose="02020603050405020304" pitchFamily="18" charset="0"/>
                <a:cs typeface="Times New Roman" panose="02020603050405020304" pitchFamily="18" charset="0"/>
              </a:rPr>
              <a:t>void</a:t>
            </a:r>
            <a:r>
              <a:rPr lang="fr-FR" sz="1800" b="0" i="0" u="none" strike="noStrike" baseline="0" dirty="0">
                <a:latin typeface="Times New Roman" panose="02020603050405020304" pitchFamily="18" charset="0"/>
                <a:cs typeface="Times New Roman" panose="02020603050405020304" pitchFamily="18" charset="0"/>
              </a:rPr>
              <a:t> f ( QUALIFIER int32_t p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while ( p != 0 )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 /* Wait...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495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26</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26</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Misra2012:Rule-20.6</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Tokens that look like a preprocessing directive shall not occur within a macro argument</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3603B7D9-3C79-B515-86DB-14D77189F659}"/>
              </a:ext>
            </a:extLst>
          </p:cNvPr>
          <p:cNvSpPr txBox="1"/>
          <p:nvPr/>
        </p:nvSpPr>
        <p:spPr>
          <a:xfrm>
            <a:off x="1309454" y="2485392"/>
            <a:ext cx="9072796" cy="3416320"/>
          </a:xfrm>
          <a:prstGeom prst="rect">
            <a:avLst/>
          </a:prstGeom>
          <a:noFill/>
        </p:spPr>
        <p:txBody>
          <a:bodyPr wrap="square">
            <a:spAutoFit/>
          </a:bodyPr>
          <a:lstStyle/>
          <a:p>
            <a:pPr algn="l"/>
            <a:r>
              <a:rPr lang="it-IT" sz="1800" b="0" i="0" u="none" strike="noStrike" baseline="0" dirty="0">
                <a:latin typeface="Times New Roman" panose="02020603050405020304" pitchFamily="18" charset="0"/>
                <a:cs typeface="Times New Roman" panose="02020603050405020304" pitchFamily="18" charset="0"/>
              </a:rPr>
              <a:t>#define M( A ) printf ( #A )</a:t>
            </a:r>
          </a:p>
          <a:p>
            <a:pPr algn="l"/>
            <a:r>
              <a:rPr lang="en-IN" sz="1800" b="0" i="0" u="none" strike="noStrike" baseline="0" dirty="0">
                <a:latin typeface="Times New Roman" panose="02020603050405020304" pitchFamily="18" charset="0"/>
                <a:cs typeface="Times New Roman" panose="02020603050405020304" pitchFamily="18" charset="0"/>
              </a:rPr>
              <a:t>#include &lt;</a:t>
            </a:r>
            <a:r>
              <a:rPr lang="en-IN" sz="1800" b="0" i="0" u="none" strike="noStrike" baseline="0" dirty="0" err="1">
                <a:latin typeface="Times New Roman" panose="02020603050405020304" pitchFamily="18" charset="0"/>
                <a:cs typeface="Times New Roman" panose="02020603050405020304" pitchFamily="18" charset="0"/>
              </a:rPr>
              <a:t>stdio.h</a:t>
            </a:r>
            <a:r>
              <a:rPr lang="en-IN" sz="1800" b="0" i="0" u="none" strike="noStrike" baseline="0" dirty="0">
                <a:latin typeface="Times New Roman" panose="02020603050405020304" pitchFamily="18" charset="0"/>
                <a:cs typeface="Times New Roman" panose="02020603050405020304" pitchFamily="18" charset="0"/>
              </a:rPr>
              <a:t>&gt;</a:t>
            </a:r>
          </a:p>
          <a:p>
            <a:pPr algn="l"/>
            <a:r>
              <a:rPr lang="en-IN" sz="1800" b="0" i="0" u="none" strike="noStrike" baseline="0" dirty="0">
                <a:latin typeface="Times New Roman" panose="02020603050405020304" pitchFamily="18" charset="0"/>
                <a:cs typeface="Times New Roman" panose="02020603050405020304" pitchFamily="18" charset="0"/>
              </a:rPr>
              <a:t>void main ( void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M (</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#ifdef </a:t>
            </a:r>
            <a:r>
              <a:rPr lang="en-IN" sz="1800" b="0" i="0" u="none" strike="noStrike" baseline="0" dirty="0">
                <a:latin typeface="Times New Roman" panose="02020603050405020304" pitchFamily="18" charset="0"/>
                <a:cs typeface="Times New Roman" panose="02020603050405020304" pitchFamily="18" charset="0"/>
              </a:rPr>
              <a:t>SW /* Non-compliant */</a:t>
            </a:r>
          </a:p>
          <a:p>
            <a:pPr algn="l"/>
            <a:r>
              <a:rPr lang="en-IN" sz="1800" b="0" i="0" u="none" strike="noStrike" baseline="0" dirty="0">
                <a:latin typeface="Times New Roman" panose="02020603050405020304" pitchFamily="18" charset="0"/>
                <a:cs typeface="Times New Roman" panose="02020603050405020304" pitchFamily="18" charset="0"/>
              </a:rPr>
              <a:t>"Message 1"</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#else </a:t>
            </a:r>
            <a:r>
              <a:rPr lang="en-IN" sz="1800" b="0" i="0" u="none" strike="noStrike" baseline="0" dirty="0">
                <a:latin typeface="Times New Roman" panose="02020603050405020304" pitchFamily="18" charset="0"/>
                <a:cs typeface="Times New Roman" panose="02020603050405020304" pitchFamily="18" charset="0"/>
              </a:rPr>
              <a:t>/* Non-compliant */</a:t>
            </a:r>
          </a:p>
          <a:p>
            <a:pPr algn="l"/>
            <a:r>
              <a:rPr lang="en-IN" sz="1800" b="0" i="0" u="none" strike="noStrike" baseline="0" dirty="0">
                <a:latin typeface="Times New Roman" panose="02020603050405020304" pitchFamily="18" charset="0"/>
                <a:cs typeface="Times New Roman" panose="02020603050405020304" pitchFamily="18" charset="0"/>
              </a:rPr>
              <a:t>"Message 2"</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#endif</a:t>
            </a:r>
            <a:r>
              <a:rPr lang="en-IN" sz="1800" b="0" i="0" u="none" strike="noStrike" baseline="0" dirty="0">
                <a:latin typeface="Times New Roman" panose="02020603050405020304" pitchFamily="18" charset="0"/>
                <a:cs typeface="Times New Roman" panose="02020603050405020304" pitchFamily="18" charset="0"/>
              </a:rPr>
              <a:t> /* Non-compliant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3942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27</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27</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Misra2012:Rule-20.7</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Expressions resulting from the expansion of macro parameters shall be enclosed in parentheses</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385D7CED-D146-EF86-010A-28570F06C5CB}"/>
              </a:ext>
            </a:extLst>
          </p:cNvPr>
          <p:cNvSpPr txBox="1"/>
          <p:nvPr/>
        </p:nvSpPr>
        <p:spPr>
          <a:xfrm>
            <a:off x="1318129" y="2598584"/>
            <a:ext cx="6115664" cy="369332"/>
          </a:xfrm>
          <a:prstGeom prst="rect">
            <a:avLst/>
          </a:prstGeom>
          <a:noFill/>
        </p:spPr>
        <p:txBody>
          <a:bodyPr wrap="square">
            <a:spAutoFit/>
          </a:bodyPr>
          <a:lstStyle/>
          <a:p>
            <a:r>
              <a:rPr lang="en-IN" dirty="0"/>
              <a:t>#define SQUARE(x) </a:t>
            </a:r>
            <a:r>
              <a:rPr lang="en-IN" dirty="0">
                <a:highlight>
                  <a:srgbClr val="FFFF00"/>
                </a:highlight>
              </a:rPr>
              <a:t>(</a:t>
            </a:r>
            <a:r>
              <a:rPr lang="en-IN" dirty="0"/>
              <a:t>(x) * (x)</a:t>
            </a:r>
            <a:r>
              <a:rPr lang="en-IN" dirty="0">
                <a:highlight>
                  <a:srgbClr val="FFFF00"/>
                </a:highlight>
              </a:rPr>
              <a:t>)</a:t>
            </a:r>
            <a:r>
              <a:rPr lang="en-IN" dirty="0"/>
              <a:t> /* Compliant */</a:t>
            </a:r>
          </a:p>
        </p:txBody>
      </p:sp>
      <p:sp>
        <p:nvSpPr>
          <p:cNvPr id="13" name="TextBox 12">
            <a:extLst>
              <a:ext uri="{FF2B5EF4-FFF2-40B4-BE49-F238E27FC236}">
                <a16:creationId xmlns:a16="http://schemas.microsoft.com/office/drawing/2014/main" id="{B867F31A-695A-0592-A862-031ABE8A51BC}"/>
              </a:ext>
            </a:extLst>
          </p:cNvPr>
          <p:cNvSpPr txBox="1"/>
          <p:nvPr/>
        </p:nvSpPr>
        <p:spPr>
          <a:xfrm>
            <a:off x="2359135" y="3074079"/>
            <a:ext cx="6115664" cy="369332"/>
          </a:xfrm>
          <a:prstGeom prst="rect">
            <a:avLst/>
          </a:prstGeom>
          <a:noFill/>
        </p:spPr>
        <p:txBody>
          <a:bodyPr wrap="square">
            <a:spAutoFit/>
          </a:bodyPr>
          <a:lstStyle/>
          <a:p>
            <a:r>
              <a:rPr lang="en-IN" dirty="0"/>
              <a:t>#define SQUARE(x) x * x /* Non-compliant */</a:t>
            </a:r>
          </a:p>
        </p:txBody>
      </p:sp>
    </p:spTree>
    <p:extLst>
      <p:ext uri="{BB962C8B-B14F-4D97-AF65-F5344CB8AC3E}">
        <p14:creationId xmlns:p14="http://schemas.microsoft.com/office/powerpoint/2010/main" val="702409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28</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28</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Misra2012:Rule-20.8</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controlling expression of a #if or #elif preprocessing directive shall evaluate to 0 or 1</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6" name="TextBox 35">
            <a:extLst>
              <a:ext uri="{FF2B5EF4-FFF2-40B4-BE49-F238E27FC236}">
                <a16:creationId xmlns:a16="http://schemas.microsoft.com/office/drawing/2014/main" id="{2D0BC432-1452-5FAB-A2FF-78CA6D6D0AD1}"/>
              </a:ext>
            </a:extLst>
          </p:cNvPr>
          <p:cNvSpPr txBox="1"/>
          <p:nvPr/>
        </p:nvSpPr>
        <p:spPr>
          <a:xfrm>
            <a:off x="1106808" y="2566823"/>
            <a:ext cx="6115664" cy="2308324"/>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#define FALSE 0</a:t>
            </a:r>
          </a:p>
          <a:p>
            <a:pPr algn="l"/>
            <a:r>
              <a:rPr lang="en-IN" sz="1800" b="0" i="0" u="none" strike="noStrike" baseline="0" dirty="0">
                <a:latin typeface="Times New Roman" panose="02020603050405020304" pitchFamily="18" charset="0"/>
                <a:cs typeface="Times New Roman" panose="02020603050405020304" pitchFamily="18" charset="0"/>
              </a:rPr>
              <a:t>#define TRUE 1</a:t>
            </a:r>
          </a:p>
          <a:p>
            <a:pPr algn="l"/>
            <a:r>
              <a:rPr lang="en-IN" sz="1800" b="0" i="0" u="none" strike="noStrike" baseline="0" dirty="0">
                <a:latin typeface="Times New Roman" panose="02020603050405020304" pitchFamily="18" charset="0"/>
                <a:cs typeface="Times New Roman" panose="02020603050405020304" pitchFamily="18" charset="0"/>
              </a:rPr>
              <a:t>#if FALSE /* Compliant */</a:t>
            </a:r>
          </a:p>
          <a:p>
            <a:pPr algn="l"/>
            <a:r>
              <a:rPr lang="en-IN" sz="1800" b="0" i="0" u="none" strike="noStrike" baseline="0" dirty="0">
                <a:latin typeface="Times New Roman" panose="02020603050405020304" pitchFamily="18" charset="0"/>
                <a:cs typeface="Times New Roman" panose="02020603050405020304" pitchFamily="18" charset="0"/>
              </a:rPr>
              <a:t>#endif</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#if 10 /* Non-compliant */</a:t>
            </a:r>
          </a:p>
          <a:p>
            <a:pPr algn="l"/>
            <a:r>
              <a:rPr lang="en-IN" sz="1800" b="0" i="0" u="none" strike="noStrike" baseline="0" dirty="0">
                <a:latin typeface="Times New Roman" panose="02020603050405020304" pitchFamily="18" charset="0"/>
                <a:cs typeface="Times New Roman" panose="02020603050405020304" pitchFamily="18" charset="0"/>
              </a:rPr>
              <a:t>#endif</a:t>
            </a:r>
            <a:r>
              <a:rPr lang="en-US" sz="1800" b="0" i="0" u="none" strike="noStrike" baseline="0" dirty="0">
                <a:latin typeface="CourierNewPSMT"/>
              </a:rPr>
              <a:t> </a:t>
            </a:r>
          </a:p>
          <a:p>
            <a:pPr algn="l"/>
            <a:r>
              <a:rPr lang="en-US" sz="1800" b="0" i="0" u="none" strike="noStrike" baseline="0" dirty="0">
                <a:latin typeface="Times New Roman" panose="02020603050405020304" pitchFamily="18" charset="0"/>
                <a:cs typeface="Times New Roman" panose="02020603050405020304" pitchFamily="18" charset="0"/>
              </a:rPr>
              <a:t>#if A &gt; B /* Compliant assuming A and B are numeric */</a:t>
            </a:r>
          </a:p>
          <a:p>
            <a:pPr algn="l"/>
            <a:r>
              <a:rPr lang="en-IN" sz="1800" b="0" i="0" u="none" strike="noStrike" baseline="0" dirty="0">
                <a:latin typeface="Times New Roman" panose="02020603050405020304" pitchFamily="18" charset="0"/>
                <a:cs typeface="Times New Roman" panose="02020603050405020304" pitchFamily="18" charset="0"/>
              </a:rPr>
              <a:t>#endif</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988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29</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29</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Misra2012:Rule-20.9</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All identifiers used in the controlling expression of #if or #elif preprocessing directives shall be #define'd before evaluation</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47030" y="1896654"/>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147030" y="2245602"/>
            <a:ext cx="1046338" cy="369332"/>
          </a:xfrm>
          <a:prstGeom prst="rect">
            <a:avLst/>
          </a:prstGeom>
          <a:noFill/>
        </p:spPr>
        <p:txBody>
          <a:bodyPr wrap="square">
            <a:spAutoFit/>
          </a:bodyPr>
          <a:lstStyle/>
          <a:p>
            <a:pPr algn="l"/>
            <a:r>
              <a:rPr lang="en-IN" dirty="0">
                <a:highlight>
                  <a:srgbClr val="FFFF00"/>
                </a:highlight>
              </a:rPr>
              <a:t>Example</a:t>
            </a:r>
          </a:p>
        </p:txBody>
      </p:sp>
      <p:sp>
        <p:nvSpPr>
          <p:cNvPr id="36" name="TextBox 35">
            <a:extLst>
              <a:ext uri="{FF2B5EF4-FFF2-40B4-BE49-F238E27FC236}">
                <a16:creationId xmlns:a16="http://schemas.microsoft.com/office/drawing/2014/main" id="{2D0BC432-1452-5FAB-A2FF-78CA6D6D0AD1}"/>
              </a:ext>
            </a:extLst>
          </p:cNvPr>
          <p:cNvSpPr txBox="1"/>
          <p:nvPr/>
        </p:nvSpPr>
        <p:spPr>
          <a:xfrm>
            <a:off x="1106808" y="2566823"/>
            <a:ext cx="9065550" cy="2031325"/>
          </a:xfrm>
          <a:prstGeom prst="rect">
            <a:avLst/>
          </a:prstGeom>
          <a:noFill/>
        </p:spPr>
        <p:txBody>
          <a:bodyPr wrap="square">
            <a:spAutoFit/>
          </a:bodyPr>
          <a:lstStyle/>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#if M == 0 /* Non-compliant */</a:t>
            </a:r>
          </a:p>
          <a:p>
            <a:pPr algn="l"/>
            <a:r>
              <a:rPr lang="en-US" sz="1800" b="0" i="0" u="none" strike="noStrike" baseline="0" dirty="0">
                <a:latin typeface="Times New Roman" panose="02020603050405020304" pitchFamily="18" charset="0"/>
                <a:cs typeface="Times New Roman" panose="02020603050405020304" pitchFamily="18" charset="0"/>
              </a:rPr>
              <a:t>/* Does 'M' expand to zero or is it undefined? */</a:t>
            </a:r>
          </a:p>
          <a:p>
            <a:pPr algn="l"/>
            <a:r>
              <a:rPr lang="en-IN" sz="1800" b="0" i="0" u="none" strike="noStrike" baseline="0" dirty="0">
                <a:latin typeface="Times New Roman" panose="02020603050405020304" pitchFamily="18" charset="0"/>
                <a:cs typeface="Times New Roman" panose="02020603050405020304" pitchFamily="18" charset="0"/>
              </a:rPr>
              <a:t>#endif</a:t>
            </a:r>
          </a:p>
          <a:p>
            <a:pPr algn="l"/>
            <a:r>
              <a:rPr lang="en-US" sz="1800" b="0" i="0" u="none" strike="noStrike" baseline="0" dirty="0">
                <a:latin typeface="Times New Roman" panose="02020603050405020304" pitchFamily="18" charset="0"/>
                <a:cs typeface="Times New Roman" panose="02020603050405020304" pitchFamily="18" charset="0"/>
              </a:rPr>
              <a:t>#if defined ( M ) /* Compliant - M is not evaluated */</a:t>
            </a:r>
          </a:p>
          <a:p>
            <a:pPr algn="l"/>
            <a:r>
              <a:rPr lang="en-US" sz="1800" b="0" i="0" u="none" strike="noStrike" baseline="0" dirty="0">
                <a:latin typeface="Times New Roman" panose="02020603050405020304" pitchFamily="18" charset="0"/>
                <a:cs typeface="Times New Roman" panose="02020603050405020304" pitchFamily="18" charset="0"/>
              </a:rPr>
              <a:t>#if M == 0 /* Compliant - M is known to be defined */</a:t>
            </a:r>
          </a:p>
          <a:p>
            <a:pPr algn="l"/>
            <a:r>
              <a:rPr lang="en-US" sz="1800" b="0" i="0" u="none" strike="noStrike" baseline="0" dirty="0">
                <a:latin typeface="Times New Roman" panose="02020603050405020304" pitchFamily="18" charset="0"/>
                <a:cs typeface="Times New Roman" panose="02020603050405020304" pitchFamily="18" charset="0"/>
              </a:rPr>
              <a:t>/* 'M' must expand to zero. */</a:t>
            </a:r>
          </a:p>
          <a:p>
            <a:pPr algn="l"/>
            <a:r>
              <a:rPr lang="en-IN" sz="1800" b="0" i="0" u="none" strike="noStrike" baseline="0" dirty="0">
                <a:latin typeface="Times New Roman" panose="02020603050405020304" pitchFamily="18" charset="0"/>
                <a:cs typeface="Times New Roman" panose="02020603050405020304" pitchFamily="18" charset="0"/>
              </a:rPr>
              <a:t>#endif</a:t>
            </a:r>
          </a:p>
        </p:txBody>
      </p:sp>
    </p:spTree>
    <p:extLst>
      <p:ext uri="{BB962C8B-B14F-4D97-AF65-F5344CB8AC3E}">
        <p14:creationId xmlns:p14="http://schemas.microsoft.com/office/powerpoint/2010/main" val="1820472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30</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30</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Misra2012:Rule-20.10</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 and ## preprocessor operators should not be used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1163" y="1690329"/>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199193" y="2052630"/>
            <a:ext cx="1046338" cy="369332"/>
          </a:xfrm>
          <a:prstGeom prst="rect">
            <a:avLst/>
          </a:prstGeom>
          <a:noFill/>
        </p:spPr>
        <p:txBody>
          <a:bodyPr wrap="square">
            <a:spAutoFit/>
          </a:bodyPr>
          <a:lstStyle/>
          <a:p>
            <a:pPr algn="l"/>
            <a:r>
              <a:rPr lang="en-IN" dirty="0">
                <a:highlight>
                  <a:srgbClr val="FFFF00"/>
                </a:highlight>
              </a:rPr>
              <a:t>Example</a:t>
            </a:r>
          </a:p>
        </p:txBody>
      </p:sp>
      <p:sp>
        <p:nvSpPr>
          <p:cNvPr id="36" name="TextBox 35">
            <a:extLst>
              <a:ext uri="{FF2B5EF4-FFF2-40B4-BE49-F238E27FC236}">
                <a16:creationId xmlns:a16="http://schemas.microsoft.com/office/drawing/2014/main" id="{2D0BC432-1452-5FAB-A2FF-78CA6D6D0AD1}"/>
              </a:ext>
            </a:extLst>
          </p:cNvPr>
          <p:cNvSpPr txBox="1"/>
          <p:nvPr/>
        </p:nvSpPr>
        <p:spPr>
          <a:xfrm>
            <a:off x="1231163" y="2406732"/>
            <a:ext cx="9065550" cy="1200329"/>
          </a:xfrm>
          <a:prstGeom prst="rect">
            <a:avLst/>
          </a:prstGeom>
          <a:noFill/>
        </p:spPr>
        <p:txBody>
          <a:bodyPr wrap="square">
            <a:spAutoFit/>
          </a:bodyPr>
          <a:lstStyle/>
          <a:p>
            <a:pPr algn="l"/>
            <a:r>
              <a:rPr lang="en-US" sz="1800" b="0" i="0" u="none" strike="noStrike" baseline="0" dirty="0">
                <a:latin typeface="OpenSans-Light"/>
              </a:rPr>
              <a:t>The order of evaluation associated with multiple </a:t>
            </a:r>
            <a:r>
              <a:rPr lang="en-US" sz="1800" b="0" i="0" u="none" strike="noStrike" baseline="0" dirty="0">
                <a:latin typeface="CourierNewPSMT"/>
              </a:rPr>
              <a:t>#</a:t>
            </a:r>
            <a:r>
              <a:rPr lang="en-US" sz="1800" b="0" i="0" u="none" strike="noStrike" baseline="0" dirty="0">
                <a:latin typeface="OpenSans-Light"/>
              </a:rPr>
              <a:t>, multiple </a:t>
            </a:r>
            <a:r>
              <a:rPr lang="en-US" sz="1800" b="0" i="0" u="none" strike="noStrike" baseline="0" dirty="0">
                <a:latin typeface="CourierNewPSMT"/>
              </a:rPr>
              <a:t>## </a:t>
            </a:r>
            <a:r>
              <a:rPr lang="en-US" sz="1800" b="0" i="0" u="none" strike="noStrike" baseline="0" dirty="0">
                <a:latin typeface="OpenSans-Light"/>
              </a:rPr>
              <a:t>or a mix of </a:t>
            </a:r>
            <a:r>
              <a:rPr lang="en-US" sz="1800" b="0" i="0" u="none" strike="noStrike" baseline="0" dirty="0">
                <a:latin typeface="CourierNewPSMT"/>
              </a:rPr>
              <a:t># </a:t>
            </a:r>
            <a:r>
              <a:rPr lang="en-US" sz="1800" b="0" i="0" u="none" strike="noStrike" baseline="0" dirty="0">
                <a:latin typeface="OpenSans-Light"/>
              </a:rPr>
              <a:t>and </a:t>
            </a:r>
            <a:r>
              <a:rPr lang="en-US" sz="1800" b="0" i="0" u="none" strike="noStrike" baseline="0" dirty="0">
                <a:latin typeface="CourierNewPSMT"/>
              </a:rPr>
              <a:t>## </a:t>
            </a:r>
            <a:r>
              <a:rPr lang="en-US" sz="1800" b="0" i="0" u="none" strike="noStrike" baseline="0" dirty="0">
                <a:latin typeface="OpenSans-Light"/>
              </a:rPr>
              <a:t>preprocessor</a:t>
            </a:r>
          </a:p>
          <a:p>
            <a:pPr algn="l"/>
            <a:r>
              <a:rPr lang="en-US" sz="1800" b="0" i="0" u="none" strike="noStrike" baseline="0" dirty="0">
                <a:latin typeface="OpenSans-Light"/>
              </a:rPr>
              <a:t>operators is unspecified. In some cases it is therefore not possible to predict the result of macro</a:t>
            </a:r>
          </a:p>
          <a:p>
            <a:pPr algn="l"/>
            <a:r>
              <a:rPr lang="en-IN" sz="1800" b="0" i="0" u="none" strike="noStrike" baseline="0" dirty="0">
                <a:latin typeface="OpenSans-Light"/>
              </a:rPr>
              <a:t>expansion.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53700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31</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31</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Misra2012:Rule-20.11</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 macro parameter immediately following a # operator shall not immediately be followed by a ## operator</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1163" y="1690329"/>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36" name="TextBox 35">
            <a:extLst>
              <a:ext uri="{FF2B5EF4-FFF2-40B4-BE49-F238E27FC236}">
                <a16:creationId xmlns:a16="http://schemas.microsoft.com/office/drawing/2014/main" id="{2D0BC432-1452-5FAB-A2FF-78CA6D6D0AD1}"/>
              </a:ext>
            </a:extLst>
          </p:cNvPr>
          <p:cNvSpPr txBox="1"/>
          <p:nvPr/>
        </p:nvSpPr>
        <p:spPr>
          <a:xfrm>
            <a:off x="1373589" y="2611539"/>
            <a:ext cx="9065550" cy="923330"/>
          </a:xfrm>
          <a:prstGeom prst="rect">
            <a:avLst/>
          </a:prstGeom>
          <a:noFill/>
        </p:spPr>
        <p:txBody>
          <a:bodyPr wrap="square">
            <a:spAutoFit/>
          </a:bodyPr>
          <a:lstStyle/>
          <a:p>
            <a:pPr algn="l"/>
            <a:r>
              <a:rPr lang="it-IT" sz="1800" b="0" i="0" u="none" strike="noStrike" baseline="0" dirty="0">
                <a:latin typeface="Times New Roman" panose="02020603050405020304" pitchFamily="18" charset="0"/>
                <a:cs typeface="Times New Roman" panose="02020603050405020304" pitchFamily="18" charset="0"/>
              </a:rPr>
              <a:t>#define A( x ) #x /* Compliant */</a:t>
            </a:r>
          </a:p>
          <a:p>
            <a:pPr algn="l"/>
            <a:r>
              <a:rPr lang="es-ES" sz="1800" b="0" i="0" u="none" strike="noStrike" baseline="0" dirty="0">
                <a:latin typeface="Times New Roman" panose="02020603050405020304" pitchFamily="18" charset="0"/>
                <a:cs typeface="Times New Roman" panose="02020603050405020304" pitchFamily="18" charset="0"/>
              </a:rPr>
              <a:t>#define B( x, y ) x ## y /* </a:t>
            </a:r>
            <a:r>
              <a:rPr lang="es-ES" sz="1800" b="0" i="0" u="none" strike="noStrike" baseline="0" dirty="0" err="1">
                <a:latin typeface="Times New Roman" panose="02020603050405020304" pitchFamily="18" charset="0"/>
                <a:cs typeface="Times New Roman" panose="02020603050405020304" pitchFamily="18" charset="0"/>
              </a:rPr>
              <a:t>Compliant</a:t>
            </a:r>
            <a:r>
              <a:rPr lang="es-ES" sz="1800" b="0" i="0" u="none" strike="noStrike" baseline="0" dirty="0">
                <a:latin typeface="Times New Roman" panose="02020603050405020304" pitchFamily="18" charset="0"/>
                <a:cs typeface="Times New Roman" panose="02020603050405020304" pitchFamily="18" charset="0"/>
              </a:rPr>
              <a:t> */</a:t>
            </a:r>
          </a:p>
          <a:p>
            <a:pPr algn="l"/>
            <a:r>
              <a:rPr lang="es-ES" sz="1800" b="0" i="0" u="none" strike="noStrike" baseline="0" dirty="0">
                <a:highlight>
                  <a:srgbClr val="FFFF00"/>
                </a:highlight>
                <a:latin typeface="Times New Roman" panose="02020603050405020304" pitchFamily="18" charset="0"/>
                <a:cs typeface="Times New Roman" panose="02020603050405020304" pitchFamily="18" charset="0"/>
              </a:rPr>
              <a:t>#define C( x, y ) #x ## y /* Non-</a:t>
            </a:r>
            <a:r>
              <a:rPr lang="es-ES" sz="1800" b="0" i="0" u="none" strike="noStrike" baseline="0" dirty="0" err="1">
                <a:highlight>
                  <a:srgbClr val="FFFF00"/>
                </a:highlight>
                <a:latin typeface="Times New Roman" panose="02020603050405020304" pitchFamily="18" charset="0"/>
                <a:cs typeface="Times New Roman" panose="02020603050405020304" pitchFamily="18" charset="0"/>
              </a:rPr>
              <a:t>compliant</a:t>
            </a:r>
            <a:r>
              <a:rPr lang="es-ES" sz="1800" b="0" i="0" u="none" strike="noStrike" baseline="0" dirty="0">
                <a:highlight>
                  <a:srgbClr val="FFFF00"/>
                </a:highlight>
                <a:latin typeface="Times New Roman" panose="02020603050405020304" pitchFamily="18" charset="0"/>
                <a:cs typeface="Times New Roman" panose="02020603050405020304" pitchFamily="18" charset="0"/>
              </a:rPr>
              <a:t> */</a:t>
            </a:r>
            <a:endParaRPr lang="en-IN" dirty="0">
              <a:highlight>
                <a:srgbClr val="FFFF00"/>
              </a:highligh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7789F63-B47E-1B99-AA0C-CDC81DD91CBF}"/>
              </a:ext>
            </a:extLst>
          </p:cNvPr>
          <p:cNvSpPr txBox="1"/>
          <p:nvPr/>
        </p:nvSpPr>
        <p:spPr>
          <a:xfrm>
            <a:off x="1245857" y="2265708"/>
            <a:ext cx="1046338" cy="369332"/>
          </a:xfrm>
          <a:prstGeom prst="rect">
            <a:avLst/>
          </a:prstGeom>
          <a:noFill/>
        </p:spPr>
        <p:txBody>
          <a:bodyPr wrap="square">
            <a:spAutoFit/>
          </a:bodyPr>
          <a:lstStyle/>
          <a:p>
            <a:pPr algn="l"/>
            <a:r>
              <a:rPr lang="en-IN" dirty="0">
                <a:highlight>
                  <a:srgbClr val="FFFF00"/>
                </a:highlight>
              </a:rPr>
              <a:t>Example</a:t>
            </a:r>
          </a:p>
        </p:txBody>
      </p:sp>
    </p:spTree>
    <p:extLst>
      <p:ext uri="{BB962C8B-B14F-4D97-AF65-F5344CB8AC3E}">
        <p14:creationId xmlns:p14="http://schemas.microsoft.com/office/powerpoint/2010/main" val="29593301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32</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32</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Misra2012:Rule-20.11</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 macro parameter used as an operand to the # or ## operators, which is itself subject to further macro replacement, shall only be used as an operand to these operators</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1163" y="1916752"/>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r>
              <a:rPr lang="en-IN" sz="1800" b="0" i="0" u="none" strike="noStrike" baseline="0" dirty="0">
                <a:highlight>
                  <a:srgbClr val="FFFF00"/>
                </a:highlight>
                <a:latin typeface="OpenSans"/>
              </a:rPr>
              <a:t>Applies to </a:t>
            </a:r>
            <a:r>
              <a:rPr lang="en-IN" sz="1800" b="0" i="0" u="none" strike="noStrike" baseline="0" dirty="0">
                <a:latin typeface="OpenSans"/>
              </a:rPr>
              <a:t>-</a:t>
            </a:r>
            <a:r>
              <a:rPr lang="en-IN" sz="1800" b="0" i="0" u="none" strike="noStrike" baseline="0" dirty="0">
                <a:latin typeface="OpenSans-Light"/>
              </a:rPr>
              <a:t> C90, C99</a:t>
            </a:r>
            <a:endParaRPr lang="en-IN" dirty="0"/>
          </a:p>
        </p:txBody>
      </p:sp>
      <p:sp>
        <p:nvSpPr>
          <p:cNvPr id="36" name="TextBox 35">
            <a:extLst>
              <a:ext uri="{FF2B5EF4-FFF2-40B4-BE49-F238E27FC236}">
                <a16:creationId xmlns:a16="http://schemas.microsoft.com/office/drawing/2014/main" id="{2D0BC432-1452-5FAB-A2FF-78CA6D6D0AD1}"/>
              </a:ext>
            </a:extLst>
          </p:cNvPr>
          <p:cNvSpPr txBox="1"/>
          <p:nvPr/>
        </p:nvSpPr>
        <p:spPr>
          <a:xfrm>
            <a:off x="1294333" y="2780335"/>
            <a:ext cx="9065550" cy="2862322"/>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In the following non-compliant example, the macro parameter x is replaced w </a:t>
            </a:r>
            <a:r>
              <a:rPr lang="en-US" sz="1800" b="0" i="0" u="none" strike="noStrike" baseline="0" dirty="0" err="1">
                <a:latin typeface="Times New Roman" panose="02020603050405020304" pitchFamily="18" charset="0"/>
                <a:cs typeface="Times New Roman" panose="02020603050405020304" pitchFamily="18" charset="0"/>
              </a:rPr>
              <a:t>ith</a:t>
            </a:r>
            <a:r>
              <a:rPr lang="en-US" sz="1800" b="0" i="0" u="none" strike="noStrike" baseline="0" dirty="0">
                <a:latin typeface="Times New Roman" panose="02020603050405020304" pitchFamily="18" charset="0"/>
                <a:cs typeface="Times New Roman" panose="02020603050405020304" pitchFamily="18" charset="0"/>
              </a:rPr>
              <a:t> AA which is subject to further macro replacement when not used as the operand of ##.</a:t>
            </a:r>
          </a:p>
          <a:p>
            <a:pPr algn="l"/>
            <a:r>
              <a:rPr lang="en-IN" sz="1800" b="0" i="0" u="none" strike="noStrike" baseline="0" dirty="0">
                <a:latin typeface="Times New Roman" panose="02020603050405020304" pitchFamily="18" charset="0"/>
                <a:cs typeface="Times New Roman" panose="02020603050405020304" pitchFamily="18" charset="0"/>
              </a:rPr>
              <a:t>#define AA 0xffff</a:t>
            </a:r>
          </a:p>
          <a:p>
            <a:pPr algn="l"/>
            <a:r>
              <a:rPr lang="it-IT" sz="1800" b="0" i="0" u="none" strike="noStrike" baseline="0" dirty="0">
                <a:latin typeface="Times New Roman" panose="02020603050405020304" pitchFamily="18" charset="0"/>
                <a:cs typeface="Times New Roman" panose="02020603050405020304" pitchFamily="18" charset="0"/>
              </a:rPr>
              <a:t>#define BB( x ) ( x ) + wow ## x /* Non-compliant */</a:t>
            </a:r>
          </a:p>
          <a:p>
            <a:pPr algn="l"/>
            <a:r>
              <a:rPr lang="en-IN" sz="1800" b="0" i="0" u="none" strike="noStrike" baseline="0" dirty="0">
                <a:latin typeface="Times New Roman" panose="02020603050405020304" pitchFamily="18" charset="0"/>
                <a:cs typeface="Times New Roman" panose="02020603050405020304" pitchFamily="18" charset="0"/>
              </a:rPr>
              <a:t>void f ( void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int32_t </a:t>
            </a:r>
            <a:r>
              <a:rPr lang="en-IN" sz="1800" b="0" i="0" u="none" strike="noStrike" baseline="0" dirty="0" err="1">
                <a:latin typeface="Times New Roman" panose="02020603050405020304" pitchFamily="18" charset="0"/>
                <a:cs typeface="Times New Roman" panose="02020603050405020304" pitchFamily="18" charset="0"/>
              </a:rPr>
              <a:t>wowAA</a:t>
            </a:r>
            <a:r>
              <a:rPr lang="en-IN" sz="1800" b="0" i="0" u="none" strike="noStrike" baseline="0" dirty="0">
                <a:latin typeface="Times New Roman" panose="02020603050405020304" pitchFamily="18" charset="0"/>
                <a:cs typeface="Times New Roman" panose="02020603050405020304" pitchFamily="18" charset="0"/>
              </a:rPr>
              <a:t> = 0;</a:t>
            </a:r>
          </a:p>
          <a:p>
            <a:pPr algn="l"/>
            <a:r>
              <a:rPr lang="en-US" sz="1800" b="0" i="0" u="none" strike="noStrike" baseline="0" dirty="0">
                <a:latin typeface="Times New Roman" panose="02020603050405020304" pitchFamily="18" charset="0"/>
                <a:cs typeface="Times New Roman" panose="02020603050405020304" pitchFamily="18" charset="0"/>
              </a:rPr>
              <a:t>/* Expands as </a:t>
            </a:r>
            <a:r>
              <a:rPr lang="en-US" sz="1800" b="0" i="0" u="none" strike="noStrike" baseline="0" dirty="0" err="1">
                <a:latin typeface="Times New Roman" panose="02020603050405020304" pitchFamily="18" charset="0"/>
                <a:cs typeface="Times New Roman" panose="02020603050405020304" pitchFamily="18" charset="0"/>
              </a:rPr>
              <a:t>wowAA</a:t>
            </a:r>
            <a:r>
              <a:rPr lang="en-US" sz="1800" b="0" i="0" u="none" strike="noStrike" baseline="0" dirty="0">
                <a:latin typeface="Times New Roman" panose="02020603050405020304" pitchFamily="18" charset="0"/>
                <a:cs typeface="Times New Roman" panose="02020603050405020304" pitchFamily="18" charset="0"/>
              </a:rPr>
              <a:t> = ( 0xffff ) + </a:t>
            </a:r>
            <a:r>
              <a:rPr lang="en-US" sz="1800" b="0" i="0" u="none" strike="noStrike" baseline="0" dirty="0" err="1">
                <a:latin typeface="Times New Roman" panose="02020603050405020304" pitchFamily="18" charset="0"/>
                <a:cs typeface="Times New Roman" panose="02020603050405020304" pitchFamily="18" charset="0"/>
              </a:rPr>
              <a:t>wowAA</a:t>
            </a:r>
            <a:r>
              <a:rPr lang="en-US" sz="1800" b="0" i="0" u="none" strike="noStrike" baseline="0" dirty="0">
                <a:latin typeface="Times New Roman" panose="02020603050405020304" pitchFamily="18" charset="0"/>
                <a:cs typeface="Times New Roman" panose="02020603050405020304" pitchFamily="18" charset="0"/>
              </a:rPr>
              <a:t>; */</a:t>
            </a:r>
          </a:p>
          <a:p>
            <a:pPr algn="l"/>
            <a:r>
              <a:rPr lang="en-IN" sz="1800" b="0" i="0" u="none" strike="noStrike" baseline="0" dirty="0" err="1">
                <a:latin typeface="Times New Roman" panose="02020603050405020304" pitchFamily="18" charset="0"/>
                <a:cs typeface="Times New Roman" panose="02020603050405020304" pitchFamily="18" charset="0"/>
              </a:rPr>
              <a:t>wowAA</a:t>
            </a:r>
            <a:r>
              <a:rPr lang="en-IN" sz="1800" b="0" i="0" u="none" strike="noStrike" baseline="0" dirty="0">
                <a:latin typeface="Times New Roman" panose="02020603050405020304" pitchFamily="18" charset="0"/>
                <a:cs typeface="Times New Roman" panose="02020603050405020304" pitchFamily="18" charset="0"/>
              </a:rPr>
              <a:t> = BB ( AA );</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7789F63-B47E-1B99-AA0C-CDC81DD91CBF}"/>
              </a:ext>
            </a:extLst>
          </p:cNvPr>
          <p:cNvSpPr txBox="1"/>
          <p:nvPr/>
        </p:nvSpPr>
        <p:spPr>
          <a:xfrm>
            <a:off x="1245857" y="2265708"/>
            <a:ext cx="1046338" cy="369332"/>
          </a:xfrm>
          <a:prstGeom prst="rect">
            <a:avLst/>
          </a:prstGeom>
          <a:noFill/>
        </p:spPr>
        <p:txBody>
          <a:bodyPr wrap="square">
            <a:spAutoFit/>
          </a:bodyPr>
          <a:lstStyle/>
          <a:p>
            <a:pPr algn="l"/>
            <a:r>
              <a:rPr lang="en-IN" dirty="0">
                <a:highlight>
                  <a:srgbClr val="FFFF00"/>
                </a:highlight>
              </a:rPr>
              <a:t>Example</a:t>
            </a:r>
          </a:p>
        </p:txBody>
      </p:sp>
    </p:spTree>
    <p:extLst>
      <p:ext uri="{BB962C8B-B14F-4D97-AF65-F5344CB8AC3E}">
        <p14:creationId xmlns:p14="http://schemas.microsoft.com/office/powerpoint/2010/main" val="20044628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33</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36" name="TextBox 35">
            <a:extLst>
              <a:ext uri="{FF2B5EF4-FFF2-40B4-BE49-F238E27FC236}">
                <a16:creationId xmlns:a16="http://schemas.microsoft.com/office/drawing/2014/main" id="{06AD48AA-7DC3-D125-2465-C3CB698C7685}"/>
              </a:ext>
            </a:extLst>
          </p:cNvPr>
          <p:cNvSpPr txBox="1"/>
          <p:nvPr/>
        </p:nvSpPr>
        <p:spPr>
          <a:xfrm>
            <a:off x="3590837" y="2170178"/>
            <a:ext cx="6115664" cy="2800767"/>
          </a:xfrm>
          <a:prstGeom prst="rect">
            <a:avLst/>
          </a:prstGeom>
          <a:noFill/>
        </p:spPr>
        <p:txBody>
          <a:bodyPr wrap="square">
            <a:spAutoFit/>
          </a:bodyPr>
          <a:lstStyle/>
          <a:p>
            <a:r>
              <a:rPr lang="en-IN" sz="8800" dirty="0"/>
              <a:t>Session 4 </a:t>
            </a:r>
          </a:p>
          <a:p>
            <a:r>
              <a:rPr lang="en-IN" sz="8800" dirty="0"/>
              <a:t>       </a:t>
            </a:r>
            <a:r>
              <a:rPr lang="en-IN" sz="6600" dirty="0"/>
              <a:t>END</a:t>
            </a:r>
            <a:endParaRPr lang="en-IN" sz="8800" dirty="0"/>
          </a:p>
        </p:txBody>
      </p:sp>
    </p:spTree>
    <p:extLst>
      <p:ext uri="{BB962C8B-B14F-4D97-AF65-F5344CB8AC3E}">
        <p14:creationId xmlns:p14="http://schemas.microsoft.com/office/powerpoint/2010/main" val="10326836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6019</TotalTime>
  <Words>3723</Words>
  <Application>Microsoft Office PowerPoint</Application>
  <PresentationFormat>Widescreen</PresentationFormat>
  <Paragraphs>650</Paragraphs>
  <Slides>33</Slides>
  <Notes>25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33</vt:i4>
      </vt:variant>
    </vt:vector>
  </HeadingPairs>
  <TitlesOfParts>
    <vt:vector size="46" baseType="lpstr">
      <vt:lpstr>Aptos</vt:lpstr>
      <vt:lpstr>Aptos Display</vt:lpstr>
      <vt:lpstr>Arial</vt:lpstr>
      <vt:lpstr>Consolas</vt:lpstr>
      <vt:lpstr>CourierNewPSMT</vt:lpstr>
      <vt:lpstr>Engravers MT</vt:lpstr>
      <vt:lpstr>OpenSans</vt:lpstr>
      <vt:lpstr>OpenSans-Extrabold</vt:lpstr>
      <vt:lpstr>OpenSans-Light</vt:lpstr>
      <vt:lpstr>OpenSansLight-Italic</vt:lpstr>
      <vt:lpstr>Times New Roman</vt:lpstr>
      <vt:lpstr>Wingdings</vt:lpstr>
      <vt:lpstr>Office Theme</vt:lpstr>
      <vt:lpstr>MISRA C -2012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MISRA C -2023</dc:title>
  <dc:creator>Tipl12</dc:creator>
  <cp:lastModifiedBy>Tipl12</cp:lastModifiedBy>
  <cp:revision>295</cp:revision>
  <dcterms:created xsi:type="dcterms:W3CDTF">2024-03-22T07:02:08Z</dcterms:created>
  <dcterms:modified xsi:type="dcterms:W3CDTF">2024-11-15T06:00:56Z</dcterms:modified>
</cp:coreProperties>
</file>